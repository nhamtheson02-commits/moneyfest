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126"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955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Inter"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Inter"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Inter"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Inter"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685800" y="502920"/>
            <a:ext cx="210312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MONEYFEST</a:t>
            </a:r>
            <a:endParaRPr lang="en-US" sz="800" dirty="0"/>
          </a:p>
        </p:txBody>
      </p:sp>
      <p:sp>
        <p:nvSpPr>
          <p:cNvPr id="4" name="Text 2"/>
          <p:cNvSpPr/>
          <p:nvPr/>
        </p:nvSpPr>
        <p:spPr>
          <a:xfrm>
            <a:off x="685800" y="1874520"/>
            <a:ext cx="4663440" cy="640080"/>
          </a:xfrm>
          <a:prstGeom prst="rect">
            <a:avLst/>
          </a:prstGeom>
          <a:noFill/>
          <a:ln/>
        </p:spPr>
        <p:txBody>
          <a:bodyPr wrap="square" lIns="381" tIns="381" rIns="381" bIns="381" rtlCol="0" anchor="ctr">
            <a:normAutofit/>
          </a:bodyPr>
          <a:lstStyle/>
          <a:p>
            <a:pPr marL="0" indent="0" algn="l">
              <a:buNone/>
            </a:pPr>
            <a:r>
              <a:rPr lang="en-US" sz="3200" b="1" dirty="0">
                <a:solidFill>
                  <a:srgbClr val="FFFFFF"/>
                </a:solidFill>
                <a:latin typeface="SVN-Georgia" pitchFamily="34" charset="0"/>
                <a:ea typeface="Aptos Display" pitchFamily="34" charset="-122"/>
                <a:cs typeface="Aptos Display" pitchFamily="34" charset="-120"/>
              </a:rPr>
              <a:t>BRAND MANUAL</a:t>
            </a:r>
            <a:endParaRPr lang="en-US" sz="3200" dirty="0"/>
          </a:p>
        </p:txBody>
      </p:sp>
      <p:sp>
        <p:nvSpPr>
          <p:cNvPr id="5" name="Text 3"/>
          <p:cNvSpPr/>
          <p:nvPr/>
        </p:nvSpPr>
        <p:spPr>
          <a:xfrm>
            <a:off x="713232" y="2606040"/>
            <a:ext cx="4389120" cy="320040"/>
          </a:xfrm>
          <a:prstGeom prst="rect">
            <a:avLst/>
          </a:prstGeom>
          <a:noFill/>
          <a:ln/>
        </p:spPr>
        <p:txBody>
          <a:bodyPr wrap="square" lIns="381" tIns="381" rIns="381" bIns="381" rtlCol="0" anchor="ctr">
            <a:normAutofit/>
          </a:bodyPr>
          <a:lstStyle/>
          <a:p>
            <a:pPr marL="0" indent="0" algn="l">
              <a:buNone/>
            </a:pPr>
            <a:r>
              <a:rPr lang="en-US" sz="1400" dirty="0">
                <a:solidFill>
                  <a:srgbClr val="E8CF8B"/>
                </a:solidFill>
                <a:latin typeface="Inter" pitchFamily="34" charset="0"/>
                <a:ea typeface="Aptos" pitchFamily="34" charset="-122"/>
                <a:cs typeface="Aptos" pitchFamily="34" charset="-120"/>
              </a:rPr>
              <a:t>Financial Wisdom Luxury Identity System</a:t>
            </a:r>
            <a:endParaRPr lang="en-US" sz="1400" dirty="0"/>
          </a:p>
        </p:txBody>
      </p:sp>
      <p:sp>
        <p:nvSpPr>
          <p:cNvPr id="6" name="Text 4"/>
          <p:cNvSpPr/>
          <p:nvPr/>
        </p:nvSpPr>
        <p:spPr>
          <a:xfrm>
            <a:off x="713232" y="3063240"/>
            <a:ext cx="4754880" cy="320040"/>
          </a:xfrm>
          <a:prstGeom prst="rect">
            <a:avLst/>
          </a:prstGeom>
          <a:noFill/>
          <a:ln/>
        </p:spPr>
        <p:txBody>
          <a:bodyPr wrap="square" lIns="381" tIns="381" rIns="381" bIns="381" rtlCol="0" anchor="ctr">
            <a:normAutofit/>
          </a:bodyPr>
          <a:lstStyle/>
          <a:p>
            <a:pPr marL="0" indent="0" algn="l">
              <a:buNone/>
            </a:pPr>
            <a:r>
              <a:rPr lang="en-US" sz="1150" b="1" dirty="0">
                <a:solidFill>
                  <a:srgbClr val="D4A83F"/>
                </a:solidFill>
                <a:latin typeface="Inter" pitchFamily="34" charset="0"/>
                <a:ea typeface="Aptos" pitchFamily="34" charset="-122"/>
                <a:cs typeface="Aptos" pitchFamily="34" charset="-120"/>
              </a:rPr>
              <a:t>HIỂU THẤU LUẬT CHƠI – LÀM CHỦ CUỘC ĐỜI</a:t>
            </a:r>
            <a:endParaRPr lang="en-US" sz="1150" dirty="0"/>
          </a:p>
        </p:txBody>
      </p:sp>
      <p:sp>
        <p:nvSpPr>
          <p:cNvPr id="8" name="Text 5"/>
          <p:cNvSpPr/>
          <p:nvPr/>
        </p:nvSpPr>
        <p:spPr>
          <a:xfrm>
            <a:off x="713232" y="6080760"/>
            <a:ext cx="2286000" cy="228600"/>
          </a:xfrm>
          <a:prstGeom prst="rect">
            <a:avLst/>
          </a:prstGeom>
          <a:noFill/>
          <a:ln/>
        </p:spPr>
        <p:txBody>
          <a:bodyPr wrap="square" lIns="381" tIns="381" rIns="381" bIns="381" rtlCol="0" anchor="ctr">
            <a:normAutofit/>
          </a:bodyPr>
          <a:lstStyle/>
          <a:p>
            <a:pPr marL="0" indent="0" algn="l">
              <a:buNone/>
            </a:pPr>
            <a:r>
              <a:rPr lang="en-US" sz="800" dirty="0">
                <a:solidFill>
                  <a:srgbClr val="D7D7D7"/>
                </a:solidFill>
                <a:latin typeface="Inter" pitchFamily="34" charset="0"/>
                <a:ea typeface="Aptos" pitchFamily="34" charset="-122"/>
                <a:cs typeface="Aptos" pitchFamily="34" charset="-120"/>
              </a:rPr>
              <a:t>Version 1.0 · 2026</a:t>
            </a:r>
            <a:endParaRPr lang="en-US" sz="800" dirty="0"/>
          </a:p>
        </p:txBody>
      </p:sp>
      <p:sp>
        <p:nvSpPr>
          <p:cNvPr id="9" name="Text 6"/>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10" name="Text 7"/>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pic>
        <p:nvPicPr>
          <p:cNvPr id="11" name="Picture 10" descr="moneyfest_logo_gold_transparent.png"/>
          <p:cNvPicPr>
            <a:picLocks noChangeAspect="1"/>
          </p:cNvPicPr>
          <p:nvPr/>
        </p:nvPicPr>
        <p:blipFill>
          <a:blip r:embed="rId3"/>
          <a:stretch>
            <a:fillRect/>
          </a:stretch>
        </p:blipFill>
        <p:spPr>
          <a:xfrm>
            <a:off x="7213508" y="1934376"/>
            <a:ext cx="3403784" cy="23491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Content</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02</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MANUAL STRUCTURE</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Mục lục thương hiệu</a:t>
            </a:r>
            <a:endParaRPr lang="en-US" sz="2300" dirty="0"/>
          </a:p>
        </p:txBody>
      </p:sp>
      <p:sp>
        <p:nvSpPr>
          <p:cNvPr id="8" name="Text 6"/>
          <p:cNvSpPr/>
          <p:nvPr/>
        </p:nvSpPr>
        <p:spPr>
          <a:xfrm>
            <a:off x="777240" y="1965960"/>
            <a:ext cx="502920" cy="320040"/>
          </a:xfrm>
          <a:prstGeom prst="rect">
            <a:avLst/>
          </a:prstGeom>
          <a:noFill/>
          <a:ln/>
        </p:spPr>
        <p:txBody>
          <a:bodyPr wrap="square" lIns="381" tIns="381" rIns="381" bIns="381" rtlCol="0" anchor="ctr">
            <a:normAutofit/>
          </a:bodyPr>
          <a:lstStyle/>
          <a:p>
            <a:pPr marL="0" indent="0" algn="l">
              <a:buNone/>
            </a:pPr>
            <a:r>
              <a:rPr lang="en-US" sz="1400" b="1" dirty="0">
                <a:solidFill>
                  <a:srgbClr val="D4A83F"/>
                </a:solidFill>
                <a:latin typeface="Inter" pitchFamily="34" charset="0"/>
                <a:ea typeface="SVN-Georgia" pitchFamily="34" charset="-122"/>
                <a:cs typeface="SVN-Georgia" pitchFamily="34" charset="-120"/>
              </a:rPr>
              <a:t>01</a:t>
            </a:r>
            <a:endParaRPr lang="en-US" sz="1400" dirty="0"/>
          </a:p>
        </p:txBody>
      </p:sp>
      <p:sp>
        <p:nvSpPr>
          <p:cNvPr id="9" name="Text 7"/>
          <p:cNvSpPr/>
          <p:nvPr/>
        </p:nvSpPr>
        <p:spPr>
          <a:xfrm>
            <a:off x="1417320" y="1965960"/>
            <a:ext cx="2377440" cy="320040"/>
          </a:xfrm>
          <a:prstGeom prst="rect">
            <a:avLst/>
          </a:prstGeom>
          <a:noFill/>
          <a:ln/>
        </p:spPr>
        <p:txBody>
          <a:bodyPr wrap="square" lIns="381" tIns="381" rIns="381" bIns="381" rtlCol="0" anchor="ctr">
            <a:normAutofit/>
          </a:bodyPr>
          <a:lstStyle/>
          <a:p>
            <a:pPr marL="0" indent="0" algn="l">
              <a:buNone/>
            </a:pPr>
            <a:r>
              <a:rPr lang="en-US" sz="1400" b="1" dirty="0">
                <a:solidFill>
                  <a:srgbClr val="071521"/>
                </a:solidFill>
                <a:latin typeface="Inter" pitchFamily="34" charset="0"/>
                <a:ea typeface="Aptos" pitchFamily="34" charset="-122"/>
                <a:cs typeface="Aptos" pitchFamily="34" charset="-120"/>
              </a:rPr>
              <a:t>Brand Framework</a:t>
            </a:r>
            <a:endParaRPr lang="en-US" sz="1400" dirty="0"/>
          </a:p>
        </p:txBody>
      </p:sp>
      <p:sp>
        <p:nvSpPr>
          <p:cNvPr id="10" name="Text 8"/>
          <p:cNvSpPr/>
          <p:nvPr/>
        </p:nvSpPr>
        <p:spPr>
          <a:xfrm>
            <a:off x="4160520" y="1984248"/>
            <a:ext cx="5715000" cy="274320"/>
          </a:xfrm>
          <a:prstGeom prst="rect">
            <a:avLst/>
          </a:prstGeom>
          <a:noFill/>
          <a:ln/>
        </p:spPr>
        <p:txBody>
          <a:bodyPr wrap="square" lIns="381" tIns="381" rIns="381" bIns="381" rtlCol="0" anchor="ctr">
            <a:normAutofit/>
          </a:bodyPr>
          <a:lstStyle/>
          <a:p>
            <a:pPr marL="0" indent="0" algn="l">
              <a:buNone/>
            </a:pPr>
            <a:r>
              <a:rPr lang="en-US" sz="1050" dirty="0">
                <a:solidFill>
                  <a:srgbClr val="070707"/>
                </a:solidFill>
                <a:latin typeface="Inter" pitchFamily="34" charset="0"/>
                <a:ea typeface="Aptos" pitchFamily="34" charset="-122"/>
                <a:cs typeface="Aptos" pitchFamily="34" charset="-120"/>
              </a:rPr>
              <a:t>Nền tảng thương hiệu, triết lý, positioning</a:t>
            </a:r>
            <a:endParaRPr lang="en-US" sz="1050" dirty="0"/>
          </a:p>
        </p:txBody>
      </p:sp>
      <p:sp>
        <p:nvSpPr>
          <p:cNvPr id="11" name="Text 9"/>
          <p:cNvSpPr/>
          <p:nvPr/>
        </p:nvSpPr>
        <p:spPr>
          <a:xfrm>
            <a:off x="777240" y="2715768"/>
            <a:ext cx="502920" cy="320040"/>
          </a:xfrm>
          <a:prstGeom prst="rect">
            <a:avLst/>
          </a:prstGeom>
          <a:noFill/>
          <a:ln/>
        </p:spPr>
        <p:txBody>
          <a:bodyPr wrap="square" lIns="381" tIns="381" rIns="381" bIns="381" rtlCol="0" anchor="ctr">
            <a:normAutofit/>
          </a:bodyPr>
          <a:lstStyle/>
          <a:p>
            <a:pPr marL="0" indent="0" algn="l">
              <a:buNone/>
            </a:pPr>
            <a:r>
              <a:rPr lang="en-US" sz="1400" b="1" dirty="0">
                <a:solidFill>
                  <a:srgbClr val="D4A83F"/>
                </a:solidFill>
                <a:latin typeface="Inter" pitchFamily="34" charset="0"/>
                <a:ea typeface="SVN-Georgia" pitchFamily="34" charset="-122"/>
                <a:cs typeface="SVN-Georgia" pitchFamily="34" charset="-120"/>
              </a:rPr>
              <a:t>02</a:t>
            </a:r>
            <a:endParaRPr lang="en-US" sz="1400" dirty="0"/>
          </a:p>
        </p:txBody>
      </p:sp>
      <p:sp>
        <p:nvSpPr>
          <p:cNvPr id="12" name="Text 10"/>
          <p:cNvSpPr/>
          <p:nvPr/>
        </p:nvSpPr>
        <p:spPr>
          <a:xfrm>
            <a:off x="1417320" y="2715768"/>
            <a:ext cx="2377440" cy="320040"/>
          </a:xfrm>
          <a:prstGeom prst="rect">
            <a:avLst/>
          </a:prstGeom>
          <a:noFill/>
          <a:ln/>
        </p:spPr>
        <p:txBody>
          <a:bodyPr wrap="square" lIns="381" tIns="381" rIns="381" bIns="381" rtlCol="0" anchor="ctr">
            <a:normAutofit/>
          </a:bodyPr>
          <a:lstStyle/>
          <a:p>
            <a:pPr marL="0" indent="0" algn="l">
              <a:buNone/>
            </a:pPr>
            <a:r>
              <a:rPr lang="en-US" sz="1400" b="1" dirty="0">
                <a:solidFill>
                  <a:srgbClr val="071521"/>
                </a:solidFill>
                <a:latin typeface="Inter" pitchFamily="34" charset="0"/>
                <a:ea typeface="Aptos" pitchFamily="34" charset="-122"/>
                <a:cs typeface="Aptos" pitchFamily="34" charset="-120"/>
              </a:rPr>
              <a:t>Brand Key</a:t>
            </a:r>
            <a:endParaRPr lang="en-US" sz="1400" dirty="0"/>
          </a:p>
        </p:txBody>
      </p:sp>
      <p:sp>
        <p:nvSpPr>
          <p:cNvPr id="13" name="Text 11"/>
          <p:cNvSpPr/>
          <p:nvPr/>
        </p:nvSpPr>
        <p:spPr>
          <a:xfrm>
            <a:off x="4160520" y="2734056"/>
            <a:ext cx="5715000" cy="274320"/>
          </a:xfrm>
          <a:prstGeom prst="rect">
            <a:avLst/>
          </a:prstGeom>
          <a:noFill/>
          <a:ln/>
        </p:spPr>
        <p:txBody>
          <a:bodyPr wrap="square" lIns="381" tIns="381" rIns="381" bIns="381" rtlCol="0" anchor="ctr">
            <a:normAutofit/>
          </a:bodyPr>
          <a:lstStyle/>
          <a:p>
            <a:pPr marL="0" indent="0" algn="l">
              <a:buNone/>
            </a:pPr>
            <a:r>
              <a:rPr lang="en-US" sz="1050" dirty="0">
                <a:solidFill>
                  <a:srgbClr val="070707"/>
                </a:solidFill>
                <a:latin typeface="Inter" pitchFamily="34" charset="0"/>
                <a:ea typeface="Aptos" pitchFamily="34" charset="-122"/>
                <a:cs typeface="Aptos" pitchFamily="34" charset="-120"/>
              </a:rPr>
              <a:t>Target audience, insight, benefits, belief, USP</a:t>
            </a:r>
            <a:endParaRPr lang="en-US" sz="1050" dirty="0"/>
          </a:p>
        </p:txBody>
      </p:sp>
      <p:sp>
        <p:nvSpPr>
          <p:cNvPr id="14" name="Text 12"/>
          <p:cNvSpPr/>
          <p:nvPr/>
        </p:nvSpPr>
        <p:spPr>
          <a:xfrm>
            <a:off x="777240" y="3465576"/>
            <a:ext cx="502920" cy="320040"/>
          </a:xfrm>
          <a:prstGeom prst="rect">
            <a:avLst/>
          </a:prstGeom>
          <a:noFill/>
          <a:ln/>
        </p:spPr>
        <p:txBody>
          <a:bodyPr wrap="square" lIns="381" tIns="381" rIns="381" bIns="381" rtlCol="0" anchor="ctr">
            <a:normAutofit/>
          </a:bodyPr>
          <a:lstStyle/>
          <a:p>
            <a:pPr marL="0" indent="0" algn="l">
              <a:buNone/>
            </a:pPr>
            <a:r>
              <a:rPr lang="en-US" sz="1400" b="1" dirty="0">
                <a:solidFill>
                  <a:srgbClr val="D4A83F"/>
                </a:solidFill>
                <a:latin typeface="Inter" pitchFamily="34" charset="0"/>
                <a:ea typeface="SVN-Georgia" pitchFamily="34" charset="-122"/>
                <a:cs typeface="SVN-Georgia" pitchFamily="34" charset="-120"/>
              </a:rPr>
              <a:t>03</a:t>
            </a:r>
            <a:endParaRPr lang="en-US" sz="1400" dirty="0"/>
          </a:p>
        </p:txBody>
      </p:sp>
      <p:sp>
        <p:nvSpPr>
          <p:cNvPr id="15" name="Text 13"/>
          <p:cNvSpPr/>
          <p:nvPr/>
        </p:nvSpPr>
        <p:spPr>
          <a:xfrm>
            <a:off x="1417320" y="3465576"/>
            <a:ext cx="2377440" cy="320040"/>
          </a:xfrm>
          <a:prstGeom prst="rect">
            <a:avLst/>
          </a:prstGeom>
          <a:noFill/>
          <a:ln/>
        </p:spPr>
        <p:txBody>
          <a:bodyPr wrap="square" lIns="381" tIns="381" rIns="381" bIns="381" rtlCol="0" anchor="ctr">
            <a:normAutofit/>
          </a:bodyPr>
          <a:lstStyle/>
          <a:p>
            <a:pPr marL="0" indent="0" algn="l">
              <a:buNone/>
            </a:pPr>
            <a:r>
              <a:rPr lang="en-US" sz="1400" b="1" dirty="0">
                <a:solidFill>
                  <a:srgbClr val="071521"/>
                </a:solidFill>
                <a:latin typeface="Inter" pitchFamily="34" charset="0"/>
                <a:ea typeface="Aptos" pitchFamily="34" charset="-122"/>
                <a:cs typeface="Aptos" pitchFamily="34" charset="-120"/>
              </a:rPr>
              <a:t>Visual Identity</a:t>
            </a:r>
            <a:endParaRPr lang="en-US" sz="1400" dirty="0"/>
          </a:p>
        </p:txBody>
      </p:sp>
      <p:sp>
        <p:nvSpPr>
          <p:cNvPr id="16" name="Text 14"/>
          <p:cNvSpPr/>
          <p:nvPr/>
        </p:nvSpPr>
        <p:spPr>
          <a:xfrm>
            <a:off x="4160520" y="3483864"/>
            <a:ext cx="5715000" cy="274320"/>
          </a:xfrm>
          <a:prstGeom prst="rect">
            <a:avLst/>
          </a:prstGeom>
          <a:noFill/>
          <a:ln/>
        </p:spPr>
        <p:txBody>
          <a:bodyPr wrap="square" lIns="381" tIns="381" rIns="381" bIns="381" rtlCol="0" anchor="ctr">
            <a:normAutofit/>
          </a:bodyPr>
          <a:lstStyle/>
          <a:p>
            <a:pPr marL="0" indent="0" algn="l">
              <a:buNone/>
            </a:pPr>
            <a:r>
              <a:rPr lang="en-US" sz="1050" dirty="0">
                <a:solidFill>
                  <a:srgbClr val="070707"/>
                </a:solidFill>
                <a:latin typeface="Inter" pitchFamily="34" charset="0"/>
                <a:ea typeface="Aptos" pitchFamily="34" charset="-122"/>
                <a:cs typeface="Aptos" pitchFamily="34" charset="-120"/>
              </a:rPr>
              <a:t>Logo, màu sắc, typography, motif, layout</a:t>
            </a:r>
            <a:endParaRPr lang="en-US" sz="1050" dirty="0"/>
          </a:p>
        </p:txBody>
      </p:sp>
      <p:sp>
        <p:nvSpPr>
          <p:cNvPr id="17" name="Text 15"/>
          <p:cNvSpPr/>
          <p:nvPr/>
        </p:nvSpPr>
        <p:spPr>
          <a:xfrm>
            <a:off x="777240" y="4215384"/>
            <a:ext cx="502920" cy="320040"/>
          </a:xfrm>
          <a:prstGeom prst="rect">
            <a:avLst/>
          </a:prstGeom>
          <a:noFill/>
          <a:ln/>
        </p:spPr>
        <p:txBody>
          <a:bodyPr wrap="square" lIns="381" tIns="381" rIns="381" bIns="381" rtlCol="0" anchor="ctr">
            <a:normAutofit/>
          </a:bodyPr>
          <a:lstStyle/>
          <a:p>
            <a:pPr marL="0" indent="0" algn="l">
              <a:buNone/>
            </a:pPr>
            <a:r>
              <a:rPr lang="en-US" sz="1400" b="1" dirty="0">
                <a:solidFill>
                  <a:srgbClr val="D4A83F"/>
                </a:solidFill>
                <a:latin typeface="Inter" pitchFamily="34" charset="0"/>
                <a:ea typeface="SVN-Georgia" pitchFamily="34" charset="-122"/>
                <a:cs typeface="SVN-Georgia" pitchFamily="34" charset="-120"/>
              </a:rPr>
              <a:t>04</a:t>
            </a:r>
            <a:endParaRPr lang="en-US" sz="1400" dirty="0"/>
          </a:p>
        </p:txBody>
      </p:sp>
      <p:sp>
        <p:nvSpPr>
          <p:cNvPr id="18" name="Text 16"/>
          <p:cNvSpPr/>
          <p:nvPr/>
        </p:nvSpPr>
        <p:spPr>
          <a:xfrm>
            <a:off x="1417320" y="4215384"/>
            <a:ext cx="2377440" cy="320040"/>
          </a:xfrm>
          <a:prstGeom prst="rect">
            <a:avLst/>
          </a:prstGeom>
          <a:noFill/>
          <a:ln/>
        </p:spPr>
        <p:txBody>
          <a:bodyPr wrap="square" lIns="381" tIns="381" rIns="381" bIns="381" rtlCol="0" anchor="ctr">
            <a:normAutofit/>
          </a:bodyPr>
          <a:lstStyle/>
          <a:p>
            <a:pPr marL="0" indent="0" algn="l">
              <a:buNone/>
            </a:pPr>
            <a:r>
              <a:rPr lang="en-US" sz="1400" b="1" dirty="0">
                <a:solidFill>
                  <a:srgbClr val="071521"/>
                </a:solidFill>
                <a:latin typeface="Inter" pitchFamily="34" charset="0"/>
                <a:ea typeface="Aptos" pitchFamily="34" charset="-122"/>
                <a:cs typeface="Aptos" pitchFamily="34" charset="-120"/>
              </a:rPr>
              <a:t>Communication</a:t>
            </a:r>
            <a:endParaRPr lang="en-US" sz="1400" dirty="0"/>
          </a:p>
        </p:txBody>
      </p:sp>
      <p:sp>
        <p:nvSpPr>
          <p:cNvPr id="19" name="Text 17"/>
          <p:cNvSpPr/>
          <p:nvPr/>
        </p:nvSpPr>
        <p:spPr>
          <a:xfrm>
            <a:off x="4160520" y="4233672"/>
            <a:ext cx="5715000" cy="274320"/>
          </a:xfrm>
          <a:prstGeom prst="rect">
            <a:avLst/>
          </a:prstGeom>
          <a:noFill/>
          <a:ln/>
        </p:spPr>
        <p:txBody>
          <a:bodyPr wrap="square" lIns="381" tIns="381" rIns="381" bIns="381" rtlCol="0" anchor="ctr">
            <a:normAutofit/>
          </a:bodyPr>
          <a:lstStyle/>
          <a:p>
            <a:pPr marL="0" indent="0" algn="l">
              <a:buNone/>
            </a:pPr>
            <a:r>
              <a:rPr lang="en-US" sz="1050" dirty="0">
                <a:solidFill>
                  <a:srgbClr val="070707"/>
                </a:solidFill>
                <a:latin typeface="Inter" pitchFamily="34" charset="0"/>
                <a:ea typeface="Aptos" pitchFamily="34" charset="-122"/>
                <a:cs typeface="Aptos" pitchFamily="34" charset="-120"/>
              </a:rPr>
              <a:t>Tone of voice, content, social, video, CTA</a:t>
            </a:r>
            <a:endParaRPr lang="en-US" sz="1050" dirty="0"/>
          </a:p>
        </p:txBody>
      </p:sp>
      <p:sp>
        <p:nvSpPr>
          <p:cNvPr id="20" name="Text 18"/>
          <p:cNvSpPr/>
          <p:nvPr/>
        </p:nvSpPr>
        <p:spPr>
          <a:xfrm>
            <a:off x="777240" y="4965192"/>
            <a:ext cx="502920" cy="320040"/>
          </a:xfrm>
          <a:prstGeom prst="rect">
            <a:avLst/>
          </a:prstGeom>
          <a:noFill/>
          <a:ln/>
        </p:spPr>
        <p:txBody>
          <a:bodyPr wrap="square" lIns="381" tIns="381" rIns="381" bIns="381" rtlCol="0" anchor="ctr">
            <a:normAutofit/>
          </a:bodyPr>
          <a:lstStyle/>
          <a:p>
            <a:pPr marL="0" indent="0" algn="l">
              <a:buNone/>
            </a:pPr>
            <a:r>
              <a:rPr lang="en-US" sz="1400" b="1" dirty="0">
                <a:solidFill>
                  <a:srgbClr val="D4A83F"/>
                </a:solidFill>
                <a:latin typeface="Inter" pitchFamily="34" charset="0"/>
                <a:ea typeface="SVN-Georgia" pitchFamily="34" charset="-122"/>
                <a:cs typeface="SVN-Georgia" pitchFamily="34" charset="-120"/>
              </a:rPr>
              <a:t>05</a:t>
            </a:r>
            <a:endParaRPr lang="en-US" sz="1400" dirty="0"/>
          </a:p>
        </p:txBody>
      </p:sp>
      <p:sp>
        <p:nvSpPr>
          <p:cNvPr id="21" name="Text 19"/>
          <p:cNvSpPr/>
          <p:nvPr/>
        </p:nvSpPr>
        <p:spPr>
          <a:xfrm>
            <a:off x="1417320" y="4965192"/>
            <a:ext cx="2377440" cy="320040"/>
          </a:xfrm>
          <a:prstGeom prst="rect">
            <a:avLst/>
          </a:prstGeom>
          <a:noFill/>
          <a:ln/>
        </p:spPr>
        <p:txBody>
          <a:bodyPr wrap="square" lIns="381" tIns="381" rIns="381" bIns="381" rtlCol="0" anchor="ctr">
            <a:normAutofit/>
          </a:bodyPr>
          <a:lstStyle/>
          <a:p>
            <a:pPr marL="0" indent="0" algn="l">
              <a:buNone/>
            </a:pPr>
            <a:r>
              <a:rPr lang="en-US" sz="1400" b="1" dirty="0">
                <a:solidFill>
                  <a:srgbClr val="071521"/>
                </a:solidFill>
                <a:latin typeface="Inter" pitchFamily="34" charset="0"/>
                <a:ea typeface="Aptos" pitchFamily="34" charset="-122"/>
                <a:cs typeface="Aptos" pitchFamily="34" charset="-120"/>
              </a:rPr>
              <a:t>Applications</a:t>
            </a:r>
            <a:endParaRPr lang="en-US" sz="1400" dirty="0"/>
          </a:p>
        </p:txBody>
      </p:sp>
      <p:sp>
        <p:nvSpPr>
          <p:cNvPr id="22" name="Text 20"/>
          <p:cNvSpPr/>
          <p:nvPr/>
        </p:nvSpPr>
        <p:spPr>
          <a:xfrm>
            <a:off x="4160520" y="4983480"/>
            <a:ext cx="5715000" cy="274320"/>
          </a:xfrm>
          <a:prstGeom prst="rect">
            <a:avLst/>
          </a:prstGeom>
          <a:noFill/>
          <a:ln/>
        </p:spPr>
        <p:txBody>
          <a:bodyPr wrap="square" lIns="381" tIns="381" rIns="381" bIns="381" rtlCol="0" anchor="ctr">
            <a:normAutofit/>
          </a:bodyPr>
          <a:lstStyle/>
          <a:p>
            <a:pPr marL="0" indent="0" algn="l">
              <a:buNone/>
            </a:pPr>
            <a:r>
              <a:rPr lang="en-US" sz="1050" dirty="0">
                <a:solidFill>
                  <a:srgbClr val="070707"/>
                </a:solidFill>
                <a:latin typeface="Inter" pitchFamily="34" charset="0"/>
                <a:ea typeface="Aptos" pitchFamily="34" charset="-122"/>
                <a:cs typeface="Aptos" pitchFamily="34" charset="-120"/>
              </a:rPr>
              <a:t>Digital, partner, community, event, governance</a:t>
            </a:r>
            <a:endParaRPr lang="en-US" sz="1050" dirty="0"/>
          </a:p>
        </p:txBody>
      </p:sp>
      <p:sp>
        <p:nvSpPr>
          <p:cNvPr id="23" name="Text 21"/>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24" name="Text 22"/>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731520" y="685800"/>
            <a:ext cx="1097280" cy="640080"/>
          </a:xfrm>
          <a:prstGeom prst="rect">
            <a:avLst/>
          </a:prstGeom>
          <a:noFill/>
          <a:ln/>
        </p:spPr>
        <p:txBody>
          <a:bodyPr wrap="square" lIns="381" tIns="381" rIns="381" bIns="381" rtlCol="0" anchor="ctr">
            <a:normAutofit/>
          </a:bodyPr>
          <a:lstStyle/>
          <a:p>
            <a:pPr marL="0" indent="0" algn="l">
              <a:buNone/>
            </a:pPr>
            <a:r>
              <a:rPr lang="en-US" sz="3400" b="1" dirty="0">
                <a:solidFill>
                  <a:srgbClr val="D4A83F"/>
                </a:solidFill>
                <a:latin typeface="SVN-Georgia" pitchFamily="34" charset="0"/>
                <a:ea typeface="SVN-Georgia" pitchFamily="34" charset="-122"/>
                <a:cs typeface="SVN-Georgia" pitchFamily="34" charset="-120"/>
              </a:rPr>
              <a:t>01</a:t>
            </a:r>
            <a:endParaRPr lang="en-US" sz="3400" dirty="0"/>
          </a:p>
        </p:txBody>
      </p:sp>
      <p:sp>
        <p:nvSpPr>
          <p:cNvPr id="4" name="Text 2"/>
          <p:cNvSpPr/>
          <p:nvPr/>
        </p:nvSpPr>
        <p:spPr>
          <a:xfrm>
            <a:off x="731520" y="1828800"/>
            <a:ext cx="6858000" cy="822960"/>
          </a:xfrm>
          <a:prstGeom prst="rect">
            <a:avLst/>
          </a:prstGeom>
          <a:noFill/>
          <a:ln/>
        </p:spPr>
        <p:txBody>
          <a:bodyPr wrap="square" lIns="381" tIns="381" rIns="381" bIns="381" rtlCol="0" anchor="ctr">
            <a:normAutofit/>
          </a:bodyPr>
          <a:lstStyle/>
          <a:p>
            <a:pPr marL="0" indent="0" algn="l">
              <a:buNone/>
            </a:pPr>
            <a:r>
              <a:rPr lang="en-US" sz="3000" b="1" dirty="0">
                <a:solidFill>
                  <a:srgbClr val="FFFFFF"/>
                </a:solidFill>
                <a:latin typeface="SVN-Georgia" pitchFamily="34" charset="0"/>
                <a:ea typeface="Aptos Display" pitchFamily="34" charset="-122"/>
                <a:cs typeface="Aptos Display" pitchFamily="34" charset="-120"/>
              </a:rPr>
              <a:t>BRAND FRAMEWORK</a:t>
            </a:r>
            <a:endParaRPr lang="en-US" sz="3000" dirty="0"/>
          </a:p>
        </p:txBody>
      </p:sp>
      <p:sp>
        <p:nvSpPr>
          <p:cNvPr id="5" name="Text 3"/>
          <p:cNvSpPr/>
          <p:nvPr/>
        </p:nvSpPr>
        <p:spPr>
          <a:xfrm>
            <a:off x="777240" y="2743200"/>
            <a:ext cx="6583680" cy="640080"/>
          </a:xfrm>
          <a:prstGeom prst="rect">
            <a:avLst/>
          </a:prstGeom>
          <a:noFill/>
          <a:ln/>
        </p:spPr>
        <p:txBody>
          <a:bodyPr wrap="square" lIns="381" tIns="381" rIns="381" bIns="381" rtlCol="0" anchor="ctr">
            <a:normAutofit/>
          </a:bodyPr>
          <a:lstStyle/>
          <a:p>
            <a:pPr marL="0" indent="0" algn="l">
              <a:buNone/>
            </a:pPr>
            <a:r>
              <a:rPr lang="en-US" sz="1400" dirty="0">
                <a:solidFill>
                  <a:srgbClr val="E8CF8B"/>
                </a:solidFill>
                <a:latin typeface="Inter" pitchFamily="34" charset="0"/>
                <a:ea typeface="Aptos" pitchFamily="34" charset="-122"/>
                <a:cs typeface="Aptos" pitchFamily="34" charset="-120"/>
              </a:rPr>
              <a:t>Từ “bán sản phẩm tài chính” thành hệ sinh thái dẫn đường quyết định tài chính.</a:t>
            </a:r>
            <a:endParaRPr lang="en-US" sz="1400" dirty="0"/>
          </a:p>
        </p:txBody>
      </p:sp>
      <p:sp>
        <p:nvSpPr>
          <p:cNvPr id="7" name="Text 4"/>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8" name="Text 5"/>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pic>
        <p:nvPicPr>
          <p:cNvPr id="9" name="Picture 8" descr="moneyfest_logo_gold_transparent.png"/>
          <p:cNvPicPr>
            <a:picLocks noChangeAspect="1"/>
          </p:cNvPicPr>
          <p:nvPr/>
        </p:nvPicPr>
        <p:blipFill>
          <a:blip r:embed="rId3"/>
          <a:stretch>
            <a:fillRect/>
          </a:stretch>
        </p:blipFill>
        <p:spPr>
          <a:xfrm>
            <a:off x="8915400" y="1801405"/>
            <a:ext cx="2331720" cy="16092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01 Brand Framework</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04</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A CLEAR PROFILE</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Moneyfest là ai?</a:t>
            </a:r>
            <a:endParaRPr lang="en-US" sz="2300" dirty="0"/>
          </a:p>
        </p:txBody>
      </p:sp>
      <p:sp>
        <p:nvSpPr>
          <p:cNvPr id="8" name="Shape 6"/>
          <p:cNvSpPr/>
          <p:nvPr/>
        </p:nvSpPr>
        <p:spPr>
          <a:xfrm>
            <a:off x="685800" y="1874520"/>
            <a:ext cx="5212080" cy="3154680"/>
          </a:xfrm>
          <a:prstGeom prst="rect">
            <a:avLst/>
          </a:prstGeom>
          <a:solidFill>
            <a:srgbClr val="F4F0E8"/>
          </a:solidFill>
          <a:ln w="7620">
            <a:solidFill>
              <a:srgbClr val="D7D7D7"/>
            </a:solidFill>
            <a:prstDash val="solid"/>
          </a:ln>
        </p:spPr>
        <p:txBody>
          <a:bodyPr/>
          <a:lstStyle/>
          <a:p>
            <a:endParaRPr/>
          </a:p>
        </p:txBody>
      </p:sp>
      <p:sp>
        <p:nvSpPr>
          <p:cNvPr id="9" name="Text 7"/>
          <p:cNvSpPr/>
          <p:nvPr/>
        </p:nvSpPr>
        <p:spPr>
          <a:xfrm>
            <a:off x="960120" y="2130552"/>
            <a:ext cx="4645152" cy="868680"/>
          </a:xfrm>
          <a:prstGeom prst="rect">
            <a:avLst/>
          </a:prstGeom>
          <a:noFill/>
          <a:ln/>
        </p:spPr>
        <p:txBody>
          <a:bodyPr wrap="square" lIns="381" tIns="381" rIns="381" bIns="381" rtlCol="0" anchor="ctr">
            <a:normAutofit fontScale="92500"/>
          </a:bodyPr>
          <a:lstStyle/>
          <a:p>
            <a:pPr marL="0" indent="0" algn="just">
              <a:buNone/>
            </a:pPr>
            <a:r>
              <a:rPr lang="en-US" sz="1500" b="1" dirty="0">
                <a:solidFill>
                  <a:srgbClr val="071521"/>
                </a:solidFill>
                <a:latin typeface="Inter" pitchFamily="34" charset="0"/>
                <a:ea typeface="Aptos" pitchFamily="34" charset="-122"/>
                <a:cs typeface="Aptos" pitchFamily="34" charset="-120"/>
              </a:rPr>
              <a:t>Moneyfest là hệ sinh thái tư vấn, tri thức và kết nối giải pháp tài chính, giúp cá nhân, gia đình và doanh nghiệp hiểu rõ lựa chọn, so sánh nhiều phương án và ra quyết định phù hợp với mục tiêu dài hạn.</a:t>
            </a:r>
            <a:endParaRPr lang="en-US" sz="1500" dirty="0"/>
          </a:p>
        </p:txBody>
      </p:sp>
      <p:sp>
        <p:nvSpPr>
          <p:cNvPr id="10" name="Text 8"/>
          <p:cNvSpPr/>
          <p:nvPr/>
        </p:nvSpPr>
        <p:spPr>
          <a:xfrm>
            <a:off x="960120" y="3246120"/>
            <a:ext cx="4663440" cy="822960"/>
          </a:xfrm>
          <a:prstGeom prst="rect">
            <a:avLst/>
          </a:prstGeom>
          <a:noFill/>
          <a:ln/>
        </p:spPr>
        <p:txBody>
          <a:bodyPr wrap="square" lIns="381" tIns="381" rIns="381" bIns="381" rtlCol="0" anchor="ctr">
            <a:normAutofit/>
          </a:bodyPr>
          <a:lstStyle/>
          <a:p>
            <a:pPr marL="0" indent="0" algn="just">
              <a:buNone/>
            </a:pPr>
            <a:r>
              <a:rPr lang="en-US" sz="1200" dirty="0">
                <a:solidFill>
                  <a:srgbClr val="070707"/>
                </a:solidFill>
                <a:latin typeface="Inter" pitchFamily="34" charset="0"/>
                <a:ea typeface="Aptos" pitchFamily="34" charset="-122"/>
                <a:cs typeface="Aptos" pitchFamily="34" charset="-120"/>
              </a:rPr>
              <a:t>Không bắt đầu từ sản phẩm cần bán. Moneyfest bắt đầu từ hoàn cảnh tài chính, mục tiêu, mức chịu rủi ro, thời gian và nhu cầu thanh khoản của khách hàng.</a:t>
            </a:r>
            <a:endParaRPr lang="en-US" sz="1200" dirty="0"/>
          </a:p>
        </p:txBody>
      </p:sp>
      <p:sp>
        <p:nvSpPr>
          <p:cNvPr id="12" name="Text 9"/>
          <p:cNvSpPr/>
          <p:nvPr/>
        </p:nvSpPr>
        <p:spPr>
          <a:xfrm>
            <a:off x="6720840" y="5257800"/>
            <a:ext cx="1005840" cy="201168"/>
          </a:xfrm>
          <a:prstGeom prst="rect">
            <a:avLst/>
          </a:prstGeom>
          <a:noFill/>
          <a:ln/>
        </p:spPr>
        <p:txBody>
          <a:bodyPr wrap="square" lIns="381" tIns="381" rIns="381" bIns="381" rtlCol="0" anchor="ctr">
            <a:normAutofit/>
          </a:bodyPr>
          <a:lstStyle/>
          <a:p>
            <a:pPr marL="0" indent="0" algn="l">
              <a:buNone/>
            </a:pPr>
            <a:r>
              <a:rPr lang="en-US" sz="750" b="1" dirty="0">
                <a:solidFill>
                  <a:srgbClr val="D4A83F"/>
                </a:solidFill>
                <a:latin typeface="Inter" pitchFamily="34" charset="0"/>
                <a:ea typeface="Aptos" pitchFamily="34" charset="-122"/>
                <a:cs typeface="Aptos" pitchFamily="34" charset="-120"/>
              </a:rPr>
              <a:t>CORE IDEA</a:t>
            </a:r>
            <a:endParaRPr lang="en-US" sz="750" dirty="0"/>
          </a:p>
        </p:txBody>
      </p:sp>
      <p:sp>
        <p:nvSpPr>
          <p:cNvPr id="13" name="Text 10"/>
          <p:cNvSpPr/>
          <p:nvPr/>
        </p:nvSpPr>
        <p:spPr>
          <a:xfrm>
            <a:off x="6720840" y="5532120"/>
            <a:ext cx="4251960" cy="320040"/>
          </a:xfrm>
          <a:prstGeom prst="rect">
            <a:avLst/>
          </a:prstGeom>
          <a:noFill/>
          <a:ln/>
        </p:spPr>
        <p:txBody>
          <a:bodyPr wrap="square" lIns="381" tIns="381" rIns="381" bIns="381" rtlCol="0" anchor="ctr">
            <a:normAutofit/>
          </a:bodyPr>
          <a:lstStyle/>
          <a:p>
            <a:pPr marL="0" indent="0" algn="l">
              <a:buNone/>
            </a:pPr>
            <a:r>
              <a:rPr lang="en-US" sz="1300" b="1" dirty="0">
                <a:solidFill>
                  <a:srgbClr val="071521"/>
                </a:solidFill>
                <a:latin typeface="Inter" pitchFamily="34" charset="0"/>
                <a:ea typeface="Aptos" pitchFamily="34" charset="-122"/>
                <a:cs typeface="Aptos" pitchFamily="34" charset="-120"/>
              </a:rPr>
              <a:t>HIỂU THẤU LUẬT CHƠI – LÀM CHỦ CUỘC ĐỜI</a:t>
            </a:r>
            <a:endParaRPr lang="en-US" sz="1300" dirty="0"/>
          </a:p>
        </p:txBody>
      </p:sp>
      <p:sp>
        <p:nvSpPr>
          <p:cNvPr id="14" name="Text 11"/>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15" name="Text 12"/>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pic>
        <p:nvPicPr>
          <p:cNvPr id="16" name="Picture 15" descr="moneyfest_logo_gold_transparent.png"/>
          <p:cNvPicPr>
            <a:picLocks noChangeAspect="1"/>
          </p:cNvPicPr>
          <p:nvPr/>
        </p:nvPicPr>
        <p:blipFill>
          <a:blip r:embed="rId3"/>
          <a:stretch>
            <a:fillRect/>
          </a:stretch>
        </p:blipFill>
        <p:spPr>
          <a:xfrm>
            <a:off x="7073214" y="2439967"/>
            <a:ext cx="2998571" cy="20695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E8CF8B"/>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D7D7D7"/>
                </a:solidFill>
                <a:latin typeface="Inter" pitchFamily="34" charset="0"/>
                <a:ea typeface="Aptos" pitchFamily="34" charset="-122"/>
                <a:cs typeface="Aptos" pitchFamily="34" charset="-120"/>
              </a:rPr>
              <a:t>01 Brand Framework</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D4A83F"/>
                </a:solidFill>
                <a:latin typeface="Inter" pitchFamily="34" charset="0"/>
                <a:ea typeface="Aptos" pitchFamily="34" charset="-122"/>
                <a:cs typeface="Aptos" pitchFamily="34" charset="-120"/>
              </a:rPr>
              <a:t>05</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E8CF8B"/>
                </a:solidFill>
                <a:latin typeface="Inter" pitchFamily="34" charset="0"/>
                <a:ea typeface="Aptos" pitchFamily="34" charset="-122"/>
                <a:cs typeface="Aptos" pitchFamily="34" charset="-120"/>
              </a:rPr>
              <a:t>POSITIONING STATEMENT</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FFFFFF"/>
                </a:solidFill>
                <a:latin typeface="SVN-Georgia" pitchFamily="34" charset="0"/>
                <a:ea typeface="Aptos Display" pitchFamily="34" charset="-122"/>
                <a:cs typeface="Aptos Display" pitchFamily="34" charset="-120"/>
              </a:rPr>
              <a:t>Định vị thương hiệu</a:t>
            </a:r>
            <a:endParaRPr lang="en-US" sz="2300" dirty="0"/>
          </a:p>
        </p:txBody>
      </p:sp>
      <p:sp>
        <p:nvSpPr>
          <p:cNvPr id="8" name="Shape 6"/>
          <p:cNvSpPr/>
          <p:nvPr/>
        </p:nvSpPr>
        <p:spPr>
          <a:xfrm>
            <a:off x="713232" y="1874520"/>
            <a:ext cx="10744200" cy="1828800"/>
          </a:xfrm>
          <a:prstGeom prst="rect">
            <a:avLst/>
          </a:prstGeom>
          <a:solidFill>
            <a:srgbClr val="071521"/>
          </a:solidFill>
          <a:ln w="10160">
            <a:solidFill>
              <a:srgbClr val="D4A83F"/>
            </a:solidFill>
            <a:prstDash val="solid"/>
          </a:ln>
        </p:spPr>
        <p:txBody>
          <a:bodyPr/>
          <a:lstStyle/>
          <a:p>
            <a:endParaRPr/>
          </a:p>
        </p:txBody>
      </p:sp>
      <p:sp>
        <p:nvSpPr>
          <p:cNvPr id="9" name="Text 7"/>
          <p:cNvSpPr/>
          <p:nvPr/>
        </p:nvSpPr>
        <p:spPr>
          <a:xfrm>
            <a:off x="1033272" y="2212848"/>
            <a:ext cx="10104120" cy="868680"/>
          </a:xfrm>
          <a:prstGeom prst="rect">
            <a:avLst/>
          </a:prstGeom>
          <a:noFill/>
          <a:ln/>
        </p:spPr>
        <p:txBody>
          <a:bodyPr wrap="square" lIns="381" tIns="381" rIns="381" bIns="381" rtlCol="0" anchor="ctr">
            <a:normAutofit/>
          </a:bodyPr>
          <a:lstStyle/>
          <a:p>
            <a:pPr marL="0" indent="0" algn="ctr">
              <a:buNone/>
            </a:pPr>
            <a:r>
              <a:rPr lang="en-US" sz="2400" b="1" dirty="0">
                <a:solidFill>
                  <a:srgbClr val="FFFFFF"/>
                </a:solidFill>
                <a:latin typeface="SVN-Georgia" pitchFamily="34" charset="0"/>
                <a:ea typeface="SVN-Georgia" pitchFamily="34" charset="-122"/>
                <a:cs typeface="SVN-Georgia" pitchFamily="34" charset="-120"/>
              </a:rPr>
              <a:t>“Moneyfest giúp bạn hiểu tiền, hiểu bản thân và hiểu </a:t>
            </a:r>
            <a:r>
              <a:rPr lang="en-US" sz="2400" b="1" dirty="0" err="1">
                <a:solidFill>
                  <a:srgbClr val="FFFFFF"/>
                </a:solidFill>
                <a:latin typeface="SVN-Georgia" pitchFamily="34" charset="0"/>
                <a:ea typeface="SVN-Georgia" pitchFamily="34" charset="-122"/>
                <a:cs typeface="SVN-Georgia" pitchFamily="34" charset="-120"/>
              </a:rPr>
              <a:t>thế</a:t>
            </a:r>
            <a:r>
              <a:rPr lang="en-US" sz="2400" b="1" dirty="0">
                <a:solidFill>
                  <a:srgbClr val="FFFFFF"/>
                </a:solidFill>
                <a:latin typeface="SVN-Georgia" pitchFamily="34" charset="0"/>
                <a:ea typeface="SVN-Georgia" pitchFamily="34" charset="-122"/>
                <a:cs typeface="SVN-Georgia" pitchFamily="34" charset="-120"/>
              </a:rPr>
              <a:t> </a:t>
            </a:r>
            <a:r>
              <a:rPr lang="en-US" sz="2400" b="1" dirty="0" err="1" smtClean="0">
                <a:solidFill>
                  <a:srgbClr val="FFFFFF"/>
                </a:solidFill>
                <a:latin typeface="SVN-Georgia" pitchFamily="34" charset="0"/>
                <a:ea typeface="SVN-Georgia" pitchFamily="34" charset="-122"/>
                <a:cs typeface="SVN-Georgia" pitchFamily="34" charset="-120"/>
              </a:rPr>
              <a:t>giới</a:t>
            </a:r>
            <a:r>
              <a:rPr lang="en-US" sz="2400" b="1" dirty="0" smtClean="0">
                <a:solidFill>
                  <a:srgbClr val="FFFFFF"/>
                </a:solidFill>
                <a:latin typeface="SVN-Georgia" pitchFamily="34" charset="0"/>
                <a:ea typeface="SVN-Georgia" pitchFamily="34" charset="-122"/>
                <a:cs typeface="SVN-Georgia" pitchFamily="34" charset="-120"/>
              </a:rPr>
              <a:t/>
            </a:r>
            <a:br>
              <a:rPr lang="en-US" sz="2400" b="1" dirty="0" smtClean="0">
                <a:solidFill>
                  <a:srgbClr val="FFFFFF"/>
                </a:solidFill>
                <a:latin typeface="SVN-Georgia" pitchFamily="34" charset="0"/>
                <a:ea typeface="SVN-Georgia" pitchFamily="34" charset="-122"/>
                <a:cs typeface="SVN-Georgia" pitchFamily="34" charset="-120"/>
              </a:rPr>
            </a:br>
            <a:r>
              <a:rPr lang="en-US" sz="2400" b="1" dirty="0" err="1" smtClean="0">
                <a:solidFill>
                  <a:srgbClr val="FFFFFF"/>
                </a:solidFill>
                <a:latin typeface="SVN-Georgia" pitchFamily="34" charset="0"/>
                <a:ea typeface="SVN-Georgia" pitchFamily="34" charset="-122"/>
                <a:cs typeface="SVN-Georgia" pitchFamily="34" charset="-120"/>
              </a:rPr>
              <a:t>để</a:t>
            </a:r>
            <a:r>
              <a:rPr lang="en-US" sz="2400" b="1" dirty="0" smtClean="0">
                <a:solidFill>
                  <a:srgbClr val="FFFFFF"/>
                </a:solidFill>
                <a:latin typeface="SVN-Georgia" pitchFamily="34" charset="0"/>
                <a:ea typeface="SVN-Georgia" pitchFamily="34" charset="-122"/>
                <a:cs typeface="SVN-Georgia" pitchFamily="34" charset="-120"/>
              </a:rPr>
              <a:t> </a:t>
            </a:r>
            <a:r>
              <a:rPr lang="en-US" sz="2400" b="1" dirty="0">
                <a:solidFill>
                  <a:srgbClr val="FFFFFF"/>
                </a:solidFill>
                <a:latin typeface="SVN-Georgia" pitchFamily="34" charset="0"/>
                <a:ea typeface="SVN-Georgia" pitchFamily="34" charset="-122"/>
                <a:cs typeface="SVN-Georgia" pitchFamily="34" charset="-120"/>
              </a:rPr>
              <a:t>có nhiều lựa chọn hơn trong cuộc sống.”</a:t>
            </a:r>
            <a:endParaRPr lang="en-US" sz="2400" dirty="0"/>
          </a:p>
        </p:txBody>
      </p:sp>
      <p:sp>
        <p:nvSpPr>
          <p:cNvPr id="10" name="Shape 8"/>
          <p:cNvSpPr/>
          <p:nvPr/>
        </p:nvSpPr>
        <p:spPr>
          <a:xfrm>
            <a:off x="777240" y="4343400"/>
            <a:ext cx="914400" cy="347472"/>
          </a:xfrm>
          <a:prstGeom prst="rect">
            <a:avLst/>
          </a:prstGeom>
          <a:solidFill>
            <a:srgbClr val="1A1A1A"/>
          </a:solidFill>
          <a:ln w="6350">
            <a:solidFill>
              <a:srgbClr val="D4A83F">
                <a:alpha val="75000"/>
              </a:srgbClr>
            </a:solidFill>
            <a:prstDash val="solid"/>
          </a:ln>
        </p:spPr>
        <p:txBody>
          <a:bodyPr/>
          <a:lstStyle/>
          <a:p>
            <a:endParaRPr/>
          </a:p>
        </p:txBody>
      </p:sp>
      <p:sp>
        <p:nvSpPr>
          <p:cNvPr id="11" name="Text 9"/>
          <p:cNvSpPr/>
          <p:nvPr/>
        </p:nvSpPr>
        <p:spPr>
          <a:xfrm>
            <a:off x="868680" y="4389120"/>
            <a:ext cx="731520" cy="256032"/>
          </a:xfrm>
          <a:prstGeom prst="rect">
            <a:avLst/>
          </a:prstGeom>
          <a:noFill/>
          <a:ln/>
        </p:spPr>
        <p:txBody>
          <a:bodyPr wrap="square" lIns="381" tIns="381" rIns="381" bIns="381" rtlCol="0" anchor="ctr">
            <a:normAutofit/>
          </a:bodyPr>
          <a:lstStyle/>
          <a:p>
            <a:pPr marL="0" indent="0" algn="l">
              <a:buNone/>
            </a:pPr>
            <a:r>
              <a:rPr lang="en-US" sz="940" b="1" dirty="0">
                <a:solidFill>
                  <a:srgbClr val="E8CF8B"/>
                </a:solidFill>
                <a:latin typeface="Inter" pitchFamily="34" charset="0"/>
                <a:ea typeface="Aptos" pitchFamily="34" charset="-122"/>
                <a:cs typeface="Aptos" pitchFamily="34" charset="-120"/>
              </a:rPr>
              <a:t>WHO</a:t>
            </a:r>
            <a:endParaRPr lang="en-US" sz="940" dirty="0"/>
          </a:p>
        </p:txBody>
      </p:sp>
      <p:sp>
        <p:nvSpPr>
          <p:cNvPr id="12" name="Text 10"/>
          <p:cNvSpPr/>
          <p:nvPr/>
        </p:nvSpPr>
        <p:spPr>
          <a:xfrm>
            <a:off x="777240" y="4800600"/>
            <a:ext cx="3154680" cy="640080"/>
          </a:xfrm>
          <a:prstGeom prst="rect">
            <a:avLst/>
          </a:prstGeom>
          <a:noFill/>
          <a:ln/>
        </p:spPr>
        <p:txBody>
          <a:bodyPr wrap="square" lIns="381" tIns="381" rIns="381" bIns="381" rtlCol="0" anchor="ctr">
            <a:normAutofit/>
          </a:bodyPr>
          <a:lstStyle/>
          <a:p>
            <a:pPr marL="0" indent="0" algn="l">
              <a:buNone/>
            </a:pPr>
            <a:r>
              <a:rPr lang="en-US" sz="1200" dirty="0">
                <a:solidFill>
                  <a:srgbClr val="F4F0E8"/>
                </a:solidFill>
                <a:latin typeface="Inter" pitchFamily="34" charset="0"/>
                <a:ea typeface="Aptos" pitchFamily="34" charset="-122"/>
                <a:cs typeface="Aptos" pitchFamily="34" charset="-120"/>
              </a:rPr>
              <a:t>Cá nhân, gia đình, chủ doanh nghiệp có tiền nhàn rỗi</a:t>
            </a:r>
            <a:endParaRPr lang="en-US" sz="1200" dirty="0"/>
          </a:p>
        </p:txBody>
      </p:sp>
      <p:sp>
        <p:nvSpPr>
          <p:cNvPr id="13" name="Shape 11"/>
          <p:cNvSpPr/>
          <p:nvPr/>
        </p:nvSpPr>
        <p:spPr>
          <a:xfrm>
            <a:off x="4526280" y="4343400"/>
            <a:ext cx="914400" cy="347472"/>
          </a:xfrm>
          <a:prstGeom prst="rect">
            <a:avLst/>
          </a:prstGeom>
          <a:solidFill>
            <a:srgbClr val="1A1A1A"/>
          </a:solidFill>
          <a:ln w="6350">
            <a:solidFill>
              <a:srgbClr val="D4A83F">
                <a:alpha val="75000"/>
              </a:srgbClr>
            </a:solidFill>
            <a:prstDash val="solid"/>
          </a:ln>
        </p:spPr>
        <p:txBody>
          <a:bodyPr/>
          <a:lstStyle/>
          <a:p>
            <a:endParaRPr/>
          </a:p>
        </p:txBody>
      </p:sp>
      <p:sp>
        <p:nvSpPr>
          <p:cNvPr id="14" name="Text 12"/>
          <p:cNvSpPr/>
          <p:nvPr/>
        </p:nvSpPr>
        <p:spPr>
          <a:xfrm>
            <a:off x="4617720" y="4389120"/>
            <a:ext cx="731520" cy="256032"/>
          </a:xfrm>
          <a:prstGeom prst="rect">
            <a:avLst/>
          </a:prstGeom>
          <a:noFill/>
          <a:ln/>
        </p:spPr>
        <p:txBody>
          <a:bodyPr wrap="square" lIns="381" tIns="381" rIns="381" bIns="381" rtlCol="0" anchor="ctr">
            <a:normAutofit/>
          </a:bodyPr>
          <a:lstStyle/>
          <a:p>
            <a:pPr marL="0" indent="0" algn="l">
              <a:buNone/>
            </a:pPr>
            <a:r>
              <a:rPr lang="en-US" sz="940" b="1" dirty="0">
                <a:solidFill>
                  <a:srgbClr val="E8CF8B"/>
                </a:solidFill>
                <a:latin typeface="Inter" pitchFamily="34" charset="0"/>
                <a:ea typeface="Aptos" pitchFamily="34" charset="-122"/>
                <a:cs typeface="Aptos" pitchFamily="34" charset="-120"/>
              </a:rPr>
              <a:t>WHAT</a:t>
            </a:r>
            <a:endParaRPr lang="en-US" sz="940" dirty="0"/>
          </a:p>
        </p:txBody>
      </p:sp>
      <p:sp>
        <p:nvSpPr>
          <p:cNvPr id="15" name="Text 13"/>
          <p:cNvSpPr/>
          <p:nvPr/>
        </p:nvSpPr>
        <p:spPr>
          <a:xfrm>
            <a:off x="4526280" y="4800600"/>
            <a:ext cx="3154680" cy="640080"/>
          </a:xfrm>
          <a:prstGeom prst="rect">
            <a:avLst/>
          </a:prstGeom>
          <a:noFill/>
          <a:ln/>
        </p:spPr>
        <p:txBody>
          <a:bodyPr wrap="square" lIns="381" tIns="381" rIns="381" bIns="381" rtlCol="0" anchor="ctr">
            <a:normAutofit/>
          </a:bodyPr>
          <a:lstStyle/>
          <a:p>
            <a:pPr marL="0" indent="0" algn="l">
              <a:buNone/>
            </a:pPr>
            <a:r>
              <a:rPr lang="en-US" sz="1200" dirty="0">
                <a:solidFill>
                  <a:srgbClr val="F4F0E8"/>
                </a:solidFill>
                <a:latin typeface="Inter" pitchFamily="34" charset="0"/>
                <a:ea typeface="Aptos" pitchFamily="34" charset="-122"/>
                <a:cs typeface="Aptos" pitchFamily="34" charset="-120"/>
              </a:rPr>
              <a:t>So sánh và lựa chọn giải pháp tài chính phù hợp</a:t>
            </a:r>
            <a:endParaRPr lang="en-US" sz="1200" dirty="0"/>
          </a:p>
        </p:txBody>
      </p:sp>
      <p:sp>
        <p:nvSpPr>
          <p:cNvPr id="16" name="Shape 14"/>
          <p:cNvSpPr/>
          <p:nvPr/>
        </p:nvSpPr>
        <p:spPr>
          <a:xfrm>
            <a:off x="8275320" y="4343400"/>
            <a:ext cx="914400" cy="347472"/>
          </a:xfrm>
          <a:prstGeom prst="rect">
            <a:avLst/>
          </a:prstGeom>
          <a:solidFill>
            <a:srgbClr val="1A1A1A"/>
          </a:solidFill>
          <a:ln w="6350">
            <a:solidFill>
              <a:srgbClr val="D4A83F">
                <a:alpha val="75000"/>
              </a:srgbClr>
            </a:solidFill>
            <a:prstDash val="solid"/>
          </a:ln>
        </p:spPr>
        <p:txBody>
          <a:bodyPr/>
          <a:lstStyle/>
          <a:p>
            <a:endParaRPr/>
          </a:p>
        </p:txBody>
      </p:sp>
      <p:sp>
        <p:nvSpPr>
          <p:cNvPr id="17" name="Text 15"/>
          <p:cNvSpPr/>
          <p:nvPr/>
        </p:nvSpPr>
        <p:spPr>
          <a:xfrm>
            <a:off x="8366760" y="4389120"/>
            <a:ext cx="731520" cy="256032"/>
          </a:xfrm>
          <a:prstGeom prst="rect">
            <a:avLst/>
          </a:prstGeom>
          <a:noFill/>
          <a:ln/>
        </p:spPr>
        <p:txBody>
          <a:bodyPr wrap="square" lIns="381" tIns="381" rIns="381" bIns="381" rtlCol="0" anchor="ctr">
            <a:normAutofit/>
          </a:bodyPr>
          <a:lstStyle/>
          <a:p>
            <a:pPr marL="0" indent="0" algn="l">
              <a:buNone/>
            </a:pPr>
            <a:r>
              <a:rPr lang="en-US" sz="940" b="1" dirty="0">
                <a:solidFill>
                  <a:srgbClr val="E8CF8B"/>
                </a:solidFill>
                <a:latin typeface="Inter" pitchFamily="34" charset="0"/>
                <a:ea typeface="Aptos" pitchFamily="34" charset="-122"/>
                <a:cs typeface="Aptos" pitchFamily="34" charset="-120"/>
              </a:rPr>
              <a:t>WHY</a:t>
            </a:r>
            <a:endParaRPr lang="en-US" sz="940" dirty="0"/>
          </a:p>
        </p:txBody>
      </p:sp>
      <p:sp>
        <p:nvSpPr>
          <p:cNvPr id="18" name="Text 16"/>
          <p:cNvSpPr/>
          <p:nvPr/>
        </p:nvSpPr>
        <p:spPr>
          <a:xfrm>
            <a:off x="8275320" y="4800600"/>
            <a:ext cx="3154680" cy="640080"/>
          </a:xfrm>
          <a:prstGeom prst="rect">
            <a:avLst/>
          </a:prstGeom>
          <a:noFill/>
          <a:ln/>
        </p:spPr>
        <p:txBody>
          <a:bodyPr wrap="square" lIns="381" tIns="381" rIns="381" bIns="381" rtlCol="0" anchor="ctr">
            <a:normAutofit/>
          </a:bodyPr>
          <a:lstStyle/>
          <a:p>
            <a:pPr marL="0" indent="0" algn="l">
              <a:buNone/>
            </a:pPr>
            <a:r>
              <a:rPr lang="en-US" sz="1200" dirty="0">
                <a:solidFill>
                  <a:srgbClr val="F4F0E8"/>
                </a:solidFill>
                <a:latin typeface="Inter" pitchFamily="34" charset="0"/>
                <a:ea typeface="Aptos" pitchFamily="34" charset="-122"/>
                <a:cs typeface="Aptos" pitchFamily="34" charset="-120"/>
              </a:rPr>
              <a:t>Giảm bất lực, tăng quyền lựa chọn và chủ động tương lai</a:t>
            </a:r>
            <a:endParaRPr lang="en-US" sz="1200" dirty="0"/>
          </a:p>
        </p:txBody>
      </p:sp>
      <p:sp>
        <p:nvSpPr>
          <p:cNvPr id="19" name="Text 17"/>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20" name="Text 18"/>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01 Brand Framework</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06</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BRAND PHILOSOPHY</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Tự do đến từ hiểu luật chơi</a:t>
            </a:r>
            <a:endParaRPr lang="en-US" sz="2300" dirty="0"/>
          </a:p>
        </p:txBody>
      </p:sp>
      <p:sp>
        <p:nvSpPr>
          <p:cNvPr id="8" name="Text 6"/>
          <p:cNvSpPr/>
          <p:nvPr/>
        </p:nvSpPr>
        <p:spPr>
          <a:xfrm>
            <a:off x="658368" y="2118049"/>
            <a:ext cx="5349240" cy="1078992"/>
          </a:xfrm>
          <a:prstGeom prst="rect">
            <a:avLst/>
          </a:prstGeom>
          <a:noFill/>
          <a:ln/>
        </p:spPr>
        <p:txBody>
          <a:bodyPr wrap="square" lIns="381" tIns="381" rIns="381" bIns="381" rtlCol="0" anchor="ctr">
            <a:noAutofit/>
          </a:bodyPr>
          <a:lstStyle/>
          <a:p>
            <a:pPr marL="0" indent="0" algn="l">
              <a:buNone/>
            </a:pPr>
            <a:r>
              <a:rPr lang="en-US" sz="2000" b="1" dirty="0">
                <a:solidFill>
                  <a:srgbClr val="071521"/>
                </a:solidFill>
                <a:latin typeface="Inter" pitchFamily="34" charset="0"/>
                <a:ea typeface="SVN-Georgia" pitchFamily="34" charset="-122"/>
                <a:cs typeface="SVN-Georgia" pitchFamily="34" charset="-120"/>
              </a:rPr>
              <a:t>Tự do không đến từ việc có nhiều tiền hơn. Tự do đến từ việc hiểu rõ cuộc chơi mình đang tham gia và có năng lực đưa ra lựa chọn phù hợp.</a:t>
            </a:r>
            <a:endParaRPr lang="en-US" sz="2000" dirty="0"/>
          </a:p>
        </p:txBody>
      </p:sp>
      <p:sp>
        <p:nvSpPr>
          <p:cNvPr id="9" name="Text 7"/>
          <p:cNvSpPr/>
          <p:nvPr/>
        </p:nvSpPr>
        <p:spPr>
          <a:xfrm>
            <a:off x="777240" y="3474720"/>
            <a:ext cx="5029200" cy="1143000"/>
          </a:xfrm>
          <a:prstGeom prst="rect">
            <a:avLst/>
          </a:prstGeom>
          <a:noFill/>
          <a:ln/>
        </p:spPr>
        <p:txBody>
          <a:bodyPr wrap="square" lIns="635" tIns="635" rIns="635" bIns="635" rtlCol="0" anchor="ctr">
            <a:normAutofit/>
          </a:bodyPr>
          <a:lstStyle/>
          <a:p>
            <a:pPr marL="0" indent="0">
              <a:buNone/>
            </a:pPr>
            <a:r>
              <a:rPr lang="en-US" sz="1110" dirty="0">
                <a:solidFill>
                  <a:srgbClr val="070707"/>
                </a:solidFill>
                <a:latin typeface="Inter" pitchFamily="34" charset="0"/>
                <a:ea typeface="Aptos" pitchFamily="34" charset="-122"/>
                <a:cs typeface="Aptos" pitchFamily="34" charset="-120"/>
              </a:rPr>
              <a:t>• Moneyfest biến sự phức tạp thành sáng </a:t>
            </a:r>
            <a:r>
              <a:rPr lang="en-US" sz="1110" dirty="0" err="1">
                <a:solidFill>
                  <a:srgbClr val="070707"/>
                </a:solidFill>
                <a:latin typeface="Inter" pitchFamily="34" charset="0"/>
                <a:ea typeface="Aptos" pitchFamily="34" charset="-122"/>
                <a:cs typeface="Aptos" pitchFamily="34" charset="-120"/>
              </a:rPr>
              <a:t>tỏ</a:t>
            </a:r>
            <a:r>
              <a:rPr lang="en-US" sz="1110" dirty="0" smtClean="0">
                <a:solidFill>
                  <a:srgbClr val="070707"/>
                </a:solidFill>
                <a:latin typeface="Inter" pitchFamily="34" charset="0"/>
                <a:ea typeface="Aptos" pitchFamily="34" charset="-122"/>
                <a:cs typeface="Aptos" pitchFamily="34" charset="-120"/>
              </a:rPr>
              <a:t>.</a:t>
            </a: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Biến sáng tỏ thành quyết định có trách </a:t>
            </a:r>
            <a:r>
              <a:rPr lang="en-US" sz="1110" dirty="0" err="1">
                <a:solidFill>
                  <a:srgbClr val="070707"/>
                </a:solidFill>
                <a:latin typeface="Inter" pitchFamily="34" charset="0"/>
                <a:ea typeface="Aptos" pitchFamily="34" charset="-122"/>
                <a:cs typeface="Aptos" pitchFamily="34" charset="-120"/>
              </a:rPr>
              <a:t>nhiệm</a:t>
            </a:r>
            <a:r>
              <a:rPr lang="en-US" sz="1110" dirty="0" smtClean="0">
                <a:solidFill>
                  <a:srgbClr val="070707"/>
                </a:solidFill>
                <a:latin typeface="Inter" pitchFamily="34" charset="0"/>
                <a:ea typeface="Aptos" pitchFamily="34" charset="-122"/>
                <a:cs typeface="Aptos" pitchFamily="34" charset="-120"/>
              </a:rPr>
              <a:t>.</a:t>
            </a: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Biến quyết định đúng thành một cuộc đời chủ động hơn.</a:t>
            </a:r>
            <a:endParaRPr lang="en-US" sz="1110" dirty="0"/>
          </a:p>
        </p:txBody>
      </p:sp>
      <p:sp>
        <p:nvSpPr>
          <p:cNvPr id="10" name="Shape 8"/>
          <p:cNvSpPr/>
          <p:nvPr/>
        </p:nvSpPr>
        <p:spPr>
          <a:xfrm>
            <a:off x="6492240" y="1874520"/>
            <a:ext cx="4389120" cy="658368"/>
          </a:xfrm>
          <a:prstGeom prst="rect">
            <a:avLst/>
          </a:prstGeom>
          <a:solidFill>
            <a:srgbClr val="070707"/>
          </a:solidFill>
          <a:ln w="12700">
            <a:solidFill>
              <a:srgbClr val="070707">
                <a:alpha val="0"/>
              </a:srgbClr>
            </a:solidFill>
            <a:prstDash val="solid"/>
          </a:ln>
        </p:spPr>
        <p:txBody>
          <a:bodyPr/>
          <a:lstStyle/>
          <a:p>
            <a:endParaRPr/>
          </a:p>
        </p:txBody>
      </p:sp>
      <p:sp>
        <p:nvSpPr>
          <p:cNvPr id="11" name="Text 9"/>
          <p:cNvSpPr/>
          <p:nvPr/>
        </p:nvSpPr>
        <p:spPr>
          <a:xfrm>
            <a:off x="6720840" y="2066544"/>
            <a:ext cx="3840480" cy="256032"/>
          </a:xfrm>
          <a:prstGeom prst="rect">
            <a:avLst/>
          </a:prstGeom>
          <a:noFill/>
          <a:ln/>
        </p:spPr>
        <p:txBody>
          <a:bodyPr wrap="square" lIns="381" tIns="381" rIns="381" bIns="381" rtlCol="0" anchor="ctr">
            <a:normAutofit/>
          </a:bodyPr>
          <a:lstStyle/>
          <a:p>
            <a:pPr marL="0" indent="0" algn="ctr">
              <a:buNone/>
            </a:pPr>
            <a:r>
              <a:rPr lang="en-US" sz="1400" b="1" dirty="0">
                <a:solidFill>
                  <a:srgbClr val="D4A83F"/>
                </a:solidFill>
                <a:latin typeface="Inter" pitchFamily="34" charset="0"/>
                <a:ea typeface="Aptos" pitchFamily="34" charset="-122"/>
                <a:cs typeface="Aptos" pitchFamily="34" charset="-120"/>
              </a:rPr>
              <a:t>TIỀN BẠC</a:t>
            </a:r>
            <a:endParaRPr lang="en-US" sz="1400" dirty="0"/>
          </a:p>
        </p:txBody>
      </p:sp>
      <p:sp>
        <p:nvSpPr>
          <p:cNvPr id="12" name="Shape 10"/>
          <p:cNvSpPr/>
          <p:nvPr/>
        </p:nvSpPr>
        <p:spPr>
          <a:xfrm>
            <a:off x="6492240" y="2880360"/>
            <a:ext cx="4389120" cy="658368"/>
          </a:xfrm>
          <a:prstGeom prst="rect">
            <a:avLst/>
          </a:prstGeom>
          <a:solidFill>
            <a:srgbClr val="071521"/>
          </a:solidFill>
          <a:ln w="12700">
            <a:solidFill>
              <a:srgbClr val="071521">
                <a:alpha val="0"/>
              </a:srgbClr>
            </a:solidFill>
            <a:prstDash val="solid"/>
          </a:ln>
        </p:spPr>
        <p:txBody>
          <a:bodyPr/>
          <a:lstStyle/>
          <a:p>
            <a:endParaRPr/>
          </a:p>
        </p:txBody>
      </p:sp>
      <p:sp>
        <p:nvSpPr>
          <p:cNvPr id="13" name="Text 11"/>
          <p:cNvSpPr/>
          <p:nvPr/>
        </p:nvSpPr>
        <p:spPr>
          <a:xfrm>
            <a:off x="6720840" y="3072384"/>
            <a:ext cx="3840480" cy="256032"/>
          </a:xfrm>
          <a:prstGeom prst="rect">
            <a:avLst/>
          </a:prstGeom>
          <a:noFill/>
          <a:ln/>
        </p:spPr>
        <p:txBody>
          <a:bodyPr wrap="square" lIns="381" tIns="381" rIns="381" bIns="381" rtlCol="0" anchor="ctr">
            <a:normAutofit/>
          </a:bodyPr>
          <a:lstStyle/>
          <a:p>
            <a:pPr marL="0" indent="0" algn="ctr">
              <a:buNone/>
            </a:pPr>
            <a:r>
              <a:rPr lang="en-US" sz="1400" b="1" dirty="0">
                <a:solidFill>
                  <a:srgbClr val="E8CF8B"/>
                </a:solidFill>
                <a:latin typeface="Inter" pitchFamily="34" charset="0"/>
                <a:ea typeface="Aptos" pitchFamily="34" charset="-122"/>
                <a:cs typeface="Aptos" pitchFamily="34" charset="-120"/>
              </a:rPr>
              <a:t>TƯ DUY</a:t>
            </a:r>
            <a:endParaRPr lang="en-US" sz="1400" dirty="0"/>
          </a:p>
        </p:txBody>
      </p:sp>
      <p:sp>
        <p:nvSpPr>
          <p:cNvPr id="14" name="Shape 12"/>
          <p:cNvSpPr/>
          <p:nvPr/>
        </p:nvSpPr>
        <p:spPr>
          <a:xfrm>
            <a:off x="6492240" y="3886200"/>
            <a:ext cx="4389120" cy="658368"/>
          </a:xfrm>
          <a:prstGeom prst="rect">
            <a:avLst/>
          </a:prstGeom>
          <a:solidFill>
            <a:srgbClr val="D4A83F"/>
          </a:solidFill>
          <a:ln w="12700">
            <a:solidFill>
              <a:srgbClr val="D4A83F">
                <a:alpha val="0"/>
              </a:srgbClr>
            </a:solidFill>
            <a:prstDash val="solid"/>
          </a:ln>
        </p:spPr>
        <p:txBody>
          <a:bodyPr/>
          <a:lstStyle/>
          <a:p>
            <a:endParaRPr/>
          </a:p>
        </p:txBody>
      </p:sp>
      <p:sp>
        <p:nvSpPr>
          <p:cNvPr id="15" name="Text 13"/>
          <p:cNvSpPr/>
          <p:nvPr/>
        </p:nvSpPr>
        <p:spPr>
          <a:xfrm>
            <a:off x="6720840" y="4078224"/>
            <a:ext cx="3840480" cy="256032"/>
          </a:xfrm>
          <a:prstGeom prst="rect">
            <a:avLst/>
          </a:prstGeom>
          <a:noFill/>
          <a:ln/>
        </p:spPr>
        <p:txBody>
          <a:bodyPr wrap="square" lIns="381" tIns="381" rIns="381" bIns="381" rtlCol="0" anchor="ctr">
            <a:normAutofit/>
          </a:bodyPr>
          <a:lstStyle/>
          <a:p>
            <a:pPr marL="0" indent="0" algn="ctr">
              <a:buNone/>
            </a:pPr>
            <a:r>
              <a:rPr lang="en-US" sz="1400" b="1" dirty="0">
                <a:solidFill>
                  <a:srgbClr val="070707"/>
                </a:solidFill>
                <a:latin typeface="Inter" pitchFamily="34" charset="0"/>
                <a:ea typeface="Aptos" pitchFamily="34" charset="-122"/>
                <a:cs typeface="Aptos" pitchFamily="34" charset="-120"/>
              </a:rPr>
              <a:t>TỰ DO</a:t>
            </a:r>
            <a:endParaRPr lang="en-US" sz="1400" dirty="0"/>
          </a:p>
        </p:txBody>
      </p:sp>
      <p:sp>
        <p:nvSpPr>
          <p:cNvPr id="16" name="Text 14"/>
          <p:cNvSpPr/>
          <p:nvPr/>
        </p:nvSpPr>
        <p:spPr>
          <a:xfrm>
            <a:off x="6583680" y="5166360"/>
            <a:ext cx="4297680" cy="594360"/>
          </a:xfrm>
          <a:prstGeom prst="rect">
            <a:avLst/>
          </a:prstGeom>
          <a:noFill/>
          <a:ln/>
        </p:spPr>
        <p:txBody>
          <a:bodyPr wrap="square" lIns="381" tIns="381" rIns="381" bIns="381" rtlCol="0" anchor="ctr">
            <a:normAutofit/>
          </a:bodyPr>
          <a:lstStyle/>
          <a:p>
            <a:pPr marL="0" indent="0" algn="l">
              <a:buNone/>
            </a:pPr>
            <a:r>
              <a:rPr lang="en-US" sz="1220" b="1" dirty="0">
                <a:solidFill>
                  <a:srgbClr val="071521"/>
                </a:solidFill>
                <a:latin typeface="Inter" pitchFamily="34" charset="0"/>
                <a:ea typeface="Aptos" pitchFamily="34" charset="-122"/>
                <a:cs typeface="Aptos" pitchFamily="34" charset="-120"/>
              </a:rPr>
              <a:t>TERRITORY: Quy luật vận hành của tiền bạc, tài sản và cuộc sống.</a:t>
            </a:r>
            <a:endParaRPr lang="en-US" sz="1220" dirty="0"/>
          </a:p>
        </p:txBody>
      </p:sp>
      <p:sp>
        <p:nvSpPr>
          <p:cNvPr id="17" name="Text 15"/>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18" name="Text 16"/>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1"/>
          </a:solidFill>
          <a:ln w="12700">
            <a:solidFill>
              <a:srgbClr val="071521">
                <a:alpha val="0"/>
              </a:srgbClr>
            </a:solidFill>
            <a:prstDash val="solid"/>
          </a:ln>
        </p:spPr>
        <p:txBody>
          <a:bodyPr/>
          <a:lstStyle/>
          <a:p>
            <a:endParaRPr/>
          </a:p>
        </p:txBody>
      </p:sp>
      <p:sp>
        <p:nvSpPr>
          <p:cNvPr id="3" name="Text 1"/>
          <p:cNvSpPr/>
          <p:nvPr/>
        </p:nvSpPr>
        <p:spPr>
          <a:xfrm>
            <a:off x="731520" y="685800"/>
            <a:ext cx="1097280" cy="640080"/>
          </a:xfrm>
          <a:prstGeom prst="rect">
            <a:avLst/>
          </a:prstGeom>
          <a:noFill/>
          <a:ln/>
        </p:spPr>
        <p:txBody>
          <a:bodyPr wrap="square" lIns="381" tIns="381" rIns="381" bIns="381" rtlCol="0" anchor="ctr">
            <a:normAutofit/>
          </a:bodyPr>
          <a:lstStyle/>
          <a:p>
            <a:pPr marL="0" indent="0" algn="l">
              <a:buNone/>
            </a:pPr>
            <a:r>
              <a:rPr lang="en-US" sz="3400" b="1" dirty="0">
                <a:solidFill>
                  <a:srgbClr val="D4A83F"/>
                </a:solidFill>
                <a:latin typeface="SVN-Georgia" pitchFamily="34" charset="0"/>
                <a:ea typeface="SVN-Georgia" pitchFamily="34" charset="-122"/>
                <a:cs typeface="SVN-Georgia" pitchFamily="34" charset="-120"/>
              </a:rPr>
              <a:t>02</a:t>
            </a:r>
            <a:endParaRPr lang="en-US" sz="3400" dirty="0"/>
          </a:p>
        </p:txBody>
      </p:sp>
      <p:sp>
        <p:nvSpPr>
          <p:cNvPr id="4" name="Text 2"/>
          <p:cNvSpPr/>
          <p:nvPr/>
        </p:nvSpPr>
        <p:spPr>
          <a:xfrm>
            <a:off x="731520" y="1828800"/>
            <a:ext cx="6858000" cy="822960"/>
          </a:xfrm>
          <a:prstGeom prst="rect">
            <a:avLst/>
          </a:prstGeom>
          <a:noFill/>
          <a:ln/>
        </p:spPr>
        <p:txBody>
          <a:bodyPr wrap="square" lIns="381" tIns="381" rIns="381" bIns="381" rtlCol="0" anchor="ctr">
            <a:normAutofit/>
          </a:bodyPr>
          <a:lstStyle/>
          <a:p>
            <a:pPr marL="0" indent="0" algn="l">
              <a:buNone/>
            </a:pPr>
            <a:r>
              <a:rPr lang="en-US" sz="3000" b="1" dirty="0">
                <a:solidFill>
                  <a:srgbClr val="FFFFFF"/>
                </a:solidFill>
                <a:latin typeface="SVN-Georgia" pitchFamily="34" charset="0"/>
                <a:ea typeface="Aptos Display" pitchFamily="34" charset="-122"/>
                <a:cs typeface="Aptos Display" pitchFamily="34" charset="-120"/>
              </a:rPr>
              <a:t>BRAND KEY &amp; POSITIONING</a:t>
            </a:r>
            <a:endParaRPr lang="en-US" sz="3000" dirty="0"/>
          </a:p>
        </p:txBody>
      </p:sp>
      <p:sp>
        <p:nvSpPr>
          <p:cNvPr id="5" name="Text 3"/>
          <p:cNvSpPr/>
          <p:nvPr/>
        </p:nvSpPr>
        <p:spPr>
          <a:xfrm>
            <a:off x="777240" y="2743200"/>
            <a:ext cx="6583680" cy="640080"/>
          </a:xfrm>
          <a:prstGeom prst="rect">
            <a:avLst/>
          </a:prstGeom>
          <a:noFill/>
          <a:ln/>
        </p:spPr>
        <p:txBody>
          <a:bodyPr wrap="square" lIns="381" tIns="381" rIns="381" bIns="381" rtlCol="0" anchor="ctr">
            <a:normAutofit/>
          </a:bodyPr>
          <a:lstStyle/>
          <a:p>
            <a:pPr marL="0" indent="0" algn="l">
              <a:buNone/>
            </a:pPr>
            <a:r>
              <a:rPr lang="en-US" sz="1400" dirty="0">
                <a:solidFill>
                  <a:srgbClr val="E8CF8B"/>
                </a:solidFill>
                <a:latin typeface="Inter" pitchFamily="34" charset="0"/>
                <a:ea typeface="Aptos" pitchFamily="34" charset="-122"/>
                <a:cs typeface="Aptos" pitchFamily="34" charset="-120"/>
              </a:rPr>
              <a:t>Chân dung khách hàng, insight, lợi ích, niềm tin và khác biệt của Moneyfest.</a:t>
            </a:r>
            <a:endParaRPr lang="en-US" sz="1400" dirty="0"/>
          </a:p>
        </p:txBody>
      </p:sp>
      <p:sp>
        <p:nvSpPr>
          <p:cNvPr id="7" name="Text 4"/>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8" name="Text 5"/>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pic>
        <p:nvPicPr>
          <p:cNvPr id="9" name="Picture 8" descr="moneyfest_logo_gold_transparent.png"/>
          <p:cNvPicPr>
            <a:picLocks noChangeAspect="1"/>
          </p:cNvPicPr>
          <p:nvPr/>
        </p:nvPicPr>
        <p:blipFill>
          <a:blip r:embed="rId3"/>
          <a:stretch>
            <a:fillRect/>
          </a:stretch>
        </p:blipFill>
        <p:spPr>
          <a:xfrm>
            <a:off x="8915400" y="1801405"/>
            <a:ext cx="2331720" cy="16092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02 Brand Key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08</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TARGET CUSTOMER</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Khách hàng trọng tâm</a:t>
            </a:r>
            <a:endParaRPr lang="en-US" sz="2300" dirty="0"/>
          </a:p>
        </p:txBody>
      </p:sp>
      <p:sp>
        <p:nvSpPr>
          <p:cNvPr id="8" name="Shape 6"/>
          <p:cNvSpPr/>
          <p:nvPr/>
        </p:nvSpPr>
        <p:spPr>
          <a:xfrm>
            <a:off x="731520" y="1828800"/>
            <a:ext cx="3218688" cy="3520440"/>
          </a:xfrm>
          <a:prstGeom prst="rect">
            <a:avLst/>
          </a:prstGeom>
          <a:solidFill>
            <a:srgbClr val="FFFFFF"/>
          </a:solidFill>
          <a:ln w="7620">
            <a:solidFill>
              <a:srgbClr val="D7D7D7"/>
            </a:solidFill>
            <a:prstDash val="solid"/>
          </a:ln>
        </p:spPr>
        <p:txBody>
          <a:bodyPr/>
          <a:lstStyle/>
          <a:p>
            <a:endParaRPr/>
          </a:p>
        </p:txBody>
      </p:sp>
      <p:sp>
        <p:nvSpPr>
          <p:cNvPr id="9" name="Text 7"/>
          <p:cNvSpPr/>
          <p:nvPr/>
        </p:nvSpPr>
        <p:spPr>
          <a:xfrm>
            <a:off x="960120" y="2057400"/>
            <a:ext cx="2743200" cy="292608"/>
          </a:xfrm>
          <a:prstGeom prst="rect">
            <a:avLst/>
          </a:prstGeom>
          <a:noFill/>
          <a:ln/>
        </p:spPr>
        <p:txBody>
          <a:bodyPr wrap="square" lIns="381" tIns="381" rIns="381" bIns="381" rtlCol="0" anchor="ctr">
            <a:normAutofit/>
          </a:bodyPr>
          <a:lstStyle/>
          <a:p>
            <a:pPr marL="0" indent="0" algn="l">
              <a:buNone/>
            </a:pPr>
            <a:r>
              <a:rPr lang="en-US" sz="1400" b="1" dirty="0">
                <a:solidFill>
                  <a:srgbClr val="D4A83F"/>
                </a:solidFill>
                <a:latin typeface="Inter" pitchFamily="34" charset="0"/>
                <a:ea typeface="Aptos" pitchFamily="34" charset="-122"/>
                <a:cs typeface="Aptos" pitchFamily="34" charset="-120"/>
              </a:rPr>
              <a:t>Demographics</a:t>
            </a:r>
            <a:endParaRPr lang="en-US" sz="1400" dirty="0"/>
          </a:p>
        </p:txBody>
      </p:sp>
      <p:sp>
        <p:nvSpPr>
          <p:cNvPr id="10" name="Text 8"/>
          <p:cNvSpPr/>
          <p:nvPr/>
        </p:nvSpPr>
        <p:spPr>
          <a:xfrm>
            <a:off x="960120" y="2560320"/>
            <a:ext cx="2743200" cy="2057400"/>
          </a:xfrm>
          <a:prstGeom prst="rect">
            <a:avLst/>
          </a:prstGeom>
          <a:noFill/>
          <a:ln/>
        </p:spPr>
        <p:txBody>
          <a:bodyPr wrap="square" lIns="635" tIns="635" rIns="635" bIns="635" rtlCol="0" anchor="ctr">
            <a:normAutofit/>
          </a:bodyPr>
          <a:lstStyle/>
          <a:p>
            <a:pPr marL="0" indent="0">
              <a:buNone/>
            </a:pPr>
            <a:r>
              <a:rPr lang="en-US" sz="1110" dirty="0">
                <a:solidFill>
                  <a:srgbClr val="070707"/>
                </a:solidFill>
                <a:latin typeface="Inter" pitchFamily="34" charset="0"/>
                <a:ea typeface="Aptos" pitchFamily="34" charset="-122"/>
                <a:cs typeface="Aptos" pitchFamily="34" charset="-120"/>
              </a:rPr>
              <a:t>• 30–45 </a:t>
            </a:r>
            <a:r>
              <a:rPr lang="en-US" sz="1110" dirty="0" err="1" smtClean="0">
                <a:solidFill>
                  <a:srgbClr val="070707"/>
                </a:solidFill>
                <a:latin typeface="Inter" pitchFamily="34" charset="0"/>
                <a:ea typeface="Aptos" pitchFamily="34" charset="-122"/>
                <a:cs typeface="Aptos" pitchFamily="34" charset="-120"/>
              </a:rPr>
              <a:t>tuổi</a:t>
            </a:r>
            <a:endParaRPr lang="en-US" sz="1110" dirty="0" smtClean="0">
              <a:solidFill>
                <a:srgbClr val="070707"/>
              </a:solidFill>
              <a:latin typeface="Inter" pitchFamily="34" charset="0"/>
              <a:ea typeface="Aptos" pitchFamily="34" charset="-122"/>
              <a:cs typeface="Aptos" pitchFamily="34" charset="-120"/>
            </a:endParaRP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Thu nhập </a:t>
            </a:r>
            <a:r>
              <a:rPr lang="en-US" sz="1110" dirty="0" err="1">
                <a:solidFill>
                  <a:srgbClr val="070707"/>
                </a:solidFill>
                <a:latin typeface="Inter" pitchFamily="34" charset="0"/>
                <a:ea typeface="Aptos" pitchFamily="34" charset="-122"/>
                <a:cs typeface="Aptos" pitchFamily="34" charset="-120"/>
              </a:rPr>
              <a:t>ổn</a:t>
            </a:r>
            <a:r>
              <a:rPr lang="en-US" sz="1110" dirty="0">
                <a:solidFill>
                  <a:srgbClr val="070707"/>
                </a:solidFill>
                <a:latin typeface="Inter" pitchFamily="34" charset="0"/>
                <a:ea typeface="Aptos" pitchFamily="34" charset="-122"/>
                <a:cs typeface="Aptos" pitchFamily="34" charset="-120"/>
              </a:rPr>
              <a:t> </a:t>
            </a:r>
            <a:r>
              <a:rPr lang="en-US" sz="1110" dirty="0" err="1" smtClean="0">
                <a:solidFill>
                  <a:srgbClr val="070707"/>
                </a:solidFill>
                <a:latin typeface="Inter" pitchFamily="34" charset="0"/>
                <a:ea typeface="Aptos" pitchFamily="34" charset="-122"/>
                <a:cs typeface="Aptos" pitchFamily="34" charset="-120"/>
              </a:rPr>
              <a:t>định</a:t>
            </a:r>
            <a:endParaRPr lang="en-US" sz="1110" dirty="0" smtClean="0">
              <a:solidFill>
                <a:srgbClr val="070707"/>
              </a:solidFill>
              <a:latin typeface="Inter" pitchFamily="34" charset="0"/>
              <a:ea typeface="Aptos" pitchFamily="34" charset="-122"/>
              <a:cs typeface="Aptos" pitchFamily="34" charset="-120"/>
            </a:endParaRP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Có tiền </a:t>
            </a:r>
            <a:r>
              <a:rPr lang="en-US" sz="1110" dirty="0" err="1">
                <a:solidFill>
                  <a:srgbClr val="070707"/>
                </a:solidFill>
                <a:latin typeface="Inter" pitchFamily="34" charset="0"/>
                <a:ea typeface="Aptos" pitchFamily="34" charset="-122"/>
                <a:cs typeface="Aptos" pitchFamily="34" charset="-120"/>
              </a:rPr>
              <a:t>nhàn</a:t>
            </a:r>
            <a:r>
              <a:rPr lang="en-US" sz="1110" dirty="0">
                <a:solidFill>
                  <a:srgbClr val="070707"/>
                </a:solidFill>
                <a:latin typeface="Inter" pitchFamily="34" charset="0"/>
                <a:ea typeface="Aptos" pitchFamily="34" charset="-122"/>
                <a:cs typeface="Aptos" pitchFamily="34" charset="-120"/>
              </a:rPr>
              <a:t> </a:t>
            </a:r>
            <a:r>
              <a:rPr lang="en-US" sz="1110" dirty="0" err="1" smtClean="0">
                <a:solidFill>
                  <a:srgbClr val="070707"/>
                </a:solidFill>
                <a:latin typeface="Inter" pitchFamily="34" charset="0"/>
                <a:ea typeface="Aptos" pitchFamily="34" charset="-122"/>
                <a:cs typeface="Aptos" pitchFamily="34" charset="-120"/>
              </a:rPr>
              <a:t>rỗi</a:t>
            </a:r>
            <a:endParaRPr lang="en-US" sz="1110" dirty="0" smtClean="0">
              <a:solidFill>
                <a:srgbClr val="070707"/>
              </a:solidFill>
              <a:latin typeface="Inter" pitchFamily="34" charset="0"/>
              <a:ea typeface="Aptos" pitchFamily="34" charset="-122"/>
              <a:cs typeface="Aptos" pitchFamily="34" charset="-120"/>
            </a:endParaRP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Gia đình </a:t>
            </a:r>
            <a:r>
              <a:rPr lang="en-US" sz="1110" dirty="0" err="1">
                <a:solidFill>
                  <a:srgbClr val="070707"/>
                </a:solidFill>
                <a:latin typeface="Inter" pitchFamily="34" charset="0"/>
                <a:ea typeface="Aptos" pitchFamily="34" charset="-122"/>
                <a:cs typeface="Aptos" pitchFamily="34" charset="-120"/>
              </a:rPr>
              <a:t>trẻ</a:t>
            </a:r>
            <a:r>
              <a:rPr lang="en-US" sz="1110" dirty="0">
                <a:solidFill>
                  <a:srgbClr val="070707"/>
                </a:solidFill>
                <a:latin typeface="Inter" pitchFamily="34" charset="0"/>
                <a:ea typeface="Aptos" pitchFamily="34" charset="-122"/>
                <a:cs typeface="Aptos" pitchFamily="34" charset="-120"/>
              </a:rPr>
              <a:t> </a:t>
            </a:r>
            <a:endParaRPr lang="en-US" sz="1110" dirty="0">
              <a:solidFill>
                <a:srgbClr val="070707"/>
              </a:solidFill>
              <a:latin typeface="Inter" pitchFamily="34" charset="0"/>
              <a:ea typeface="Aptos" pitchFamily="34" charset="-122"/>
              <a:cs typeface="Aptos" pitchFamily="34" charset="-120"/>
            </a:endParaRPr>
          </a:p>
          <a:p>
            <a:r>
              <a:rPr lang="en-US" sz="1110" dirty="0">
                <a:solidFill>
                  <a:srgbClr val="070707"/>
                </a:solidFill>
                <a:latin typeface="Inter" pitchFamily="34" charset="0"/>
                <a:ea typeface="Aptos" pitchFamily="34" charset="-122"/>
                <a:cs typeface="Aptos" pitchFamily="34" charset="-120"/>
              </a:rPr>
              <a:t>• </a:t>
            </a:r>
            <a:r>
              <a:rPr lang="en-US" sz="1110" dirty="0" err="1" smtClean="0">
                <a:solidFill>
                  <a:srgbClr val="070707"/>
                </a:solidFill>
                <a:latin typeface="Inter" pitchFamily="34" charset="0"/>
                <a:ea typeface="Aptos" pitchFamily="34" charset="-122"/>
                <a:cs typeface="Aptos" pitchFamily="34" charset="-120"/>
              </a:rPr>
              <a:t>Chủ</a:t>
            </a:r>
            <a:r>
              <a:rPr lang="en-US" sz="1110" dirty="0" smtClean="0">
                <a:solidFill>
                  <a:srgbClr val="070707"/>
                </a:solidFill>
                <a:latin typeface="Inter" pitchFamily="34" charset="0"/>
                <a:ea typeface="Aptos" pitchFamily="34" charset="-122"/>
                <a:cs typeface="Aptos" pitchFamily="34" charset="-120"/>
              </a:rPr>
              <a:t> </a:t>
            </a:r>
            <a:r>
              <a:rPr lang="en-US" sz="1110" dirty="0" smtClean="0">
                <a:solidFill>
                  <a:srgbClr val="070707"/>
                </a:solidFill>
                <a:latin typeface="Inter" pitchFamily="34" charset="0"/>
                <a:ea typeface="Aptos" pitchFamily="34" charset="-122"/>
                <a:cs typeface="Aptos" pitchFamily="34" charset="-120"/>
              </a:rPr>
              <a:t>SME</a:t>
            </a:r>
          </a:p>
          <a:p>
            <a:r>
              <a:rPr lang="en-US" sz="1110" dirty="0">
                <a:solidFill>
                  <a:srgbClr val="070707"/>
                </a:solidFill>
                <a:latin typeface="Inter" pitchFamily="34" charset="0"/>
                <a:ea typeface="Aptos" pitchFamily="34" charset="-122"/>
                <a:cs typeface="Aptos" pitchFamily="34" charset="-120"/>
              </a:rPr>
              <a:t>• </a:t>
            </a:r>
            <a:r>
              <a:rPr lang="en-US" sz="1110" dirty="0" err="1" smtClean="0">
                <a:solidFill>
                  <a:srgbClr val="070707"/>
                </a:solidFill>
                <a:latin typeface="Inter" pitchFamily="34" charset="0"/>
                <a:ea typeface="Aptos" pitchFamily="34" charset="-122"/>
                <a:cs typeface="Aptos" pitchFamily="34" charset="-120"/>
              </a:rPr>
              <a:t>Nhà</a:t>
            </a: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đầu tư cá nhân</a:t>
            </a:r>
            <a:endParaRPr lang="en-US" sz="1110" dirty="0"/>
          </a:p>
        </p:txBody>
      </p:sp>
      <p:sp>
        <p:nvSpPr>
          <p:cNvPr id="11" name="Shape 9"/>
          <p:cNvSpPr/>
          <p:nvPr/>
        </p:nvSpPr>
        <p:spPr>
          <a:xfrm>
            <a:off x="4498848" y="1828800"/>
            <a:ext cx="3218688" cy="3520440"/>
          </a:xfrm>
          <a:prstGeom prst="rect">
            <a:avLst/>
          </a:prstGeom>
          <a:solidFill>
            <a:srgbClr val="F4F0E8"/>
          </a:solidFill>
          <a:ln w="7620">
            <a:solidFill>
              <a:srgbClr val="D7D7D7"/>
            </a:solidFill>
            <a:prstDash val="solid"/>
          </a:ln>
        </p:spPr>
        <p:txBody>
          <a:bodyPr/>
          <a:lstStyle/>
          <a:p>
            <a:endParaRPr/>
          </a:p>
        </p:txBody>
      </p:sp>
      <p:sp>
        <p:nvSpPr>
          <p:cNvPr id="12" name="Text 10"/>
          <p:cNvSpPr/>
          <p:nvPr/>
        </p:nvSpPr>
        <p:spPr>
          <a:xfrm>
            <a:off x="4727448" y="2057400"/>
            <a:ext cx="2743200" cy="292608"/>
          </a:xfrm>
          <a:prstGeom prst="rect">
            <a:avLst/>
          </a:prstGeom>
          <a:noFill/>
          <a:ln/>
        </p:spPr>
        <p:txBody>
          <a:bodyPr wrap="square" lIns="381" tIns="381" rIns="381" bIns="381" rtlCol="0" anchor="ctr">
            <a:normAutofit/>
          </a:bodyPr>
          <a:lstStyle/>
          <a:p>
            <a:pPr marL="0" indent="0" algn="l">
              <a:buNone/>
            </a:pPr>
            <a:r>
              <a:rPr lang="en-US" sz="1400" b="1" dirty="0">
                <a:solidFill>
                  <a:srgbClr val="D4A83F"/>
                </a:solidFill>
                <a:latin typeface="Inter" pitchFamily="34" charset="0"/>
                <a:ea typeface="Aptos" pitchFamily="34" charset="-122"/>
                <a:cs typeface="Aptos" pitchFamily="34" charset="-120"/>
              </a:rPr>
              <a:t>Psychographics</a:t>
            </a:r>
            <a:endParaRPr lang="en-US" sz="1400" dirty="0"/>
          </a:p>
        </p:txBody>
      </p:sp>
      <p:sp>
        <p:nvSpPr>
          <p:cNvPr id="13" name="Text 11"/>
          <p:cNvSpPr/>
          <p:nvPr/>
        </p:nvSpPr>
        <p:spPr>
          <a:xfrm>
            <a:off x="4727448" y="2560320"/>
            <a:ext cx="2743200" cy="2057400"/>
          </a:xfrm>
          <a:prstGeom prst="rect">
            <a:avLst/>
          </a:prstGeom>
          <a:noFill/>
          <a:ln/>
        </p:spPr>
        <p:txBody>
          <a:bodyPr wrap="square" lIns="635" tIns="635" rIns="635" bIns="635" rtlCol="0" anchor="ctr">
            <a:normAutofit/>
          </a:bodyPr>
          <a:lstStyle/>
          <a:p>
            <a:pPr marL="0" indent="0">
              <a:buNone/>
            </a:pPr>
            <a:r>
              <a:rPr lang="en-US" sz="1110" dirty="0">
                <a:solidFill>
                  <a:srgbClr val="070707"/>
                </a:solidFill>
                <a:latin typeface="Inter" pitchFamily="34" charset="0"/>
                <a:ea typeface="Aptos" pitchFamily="34" charset="-122"/>
                <a:cs typeface="Aptos" pitchFamily="34" charset="-120"/>
              </a:rPr>
              <a:t>• Muốn tự </a:t>
            </a:r>
            <a:r>
              <a:rPr lang="en-US" sz="1110" dirty="0" err="1">
                <a:solidFill>
                  <a:srgbClr val="070707"/>
                </a:solidFill>
                <a:latin typeface="Inter" pitchFamily="34" charset="0"/>
                <a:ea typeface="Aptos" pitchFamily="34" charset="-122"/>
                <a:cs typeface="Aptos" pitchFamily="34" charset="-120"/>
              </a:rPr>
              <a:t>chủ</a:t>
            </a:r>
            <a:r>
              <a:rPr lang="en-US" sz="1110" dirty="0">
                <a:solidFill>
                  <a:srgbClr val="070707"/>
                </a:solidFill>
                <a:latin typeface="Inter" pitchFamily="34" charset="0"/>
                <a:ea typeface="Aptos" pitchFamily="34" charset="-122"/>
                <a:cs typeface="Aptos" pitchFamily="34" charset="-120"/>
              </a:rPr>
              <a:t> </a:t>
            </a:r>
            <a:r>
              <a:rPr lang="en-US" sz="1110" dirty="0" err="1" smtClean="0">
                <a:solidFill>
                  <a:srgbClr val="070707"/>
                </a:solidFill>
                <a:latin typeface="Inter" pitchFamily="34" charset="0"/>
                <a:ea typeface="Aptos" pitchFamily="34" charset="-122"/>
                <a:cs typeface="Aptos" pitchFamily="34" charset="-120"/>
              </a:rPr>
              <a:t>hơn</a:t>
            </a:r>
            <a:endParaRPr lang="en-US" sz="1110" dirty="0" smtClean="0">
              <a:solidFill>
                <a:srgbClr val="070707"/>
              </a:solidFill>
              <a:latin typeface="Inter" pitchFamily="34" charset="0"/>
              <a:ea typeface="Aptos" pitchFamily="34" charset="-122"/>
              <a:cs typeface="Aptos" pitchFamily="34" charset="-120"/>
            </a:endParaRP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Không tìm làm </a:t>
            </a:r>
            <a:r>
              <a:rPr lang="en-US" sz="1110" dirty="0" err="1">
                <a:solidFill>
                  <a:srgbClr val="070707"/>
                </a:solidFill>
                <a:latin typeface="Inter" pitchFamily="34" charset="0"/>
                <a:ea typeface="Aptos" pitchFamily="34" charset="-122"/>
                <a:cs typeface="Aptos" pitchFamily="34" charset="-120"/>
              </a:rPr>
              <a:t>giàu</a:t>
            </a:r>
            <a:r>
              <a:rPr lang="en-US" sz="1110" dirty="0">
                <a:solidFill>
                  <a:srgbClr val="070707"/>
                </a:solidFill>
                <a:latin typeface="Inter" pitchFamily="34" charset="0"/>
                <a:ea typeface="Aptos" pitchFamily="34" charset="-122"/>
                <a:cs typeface="Aptos" pitchFamily="34" charset="-120"/>
              </a:rPr>
              <a:t> </a:t>
            </a:r>
            <a:r>
              <a:rPr lang="en-US" sz="1110" dirty="0" err="1" smtClean="0">
                <a:solidFill>
                  <a:srgbClr val="070707"/>
                </a:solidFill>
                <a:latin typeface="Inter" pitchFamily="34" charset="0"/>
                <a:ea typeface="Aptos" pitchFamily="34" charset="-122"/>
                <a:cs typeface="Aptos" pitchFamily="34" charset="-120"/>
              </a:rPr>
              <a:t>nhanh</a:t>
            </a:r>
            <a:endParaRPr lang="en-US" sz="1110" dirty="0" smtClean="0">
              <a:solidFill>
                <a:srgbClr val="070707"/>
              </a:solidFill>
              <a:latin typeface="Inter" pitchFamily="34" charset="0"/>
              <a:ea typeface="Aptos" pitchFamily="34" charset="-122"/>
              <a:cs typeface="Aptos" pitchFamily="34" charset="-120"/>
            </a:endParaRP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Quan tâm tài sản, gia đình, </a:t>
            </a:r>
            <a:r>
              <a:rPr lang="en-US" sz="1110" dirty="0" err="1">
                <a:solidFill>
                  <a:srgbClr val="070707"/>
                </a:solidFill>
                <a:latin typeface="Inter" pitchFamily="34" charset="0"/>
                <a:ea typeface="Aptos" pitchFamily="34" charset="-122"/>
                <a:cs typeface="Aptos" pitchFamily="34" charset="-120"/>
              </a:rPr>
              <a:t>tương</a:t>
            </a:r>
            <a:r>
              <a:rPr lang="en-US" sz="1110" dirty="0">
                <a:solidFill>
                  <a:srgbClr val="070707"/>
                </a:solidFill>
                <a:latin typeface="Inter" pitchFamily="34" charset="0"/>
                <a:ea typeface="Aptos" pitchFamily="34" charset="-122"/>
                <a:cs typeface="Aptos" pitchFamily="34" charset="-120"/>
              </a:rPr>
              <a:t> </a:t>
            </a:r>
            <a:r>
              <a:rPr lang="en-US" sz="1110" dirty="0" err="1" smtClean="0">
                <a:solidFill>
                  <a:srgbClr val="070707"/>
                </a:solidFill>
                <a:latin typeface="Inter" pitchFamily="34" charset="0"/>
                <a:ea typeface="Aptos" pitchFamily="34" charset="-122"/>
                <a:cs typeface="Aptos" pitchFamily="34" charset="-120"/>
              </a:rPr>
              <a:t>lai</a:t>
            </a:r>
            <a:endParaRPr lang="en-US" sz="1110" dirty="0" smtClean="0">
              <a:solidFill>
                <a:srgbClr val="070707"/>
              </a:solidFill>
              <a:latin typeface="Inter" pitchFamily="34" charset="0"/>
              <a:ea typeface="Aptos" pitchFamily="34" charset="-122"/>
              <a:cs typeface="Aptos" pitchFamily="34" charset="-120"/>
            </a:endParaRP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Thích logic, dữ liệu, framework</a:t>
            </a:r>
            <a:endParaRPr lang="en-US" sz="1110" dirty="0"/>
          </a:p>
        </p:txBody>
      </p:sp>
      <p:sp>
        <p:nvSpPr>
          <p:cNvPr id="14" name="Shape 12"/>
          <p:cNvSpPr/>
          <p:nvPr/>
        </p:nvSpPr>
        <p:spPr>
          <a:xfrm>
            <a:off x="8266176" y="1828800"/>
            <a:ext cx="3218688" cy="3520440"/>
          </a:xfrm>
          <a:prstGeom prst="rect">
            <a:avLst/>
          </a:prstGeom>
          <a:solidFill>
            <a:srgbClr val="FFFFFF"/>
          </a:solidFill>
          <a:ln w="7620">
            <a:solidFill>
              <a:srgbClr val="D7D7D7"/>
            </a:solidFill>
            <a:prstDash val="solid"/>
          </a:ln>
        </p:spPr>
        <p:txBody>
          <a:bodyPr/>
          <a:lstStyle/>
          <a:p>
            <a:endParaRPr/>
          </a:p>
        </p:txBody>
      </p:sp>
      <p:sp>
        <p:nvSpPr>
          <p:cNvPr id="15" name="Text 13"/>
          <p:cNvSpPr/>
          <p:nvPr/>
        </p:nvSpPr>
        <p:spPr>
          <a:xfrm>
            <a:off x="8494776" y="2057400"/>
            <a:ext cx="2743200" cy="292608"/>
          </a:xfrm>
          <a:prstGeom prst="rect">
            <a:avLst/>
          </a:prstGeom>
          <a:noFill/>
          <a:ln/>
        </p:spPr>
        <p:txBody>
          <a:bodyPr wrap="square" lIns="381" tIns="381" rIns="381" bIns="381" rtlCol="0" anchor="ctr">
            <a:normAutofit/>
          </a:bodyPr>
          <a:lstStyle/>
          <a:p>
            <a:pPr marL="0" indent="0" algn="l">
              <a:buNone/>
            </a:pPr>
            <a:r>
              <a:rPr lang="en-US" sz="1400" b="1" dirty="0">
                <a:solidFill>
                  <a:srgbClr val="D4A83F"/>
                </a:solidFill>
                <a:latin typeface="Inter" pitchFamily="34" charset="0"/>
                <a:ea typeface="Aptos" pitchFamily="34" charset="-122"/>
                <a:cs typeface="Aptos" pitchFamily="34" charset="-120"/>
              </a:rPr>
              <a:t>Needs</a:t>
            </a:r>
            <a:endParaRPr lang="en-US" sz="1400" dirty="0"/>
          </a:p>
        </p:txBody>
      </p:sp>
      <p:sp>
        <p:nvSpPr>
          <p:cNvPr id="16" name="Text 14"/>
          <p:cNvSpPr/>
          <p:nvPr/>
        </p:nvSpPr>
        <p:spPr>
          <a:xfrm>
            <a:off x="8494776" y="2560320"/>
            <a:ext cx="2743200" cy="2057400"/>
          </a:xfrm>
          <a:prstGeom prst="rect">
            <a:avLst/>
          </a:prstGeom>
          <a:noFill/>
          <a:ln/>
        </p:spPr>
        <p:txBody>
          <a:bodyPr wrap="square" lIns="635" tIns="635" rIns="635" bIns="635" rtlCol="0" anchor="ctr">
            <a:normAutofit/>
          </a:bodyPr>
          <a:lstStyle/>
          <a:p>
            <a:pPr marL="0" indent="0">
              <a:buNone/>
            </a:pPr>
            <a:r>
              <a:rPr lang="en-US" sz="1110" dirty="0">
                <a:solidFill>
                  <a:srgbClr val="070707"/>
                </a:solidFill>
                <a:latin typeface="Inter" pitchFamily="34" charset="0"/>
                <a:ea typeface="Aptos" pitchFamily="34" charset="-122"/>
                <a:cs typeface="Aptos" pitchFamily="34" charset="-120"/>
              </a:rPr>
              <a:t>• Phân bổ tiền </a:t>
            </a:r>
            <a:r>
              <a:rPr lang="en-US" sz="1110" dirty="0" err="1">
                <a:solidFill>
                  <a:srgbClr val="070707"/>
                </a:solidFill>
                <a:latin typeface="Inter" pitchFamily="34" charset="0"/>
                <a:ea typeface="Aptos" pitchFamily="34" charset="-122"/>
                <a:cs typeface="Aptos" pitchFamily="34" charset="-120"/>
              </a:rPr>
              <a:t>nhàn</a:t>
            </a:r>
            <a:r>
              <a:rPr lang="en-US" sz="1110" dirty="0">
                <a:solidFill>
                  <a:srgbClr val="070707"/>
                </a:solidFill>
                <a:latin typeface="Inter" pitchFamily="34" charset="0"/>
                <a:ea typeface="Aptos" pitchFamily="34" charset="-122"/>
                <a:cs typeface="Aptos" pitchFamily="34" charset="-120"/>
              </a:rPr>
              <a:t> </a:t>
            </a:r>
            <a:r>
              <a:rPr lang="en-US" sz="1110" dirty="0" err="1" smtClean="0">
                <a:solidFill>
                  <a:srgbClr val="070707"/>
                </a:solidFill>
                <a:latin typeface="Inter" pitchFamily="34" charset="0"/>
                <a:ea typeface="Aptos" pitchFamily="34" charset="-122"/>
                <a:cs typeface="Aptos" pitchFamily="34" charset="-120"/>
              </a:rPr>
              <a:t>rỗi</a:t>
            </a:r>
            <a:endParaRPr lang="en-US" sz="1110" dirty="0" smtClean="0">
              <a:solidFill>
                <a:srgbClr val="070707"/>
              </a:solidFill>
              <a:latin typeface="Inter" pitchFamily="34" charset="0"/>
              <a:ea typeface="Aptos" pitchFamily="34" charset="-122"/>
              <a:cs typeface="Aptos" pitchFamily="34" charset="-120"/>
            </a:endParaRP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Bảo vệ tài chính </a:t>
            </a:r>
            <a:r>
              <a:rPr lang="en-US" sz="1110" dirty="0" err="1">
                <a:solidFill>
                  <a:srgbClr val="070707"/>
                </a:solidFill>
                <a:latin typeface="Inter" pitchFamily="34" charset="0"/>
                <a:ea typeface="Aptos" pitchFamily="34" charset="-122"/>
                <a:cs typeface="Aptos" pitchFamily="34" charset="-120"/>
              </a:rPr>
              <a:t>gia</a:t>
            </a:r>
            <a:r>
              <a:rPr lang="en-US" sz="1110" dirty="0">
                <a:solidFill>
                  <a:srgbClr val="070707"/>
                </a:solidFill>
                <a:latin typeface="Inter" pitchFamily="34" charset="0"/>
                <a:ea typeface="Aptos" pitchFamily="34" charset="-122"/>
                <a:cs typeface="Aptos" pitchFamily="34" charset="-120"/>
              </a:rPr>
              <a:t> </a:t>
            </a:r>
            <a:r>
              <a:rPr lang="en-US" sz="1110" dirty="0" err="1" smtClean="0">
                <a:solidFill>
                  <a:srgbClr val="070707"/>
                </a:solidFill>
                <a:latin typeface="Inter" pitchFamily="34" charset="0"/>
                <a:ea typeface="Aptos" pitchFamily="34" charset="-122"/>
                <a:cs typeface="Aptos" pitchFamily="34" charset="-120"/>
              </a:rPr>
              <a:t>đình</a:t>
            </a:r>
            <a:endParaRPr lang="en-US" sz="1110" dirty="0" smtClean="0">
              <a:solidFill>
                <a:srgbClr val="070707"/>
              </a:solidFill>
              <a:latin typeface="Inter" pitchFamily="34" charset="0"/>
              <a:ea typeface="Aptos" pitchFamily="34" charset="-122"/>
              <a:cs typeface="Aptos" pitchFamily="34" charset="-120"/>
            </a:endParaRP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So sánh sản phẩm </a:t>
            </a:r>
            <a:r>
              <a:rPr lang="en-US" sz="1110" dirty="0" err="1">
                <a:solidFill>
                  <a:srgbClr val="070707"/>
                </a:solidFill>
                <a:latin typeface="Inter" pitchFamily="34" charset="0"/>
                <a:ea typeface="Aptos" pitchFamily="34" charset="-122"/>
                <a:cs typeface="Aptos" pitchFamily="34" charset="-120"/>
              </a:rPr>
              <a:t>khách</a:t>
            </a:r>
            <a:r>
              <a:rPr lang="en-US" sz="1110" dirty="0">
                <a:solidFill>
                  <a:srgbClr val="070707"/>
                </a:solidFill>
                <a:latin typeface="Inter" pitchFamily="34" charset="0"/>
                <a:ea typeface="Aptos" pitchFamily="34" charset="-122"/>
                <a:cs typeface="Aptos" pitchFamily="34" charset="-120"/>
              </a:rPr>
              <a:t> </a:t>
            </a:r>
            <a:r>
              <a:rPr lang="en-US" sz="1110" dirty="0" err="1" smtClean="0">
                <a:solidFill>
                  <a:srgbClr val="070707"/>
                </a:solidFill>
                <a:latin typeface="Inter" pitchFamily="34" charset="0"/>
                <a:ea typeface="Aptos" pitchFamily="34" charset="-122"/>
                <a:cs typeface="Aptos" pitchFamily="34" charset="-120"/>
              </a:rPr>
              <a:t>quan</a:t>
            </a:r>
            <a:endParaRPr lang="en-US" sz="1110" dirty="0" smtClean="0">
              <a:solidFill>
                <a:srgbClr val="070707"/>
              </a:solidFill>
              <a:latin typeface="Inter" pitchFamily="34" charset="0"/>
              <a:ea typeface="Aptos" pitchFamily="34" charset="-122"/>
              <a:cs typeface="Aptos" pitchFamily="34" charset="-120"/>
            </a:endParaRP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Có người đồng hành đáng tin</a:t>
            </a:r>
            <a:endParaRPr lang="en-US" sz="1110" dirty="0"/>
          </a:p>
        </p:txBody>
      </p:sp>
      <p:sp>
        <p:nvSpPr>
          <p:cNvPr id="17" name="Text 15"/>
          <p:cNvSpPr/>
          <p:nvPr/>
        </p:nvSpPr>
        <p:spPr>
          <a:xfrm>
            <a:off x="777240" y="5623560"/>
            <a:ext cx="132588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Insight trung tâm</a:t>
            </a:r>
            <a:endParaRPr lang="en-US" sz="800" dirty="0"/>
          </a:p>
        </p:txBody>
      </p:sp>
      <p:sp>
        <p:nvSpPr>
          <p:cNvPr id="18" name="Text 16"/>
          <p:cNvSpPr/>
          <p:nvPr/>
        </p:nvSpPr>
        <p:spPr>
          <a:xfrm>
            <a:off x="2606040" y="5504688"/>
            <a:ext cx="8412480" cy="502920"/>
          </a:xfrm>
          <a:prstGeom prst="rect">
            <a:avLst/>
          </a:prstGeom>
          <a:noFill/>
          <a:ln/>
        </p:spPr>
        <p:txBody>
          <a:bodyPr wrap="square" lIns="381" tIns="381" rIns="381" bIns="381" rtlCol="0" anchor="ctr">
            <a:normAutofit/>
          </a:bodyPr>
          <a:lstStyle/>
          <a:p>
            <a:pPr marL="0" indent="0" algn="l">
              <a:buNone/>
            </a:pPr>
            <a:r>
              <a:rPr lang="en-US" sz="1200" b="1" dirty="0">
                <a:solidFill>
                  <a:srgbClr val="071521"/>
                </a:solidFill>
                <a:latin typeface="Inter" pitchFamily="34" charset="0"/>
                <a:ea typeface="SVN-Georgia" pitchFamily="34" charset="-122"/>
                <a:cs typeface="SVN-Georgia" pitchFamily="34" charset="-120"/>
              </a:rPr>
              <a:t>“Tôi không muốn chỉ có nhiều tiền hơn. Tôi muốn đủ hiểu biết, năng lực và nguồn lực để không bất lực trước những quyết định quan trọng của cuộc đời.”</a:t>
            </a:r>
            <a:endParaRPr lang="en-US" sz="1200" dirty="0"/>
          </a:p>
        </p:txBody>
      </p:sp>
      <p:sp>
        <p:nvSpPr>
          <p:cNvPr id="19" name="Text 17"/>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20" name="Text 18"/>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E8CF8B"/>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D7D7D7"/>
                </a:solidFill>
                <a:latin typeface="Inter" pitchFamily="34" charset="0"/>
                <a:ea typeface="Aptos" pitchFamily="34" charset="-122"/>
                <a:cs typeface="Aptos" pitchFamily="34" charset="-120"/>
              </a:rPr>
              <a:t>02 Brand Key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D4A83F"/>
                </a:solidFill>
                <a:latin typeface="Inter" pitchFamily="34" charset="0"/>
                <a:ea typeface="Aptos" pitchFamily="34" charset="-122"/>
                <a:cs typeface="Aptos" pitchFamily="34" charset="-120"/>
              </a:rPr>
              <a:t>09</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E8CF8B"/>
                </a:solidFill>
                <a:latin typeface="Inter" pitchFamily="34" charset="0"/>
                <a:ea typeface="Aptos" pitchFamily="34" charset="-122"/>
                <a:cs typeface="Aptos" pitchFamily="34" charset="-120"/>
              </a:rPr>
              <a:t>BRAND KEY</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FFFFFF"/>
                </a:solidFill>
                <a:latin typeface="SVN-Georgia" pitchFamily="34" charset="0"/>
                <a:ea typeface="Aptos Display" pitchFamily="34" charset="-122"/>
                <a:cs typeface="Aptos Display" pitchFamily="34" charset="-120"/>
              </a:rPr>
              <a:t>Hệ thống định vị chiến lược</a:t>
            </a:r>
            <a:endParaRPr lang="en-US" sz="2300" dirty="0"/>
          </a:p>
        </p:txBody>
      </p:sp>
      <p:sp>
        <p:nvSpPr>
          <p:cNvPr id="8" name="Text 6"/>
          <p:cNvSpPr/>
          <p:nvPr/>
        </p:nvSpPr>
        <p:spPr>
          <a:xfrm>
            <a:off x="822960" y="1828800"/>
            <a:ext cx="1828800" cy="329184"/>
          </a:xfrm>
          <a:prstGeom prst="rect">
            <a:avLst/>
          </a:prstGeom>
          <a:noFill/>
          <a:ln/>
        </p:spPr>
        <p:txBody>
          <a:bodyPr wrap="square" lIns="381" tIns="381" rIns="381" bIns="381" rtlCol="0" anchor="ctr">
            <a:normAutofit/>
          </a:bodyPr>
          <a:lstStyle/>
          <a:p>
            <a:pPr marL="0" indent="0" algn="l">
              <a:buNone/>
            </a:pPr>
            <a:r>
              <a:rPr lang="en-US" sz="1020" b="1" dirty="0">
                <a:solidFill>
                  <a:srgbClr val="D4A83F"/>
                </a:solidFill>
                <a:latin typeface="Inter" pitchFamily="34" charset="0"/>
                <a:ea typeface="Aptos" pitchFamily="34" charset="-122"/>
                <a:cs typeface="Aptos" pitchFamily="34" charset="-120"/>
              </a:rPr>
              <a:t>Root Strengths</a:t>
            </a:r>
            <a:endParaRPr lang="en-US" sz="1020" dirty="0"/>
          </a:p>
        </p:txBody>
      </p:sp>
      <p:sp>
        <p:nvSpPr>
          <p:cNvPr id="9" name="Text 7"/>
          <p:cNvSpPr/>
          <p:nvPr/>
        </p:nvSpPr>
        <p:spPr>
          <a:xfrm>
            <a:off x="3657600" y="1828800"/>
            <a:ext cx="7315200" cy="384048"/>
          </a:xfrm>
          <a:prstGeom prst="rect">
            <a:avLst/>
          </a:prstGeom>
          <a:noFill/>
          <a:ln/>
        </p:spPr>
        <p:txBody>
          <a:bodyPr wrap="square" lIns="381" tIns="381" rIns="381" bIns="381" rtlCol="0" anchor="ctr">
            <a:normAutofit/>
          </a:bodyPr>
          <a:lstStyle/>
          <a:p>
            <a:pPr marL="0" indent="0" algn="l">
              <a:buNone/>
            </a:pPr>
            <a:r>
              <a:rPr lang="en-US" sz="1020" dirty="0">
                <a:solidFill>
                  <a:srgbClr val="F4F0E8"/>
                </a:solidFill>
                <a:latin typeface="Inter" pitchFamily="34" charset="0"/>
                <a:ea typeface="Aptos" pitchFamily="34" charset="-122"/>
                <a:cs typeface="Aptos" pitchFamily="34" charset="-120"/>
              </a:rPr>
              <a:t>Kết nối tài chính, đầu tư, kinh doanh, tâm lý và công nghệ thành hệ tư duy dễ hiểu.</a:t>
            </a:r>
            <a:endParaRPr lang="en-US" sz="1020" dirty="0"/>
          </a:p>
        </p:txBody>
      </p:sp>
      <p:sp>
        <p:nvSpPr>
          <p:cNvPr id="10" name="Text 8"/>
          <p:cNvSpPr/>
          <p:nvPr/>
        </p:nvSpPr>
        <p:spPr>
          <a:xfrm>
            <a:off x="822960" y="2496312"/>
            <a:ext cx="1828800" cy="329184"/>
          </a:xfrm>
          <a:prstGeom prst="rect">
            <a:avLst/>
          </a:prstGeom>
          <a:noFill/>
          <a:ln/>
        </p:spPr>
        <p:txBody>
          <a:bodyPr wrap="square" lIns="381" tIns="381" rIns="381" bIns="381" rtlCol="0" anchor="ctr">
            <a:normAutofit/>
          </a:bodyPr>
          <a:lstStyle/>
          <a:p>
            <a:pPr marL="0" indent="0" algn="l">
              <a:buNone/>
            </a:pPr>
            <a:r>
              <a:rPr lang="en-US" sz="1020" b="1" dirty="0">
                <a:solidFill>
                  <a:srgbClr val="D4A83F"/>
                </a:solidFill>
                <a:latin typeface="Inter" pitchFamily="34" charset="0"/>
                <a:ea typeface="Aptos" pitchFamily="34" charset="-122"/>
                <a:cs typeface="Aptos" pitchFamily="34" charset="-120"/>
              </a:rPr>
              <a:t>Competitive Environment</a:t>
            </a:r>
            <a:endParaRPr lang="en-US" sz="1020" dirty="0"/>
          </a:p>
        </p:txBody>
      </p:sp>
      <p:sp>
        <p:nvSpPr>
          <p:cNvPr id="11" name="Text 9"/>
          <p:cNvSpPr/>
          <p:nvPr/>
        </p:nvSpPr>
        <p:spPr>
          <a:xfrm>
            <a:off x="3657600" y="2496312"/>
            <a:ext cx="7315200" cy="384048"/>
          </a:xfrm>
          <a:prstGeom prst="rect">
            <a:avLst/>
          </a:prstGeom>
          <a:noFill/>
          <a:ln/>
        </p:spPr>
        <p:txBody>
          <a:bodyPr wrap="square" lIns="381" tIns="381" rIns="381" bIns="381" rtlCol="0" anchor="ctr">
            <a:normAutofit/>
          </a:bodyPr>
          <a:lstStyle/>
          <a:p>
            <a:pPr marL="0" indent="0" algn="l">
              <a:buNone/>
            </a:pPr>
            <a:r>
              <a:rPr lang="en-US" sz="1020" dirty="0">
                <a:solidFill>
                  <a:srgbClr val="F4F0E8"/>
                </a:solidFill>
                <a:latin typeface="Inter" pitchFamily="34" charset="0"/>
                <a:ea typeface="Aptos" pitchFamily="34" charset="-122"/>
                <a:cs typeface="Aptos" pitchFamily="34" charset="-120"/>
              </a:rPr>
              <a:t>Ngân hàng, môi giới, KOL tài chính, kênh đầu tư, wealth advisory cao cấp.</a:t>
            </a:r>
            <a:endParaRPr lang="en-US" sz="1020" dirty="0"/>
          </a:p>
        </p:txBody>
      </p:sp>
      <p:sp>
        <p:nvSpPr>
          <p:cNvPr id="12" name="Text 10"/>
          <p:cNvSpPr/>
          <p:nvPr/>
        </p:nvSpPr>
        <p:spPr>
          <a:xfrm>
            <a:off x="822960" y="3163824"/>
            <a:ext cx="1828800" cy="329184"/>
          </a:xfrm>
          <a:prstGeom prst="rect">
            <a:avLst/>
          </a:prstGeom>
          <a:noFill/>
          <a:ln/>
        </p:spPr>
        <p:txBody>
          <a:bodyPr wrap="square" lIns="381" tIns="381" rIns="381" bIns="381" rtlCol="0" anchor="ctr">
            <a:normAutofit/>
          </a:bodyPr>
          <a:lstStyle/>
          <a:p>
            <a:pPr marL="0" indent="0" algn="l">
              <a:buNone/>
            </a:pPr>
            <a:r>
              <a:rPr lang="en-US" sz="1020" b="1" dirty="0">
                <a:solidFill>
                  <a:srgbClr val="D4A83F"/>
                </a:solidFill>
                <a:latin typeface="Inter" pitchFamily="34" charset="0"/>
                <a:ea typeface="Aptos" pitchFamily="34" charset="-122"/>
                <a:cs typeface="Aptos" pitchFamily="34" charset="-120"/>
              </a:rPr>
              <a:t>Insight</a:t>
            </a:r>
            <a:endParaRPr lang="en-US" sz="1020" dirty="0"/>
          </a:p>
        </p:txBody>
      </p:sp>
      <p:sp>
        <p:nvSpPr>
          <p:cNvPr id="13" name="Text 11"/>
          <p:cNvSpPr/>
          <p:nvPr/>
        </p:nvSpPr>
        <p:spPr>
          <a:xfrm>
            <a:off x="3657600" y="3163824"/>
            <a:ext cx="7315200" cy="384048"/>
          </a:xfrm>
          <a:prstGeom prst="rect">
            <a:avLst/>
          </a:prstGeom>
          <a:noFill/>
          <a:ln/>
        </p:spPr>
        <p:txBody>
          <a:bodyPr wrap="square" lIns="381" tIns="381" rIns="381" bIns="381" rtlCol="0" anchor="ctr">
            <a:normAutofit/>
          </a:bodyPr>
          <a:lstStyle/>
          <a:p>
            <a:pPr marL="0" indent="0" algn="l">
              <a:buNone/>
            </a:pPr>
            <a:r>
              <a:rPr lang="en-US" sz="1020" dirty="0">
                <a:solidFill>
                  <a:srgbClr val="F4F0E8"/>
                </a:solidFill>
                <a:latin typeface="Inter" pitchFamily="34" charset="0"/>
                <a:ea typeface="Aptos" pitchFamily="34" charset="-122"/>
                <a:cs typeface="Aptos" pitchFamily="34" charset="-120"/>
              </a:rPr>
              <a:t>Nỗ lực nhiều nhưng kết quả chưa tương xứng; muốn hiểu luật chơi để có quyền lựa chọn.</a:t>
            </a:r>
            <a:endParaRPr lang="en-US" sz="1020" dirty="0"/>
          </a:p>
        </p:txBody>
      </p:sp>
      <p:sp>
        <p:nvSpPr>
          <p:cNvPr id="14" name="Text 12"/>
          <p:cNvSpPr/>
          <p:nvPr/>
        </p:nvSpPr>
        <p:spPr>
          <a:xfrm>
            <a:off x="822960" y="3831336"/>
            <a:ext cx="1828800" cy="329184"/>
          </a:xfrm>
          <a:prstGeom prst="rect">
            <a:avLst/>
          </a:prstGeom>
          <a:noFill/>
          <a:ln/>
        </p:spPr>
        <p:txBody>
          <a:bodyPr wrap="square" lIns="381" tIns="381" rIns="381" bIns="381" rtlCol="0" anchor="ctr">
            <a:normAutofit/>
          </a:bodyPr>
          <a:lstStyle/>
          <a:p>
            <a:pPr marL="0" indent="0" algn="l">
              <a:buNone/>
            </a:pPr>
            <a:r>
              <a:rPr lang="en-US" sz="1020" b="1" dirty="0">
                <a:solidFill>
                  <a:srgbClr val="D4A83F"/>
                </a:solidFill>
                <a:latin typeface="Inter" pitchFamily="34" charset="0"/>
                <a:ea typeface="Aptos" pitchFamily="34" charset="-122"/>
                <a:cs typeface="Aptos" pitchFamily="34" charset="-120"/>
              </a:rPr>
              <a:t>Benefits</a:t>
            </a:r>
            <a:endParaRPr lang="en-US" sz="1020" dirty="0"/>
          </a:p>
        </p:txBody>
      </p:sp>
      <p:sp>
        <p:nvSpPr>
          <p:cNvPr id="15" name="Text 13"/>
          <p:cNvSpPr/>
          <p:nvPr/>
        </p:nvSpPr>
        <p:spPr>
          <a:xfrm>
            <a:off x="3657600" y="3831336"/>
            <a:ext cx="7315200" cy="384048"/>
          </a:xfrm>
          <a:prstGeom prst="rect">
            <a:avLst/>
          </a:prstGeom>
          <a:noFill/>
          <a:ln/>
        </p:spPr>
        <p:txBody>
          <a:bodyPr wrap="square" lIns="381" tIns="381" rIns="381" bIns="381" rtlCol="0" anchor="ctr">
            <a:normAutofit/>
          </a:bodyPr>
          <a:lstStyle/>
          <a:p>
            <a:pPr marL="0" indent="0" algn="l">
              <a:buNone/>
            </a:pPr>
            <a:r>
              <a:rPr lang="en-US" sz="1020" dirty="0">
                <a:solidFill>
                  <a:srgbClr val="F4F0E8"/>
                </a:solidFill>
                <a:latin typeface="Inter" pitchFamily="34" charset="0"/>
                <a:ea typeface="Aptos" pitchFamily="34" charset="-122"/>
                <a:cs typeface="Aptos" pitchFamily="34" charset="-120"/>
              </a:rPr>
              <a:t>Sáng tỏ hơn, chủ động hơn, tự tin hơn; biết ưu tiên bảo vệ – tích lũy – tăng trưởng.</a:t>
            </a:r>
            <a:endParaRPr lang="en-US" sz="1020" dirty="0"/>
          </a:p>
        </p:txBody>
      </p:sp>
      <p:sp>
        <p:nvSpPr>
          <p:cNvPr id="16" name="Text 14"/>
          <p:cNvSpPr/>
          <p:nvPr/>
        </p:nvSpPr>
        <p:spPr>
          <a:xfrm>
            <a:off x="822960" y="4498848"/>
            <a:ext cx="1828800" cy="329184"/>
          </a:xfrm>
          <a:prstGeom prst="rect">
            <a:avLst/>
          </a:prstGeom>
          <a:noFill/>
          <a:ln/>
        </p:spPr>
        <p:txBody>
          <a:bodyPr wrap="square" lIns="381" tIns="381" rIns="381" bIns="381" rtlCol="0" anchor="ctr">
            <a:normAutofit/>
          </a:bodyPr>
          <a:lstStyle/>
          <a:p>
            <a:pPr marL="0" indent="0" algn="l">
              <a:buNone/>
            </a:pPr>
            <a:r>
              <a:rPr lang="en-US" sz="1020" b="1" dirty="0">
                <a:solidFill>
                  <a:srgbClr val="D4A83F"/>
                </a:solidFill>
                <a:latin typeface="Inter" pitchFamily="34" charset="0"/>
                <a:ea typeface="Aptos" pitchFamily="34" charset="-122"/>
                <a:cs typeface="Aptos" pitchFamily="34" charset="-120"/>
              </a:rPr>
              <a:t>Brand Belief</a:t>
            </a:r>
            <a:endParaRPr lang="en-US" sz="1020" dirty="0"/>
          </a:p>
        </p:txBody>
      </p:sp>
      <p:sp>
        <p:nvSpPr>
          <p:cNvPr id="17" name="Text 15"/>
          <p:cNvSpPr/>
          <p:nvPr/>
        </p:nvSpPr>
        <p:spPr>
          <a:xfrm>
            <a:off x="3657600" y="4498848"/>
            <a:ext cx="7315200" cy="384048"/>
          </a:xfrm>
          <a:prstGeom prst="rect">
            <a:avLst/>
          </a:prstGeom>
          <a:noFill/>
          <a:ln/>
        </p:spPr>
        <p:txBody>
          <a:bodyPr wrap="square" lIns="381" tIns="381" rIns="381" bIns="381" rtlCol="0" anchor="ctr">
            <a:normAutofit/>
          </a:bodyPr>
          <a:lstStyle/>
          <a:p>
            <a:pPr marL="0" indent="0" algn="l">
              <a:buNone/>
            </a:pPr>
            <a:r>
              <a:rPr lang="en-US" sz="1020" dirty="0">
                <a:solidFill>
                  <a:srgbClr val="F4F0E8"/>
                </a:solidFill>
                <a:latin typeface="Inter" pitchFamily="34" charset="0"/>
                <a:ea typeface="Aptos" pitchFamily="34" charset="-122"/>
                <a:cs typeface="Aptos" pitchFamily="34" charset="-120"/>
              </a:rPr>
              <a:t>Người hiểu luật chơi luôn có nhiều lựa chọn hơn người chỉ chăm chỉ trong cuộc chơi.</a:t>
            </a:r>
            <a:endParaRPr lang="en-US" sz="1020" dirty="0"/>
          </a:p>
        </p:txBody>
      </p:sp>
      <p:sp>
        <p:nvSpPr>
          <p:cNvPr id="18" name="Text 16"/>
          <p:cNvSpPr/>
          <p:nvPr/>
        </p:nvSpPr>
        <p:spPr>
          <a:xfrm>
            <a:off x="822960" y="5166360"/>
            <a:ext cx="1828800" cy="329184"/>
          </a:xfrm>
          <a:prstGeom prst="rect">
            <a:avLst/>
          </a:prstGeom>
          <a:noFill/>
          <a:ln/>
        </p:spPr>
        <p:txBody>
          <a:bodyPr wrap="square" lIns="381" tIns="381" rIns="381" bIns="381" rtlCol="0" anchor="ctr">
            <a:normAutofit/>
          </a:bodyPr>
          <a:lstStyle/>
          <a:p>
            <a:pPr marL="0" indent="0" algn="l">
              <a:buNone/>
            </a:pPr>
            <a:r>
              <a:rPr lang="en-US" sz="1020" b="1" dirty="0">
                <a:solidFill>
                  <a:srgbClr val="D4A83F"/>
                </a:solidFill>
                <a:latin typeface="Inter" pitchFamily="34" charset="0"/>
                <a:ea typeface="Aptos" pitchFamily="34" charset="-122"/>
                <a:cs typeface="Aptos" pitchFamily="34" charset="-120"/>
              </a:rPr>
              <a:t>Discriminator</a:t>
            </a:r>
            <a:endParaRPr lang="en-US" sz="1020" dirty="0"/>
          </a:p>
        </p:txBody>
      </p:sp>
      <p:sp>
        <p:nvSpPr>
          <p:cNvPr id="19" name="Text 17"/>
          <p:cNvSpPr/>
          <p:nvPr/>
        </p:nvSpPr>
        <p:spPr>
          <a:xfrm>
            <a:off x="3657600" y="5166360"/>
            <a:ext cx="7315200" cy="384048"/>
          </a:xfrm>
          <a:prstGeom prst="rect">
            <a:avLst/>
          </a:prstGeom>
          <a:noFill/>
          <a:ln/>
        </p:spPr>
        <p:txBody>
          <a:bodyPr wrap="square" lIns="381" tIns="381" rIns="381" bIns="381" rtlCol="0" anchor="ctr">
            <a:normAutofit/>
          </a:bodyPr>
          <a:lstStyle/>
          <a:p>
            <a:pPr marL="0" indent="0" algn="l">
              <a:buNone/>
            </a:pPr>
            <a:r>
              <a:rPr lang="en-US" sz="1020" dirty="0">
                <a:solidFill>
                  <a:srgbClr val="F4F0E8"/>
                </a:solidFill>
                <a:latin typeface="Inter" pitchFamily="34" charset="0"/>
                <a:ea typeface="Aptos" pitchFamily="34" charset="-122"/>
                <a:cs typeface="Aptos" pitchFamily="34" charset="-120"/>
              </a:rPr>
              <a:t>Không bán sản phẩm trước; chẩn đoán hoàn cảnh trước rồi mới đề xuất giải pháp.</a:t>
            </a:r>
            <a:endParaRPr lang="en-US" sz="1020" dirty="0"/>
          </a:p>
        </p:txBody>
      </p:sp>
      <p:sp>
        <p:nvSpPr>
          <p:cNvPr id="20" name="Text 18"/>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21" name="Text 19"/>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02 Brand Key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10</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BRAND ARCHITECTURE</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Hệ sinh thái Moneyfest</a:t>
            </a:r>
            <a:endParaRPr lang="en-US" sz="2300" dirty="0"/>
          </a:p>
        </p:txBody>
      </p:sp>
      <p:sp>
        <p:nvSpPr>
          <p:cNvPr id="8" name="Shape 6"/>
          <p:cNvSpPr/>
          <p:nvPr/>
        </p:nvSpPr>
        <p:spPr>
          <a:xfrm>
            <a:off x="822960" y="2227218"/>
            <a:ext cx="2331720" cy="713232"/>
          </a:xfrm>
          <a:prstGeom prst="rect">
            <a:avLst/>
          </a:prstGeom>
          <a:solidFill>
            <a:srgbClr val="071521"/>
          </a:solidFill>
          <a:ln w="10160">
            <a:solidFill>
              <a:srgbClr val="D4A83F"/>
            </a:solidFill>
            <a:prstDash val="solid"/>
          </a:ln>
        </p:spPr>
        <p:txBody>
          <a:bodyPr/>
          <a:lstStyle/>
          <a:p>
            <a:endParaRPr/>
          </a:p>
        </p:txBody>
      </p:sp>
      <p:sp>
        <p:nvSpPr>
          <p:cNvPr id="9" name="Text 7"/>
          <p:cNvSpPr/>
          <p:nvPr/>
        </p:nvSpPr>
        <p:spPr>
          <a:xfrm>
            <a:off x="960120" y="2346090"/>
            <a:ext cx="2011680" cy="228600"/>
          </a:xfrm>
          <a:prstGeom prst="rect">
            <a:avLst/>
          </a:prstGeom>
          <a:noFill/>
          <a:ln/>
        </p:spPr>
        <p:txBody>
          <a:bodyPr wrap="square" lIns="381" tIns="381" rIns="381" bIns="381" rtlCol="0" anchor="ctr">
            <a:normAutofit/>
          </a:bodyPr>
          <a:lstStyle/>
          <a:p>
            <a:pPr marL="0" indent="0" algn="ctr">
              <a:buNone/>
            </a:pPr>
            <a:r>
              <a:rPr lang="en-US" sz="1200" b="1" dirty="0">
                <a:solidFill>
                  <a:srgbClr val="D4A83F"/>
                </a:solidFill>
                <a:latin typeface="Inter" pitchFamily="34" charset="0"/>
                <a:ea typeface="Aptos" pitchFamily="34" charset="-122"/>
                <a:cs typeface="Aptos" pitchFamily="34" charset="-120"/>
              </a:rPr>
              <a:t>Insights</a:t>
            </a:r>
            <a:endParaRPr lang="en-US" sz="1200" dirty="0"/>
          </a:p>
        </p:txBody>
      </p:sp>
      <p:sp>
        <p:nvSpPr>
          <p:cNvPr id="10" name="Text 8"/>
          <p:cNvSpPr/>
          <p:nvPr/>
        </p:nvSpPr>
        <p:spPr>
          <a:xfrm>
            <a:off x="960120" y="2620410"/>
            <a:ext cx="2011680" cy="201168"/>
          </a:xfrm>
          <a:prstGeom prst="rect">
            <a:avLst/>
          </a:prstGeom>
          <a:noFill/>
          <a:ln/>
        </p:spPr>
        <p:txBody>
          <a:bodyPr wrap="square" lIns="381" tIns="381" rIns="381" bIns="381" rtlCol="0" anchor="ctr">
            <a:normAutofit/>
          </a:bodyPr>
          <a:lstStyle/>
          <a:p>
            <a:pPr marL="0" indent="0" algn="ctr">
              <a:buNone/>
            </a:pPr>
            <a:r>
              <a:rPr lang="en-US" sz="780" dirty="0">
                <a:solidFill>
                  <a:srgbClr val="FFFFFF"/>
                </a:solidFill>
                <a:latin typeface="Inter" pitchFamily="34" charset="0"/>
                <a:ea typeface="Aptos" pitchFamily="34" charset="-122"/>
                <a:cs typeface="Aptos" pitchFamily="34" charset="-120"/>
              </a:rPr>
              <a:t>Tri thức chuyên sâu</a:t>
            </a:r>
            <a:endParaRPr lang="en-US" sz="780" dirty="0"/>
          </a:p>
        </p:txBody>
      </p:sp>
      <p:sp>
        <p:nvSpPr>
          <p:cNvPr id="11" name="Shape 9"/>
          <p:cNvSpPr/>
          <p:nvPr/>
        </p:nvSpPr>
        <p:spPr>
          <a:xfrm>
            <a:off x="3611880" y="2227218"/>
            <a:ext cx="2331720" cy="713232"/>
          </a:xfrm>
          <a:prstGeom prst="rect">
            <a:avLst/>
          </a:prstGeom>
          <a:solidFill>
            <a:srgbClr val="071521"/>
          </a:solidFill>
          <a:ln w="10160">
            <a:solidFill>
              <a:srgbClr val="D4A83F"/>
            </a:solidFill>
            <a:prstDash val="solid"/>
          </a:ln>
        </p:spPr>
        <p:txBody>
          <a:bodyPr/>
          <a:lstStyle/>
          <a:p>
            <a:endParaRPr/>
          </a:p>
        </p:txBody>
      </p:sp>
      <p:sp>
        <p:nvSpPr>
          <p:cNvPr id="12" name="Text 10"/>
          <p:cNvSpPr/>
          <p:nvPr/>
        </p:nvSpPr>
        <p:spPr>
          <a:xfrm>
            <a:off x="3749040" y="2346090"/>
            <a:ext cx="2011680" cy="228600"/>
          </a:xfrm>
          <a:prstGeom prst="rect">
            <a:avLst/>
          </a:prstGeom>
          <a:noFill/>
          <a:ln/>
        </p:spPr>
        <p:txBody>
          <a:bodyPr wrap="square" lIns="381" tIns="381" rIns="381" bIns="381" rtlCol="0" anchor="ctr">
            <a:normAutofit/>
          </a:bodyPr>
          <a:lstStyle/>
          <a:p>
            <a:pPr marL="0" indent="0" algn="ctr">
              <a:buNone/>
            </a:pPr>
            <a:r>
              <a:rPr lang="en-US" sz="1200" b="1" dirty="0">
                <a:solidFill>
                  <a:srgbClr val="D4A83F"/>
                </a:solidFill>
                <a:latin typeface="Inter" pitchFamily="34" charset="0"/>
                <a:ea typeface="Aptos" pitchFamily="34" charset="-122"/>
                <a:cs typeface="Aptos" pitchFamily="34" charset="-120"/>
              </a:rPr>
              <a:t>Community</a:t>
            </a:r>
            <a:endParaRPr lang="en-US" sz="1200" dirty="0"/>
          </a:p>
        </p:txBody>
      </p:sp>
      <p:sp>
        <p:nvSpPr>
          <p:cNvPr id="13" name="Text 11"/>
          <p:cNvSpPr/>
          <p:nvPr/>
        </p:nvSpPr>
        <p:spPr>
          <a:xfrm>
            <a:off x="3749040" y="2620410"/>
            <a:ext cx="2011680" cy="201168"/>
          </a:xfrm>
          <a:prstGeom prst="rect">
            <a:avLst/>
          </a:prstGeom>
          <a:noFill/>
          <a:ln/>
        </p:spPr>
        <p:txBody>
          <a:bodyPr wrap="square" lIns="381" tIns="381" rIns="381" bIns="381" rtlCol="0" anchor="ctr">
            <a:normAutofit/>
          </a:bodyPr>
          <a:lstStyle/>
          <a:p>
            <a:pPr marL="0" indent="0" algn="ctr">
              <a:buNone/>
            </a:pPr>
            <a:r>
              <a:rPr lang="en-US" sz="780" dirty="0">
                <a:solidFill>
                  <a:srgbClr val="FFFFFF"/>
                </a:solidFill>
                <a:latin typeface="Inter" pitchFamily="34" charset="0"/>
                <a:ea typeface="Aptos" pitchFamily="34" charset="-122"/>
                <a:cs typeface="Aptos" pitchFamily="34" charset="-120"/>
              </a:rPr>
              <a:t>Cộng đồng nhu cầu</a:t>
            </a:r>
            <a:endParaRPr lang="en-US" sz="780" dirty="0"/>
          </a:p>
        </p:txBody>
      </p:sp>
      <p:sp>
        <p:nvSpPr>
          <p:cNvPr id="14" name="Shape 12"/>
          <p:cNvSpPr/>
          <p:nvPr/>
        </p:nvSpPr>
        <p:spPr>
          <a:xfrm>
            <a:off x="6400800" y="2227218"/>
            <a:ext cx="2331720" cy="713232"/>
          </a:xfrm>
          <a:prstGeom prst="rect">
            <a:avLst/>
          </a:prstGeom>
          <a:solidFill>
            <a:srgbClr val="071521"/>
          </a:solidFill>
          <a:ln w="10160">
            <a:solidFill>
              <a:srgbClr val="D4A83F"/>
            </a:solidFill>
            <a:prstDash val="solid"/>
          </a:ln>
        </p:spPr>
        <p:txBody>
          <a:bodyPr/>
          <a:lstStyle/>
          <a:p>
            <a:endParaRPr/>
          </a:p>
        </p:txBody>
      </p:sp>
      <p:sp>
        <p:nvSpPr>
          <p:cNvPr id="15" name="Text 13"/>
          <p:cNvSpPr/>
          <p:nvPr/>
        </p:nvSpPr>
        <p:spPr>
          <a:xfrm>
            <a:off x="6537960" y="2346090"/>
            <a:ext cx="2011680" cy="228600"/>
          </a:xfrm>
          <a:prstGeom prst="rect">
            <a:avLst/>
          </a:prstGeom>
          <a:noFill/>
          <a:ln/>
        </p:spPr>
        <p:txBody>
          <a:bodyPr wrap="square" lIns="381" tIns="381" rIns="381" bIns="381" rtlCol="0" anchor="ctr">
            <a:normAutofit/>
          </a:bodyPr>
          <a:lstStyle/>
          <a:p>
            <a:pPr marL="0" indent="0" algn="ctr">
              <a:buNone/>
            </a:pPr>
            <a:r>
              <a:rPr lang="en-US" sz="1200" b="1" dirty="0">
                <a:solidFill>
                  <a:srgbClr val="D4A83F"/>
                </a:solidFill>
                <a:latin typeface="Inter" pitchFamily="34" charset="0"/>
                <a:ea typeface="Aptos" pitchFamily="34" charset="-122"/>
                <a:cs typeface="Aptos" pitchFamily="34" charset="-120"/>
              </a:rPr>
              <a:t>Advisory</a:t>
            </a:r>
            <a:endParaRPr lang="en-US" sz="1200" dirty="0"/>
          </a:p>
        </p:txBody>
      </p:sp>
      <p:sp>
        <p:nvSpPr>
          <p:cNvPr id="16" name="Text 14"/>
          <p:cNvSpPr/>
          <p:nvPr/>
        </p:nvSpPr>
        <p:spPr>
          <a:xfrm>
            <a:off x="6537960" y="2620410"/>
            <a:ext cx="2011680" cy="201168"/>
          </a:xfrm>
          <a:prstGeom prst="rect">
            <a:avLst/>
          </a:prstGeom>
          <a:noFill/>
          <a:ln/>
        </p:spPr>
        <p:txBody>
          <a:bodyPr wrap="square" lIns="381" tIns="381" rIns="381" bIns="381" rtlCol="0" anchor="ctr">
            <a:normAutofit/>
          </a:bodyPr>
          <a:lstStyle/>
          <a:p>
            <a:pPr marL="0" indent="0" algn="ctr">
              <a:buNone/>
            </a:pPr>
            <a:r>
              <a:rPr lang="en-US" sz="780" dirty="0">
                <a:solidFill>
                  <a:srgbClr val="FFFFFF"/>
                </a:solidFill>
                <a:latin typeface="Inter" pitchFamily="34" charset="0"/>
                <a:ea typeface="Aptos" pitchFamily="34" charset="-122"/>
                <a:cs typeface="Aptos" pitchFamily="34" charset="-120"/>
              </a:rPr>
              <a:t>Tư vấn cá nhân hóa</a:t>
            </a:r>
            <a:endParaRPr lang="en-US" sz="780" dirty="0"/>
          </a:p>
        </p:txBody>
      </p:sp>
      <p:sp>
        <p:nvSpPr>
          <p:cNvPr id="17" name="Shape 15"/>
          <p:cNvSpPr/>
          <p:nvPr/>
        </p:nvSpPr>
        <p:spPr>
          <a:xfrm>
            <a:off x="9189720" y="2227218"/>
            <a:ext cx="2331720" cy="713232"/>
          </a:xfrm>
          <a:prstGeom prst="rect">
            <a:avLst/>
          </a:prstGeom>
          <a:solidFill>
            <a:srgbClr val="071521"/>
          </a:solidFill>
          <a:ln w="10160">
            <a:solidFill>
              <a:srgbClr val="D4A83F"/>
            </a:solidFill>
            <a:prstDash val="solid"/>
          </a:ln>
        </p:spPr>
        <p:txBody>
          <a:bodyPr/>
          <a:lstStyle/>
          <a:p>
            <a:endParaRPr/>
          </a:p>
        </p:txBody>
      </p:sp>
      <p:sp>
        <p:nvSpPr>
          <p:cNvPr id="18" name="Text 16"/>
          <p:cNvSpPr/>
          <p:nvPr/>
        </p:nvSpPr>
        <p:spPr>
          <a:xfrm>
            <a:off x="9326880" y="2346090"/>
            <a:ext cx="2011680" cy="228600"/>
          </a:xfrm>
          <a:prstGeom prst="rect">
            <a:avLst/>
          </a:prstGeom>
          <a:noFill/>
          <a:ln/>
        </p:spPr>
        <p:txBody>
          <a:bodyPr wrap="square" lIns="381" tIns="381" rIns="381" bIns="381" rtlCol="0" anchor="ctr">
            <a:normAutofit/>
          </a:bodyPr>
          <a:lstStyle/>
          <a:p>
            <a:pPr marL="0" indent="0" algn="ctr">
              <a:buNone/>
            </a:pPr>
            <a:r>
              <a:rPr lang="en-US" sz="1200" b="1" dirty="0">
                <a:solidFill>
                  <a:srgbClr val="D4A83F"/>
                </a:solidFill>
                <a:latin typeface="Inter" pitchFamily="34" charset="0"/>
                <a:ea typeface="Aptos" pitchFamily="34" charset="-122"/>
                <a:cs typeface="Aptos" pitchFamily="34" charset="-120"/>
              </a:rPr>
              <a:t>Partnership</a:t>
            </a:r>
            <a:endParaRPr lang="en-US" sz="1200" dirty="0"/>
          </a:p>
        </p:txBody>
      </p:sp>
      <p:sp>
        <p:nvSpPr>
          <p:cNvPr id="19" name="Text 17"/>
          <p:cNvSpPr/>
          <p:nvPr/>
        </p:nvSpPr>
        <p:spPr>
          <a:xfrm>
            <a:off x="9326880" y="2620410"/>
            <a:ext cx="2011680" cy="201168"/>
          </a:xfrm>
          <a:prstGeom prst="rect">
            <a:avLst/>
          </a:prstGeom>
          <a:noFill/>
          <a:ln/>
        </p:spPr>
        <p:txBody>
          <a:bodyPr wrap="square" lIns="381" tIns="381" rIns="381" bIns="381" rtlCol="0" anchor="ctr">
            <a:normAutofit/>
          </a:bodyPr>
          <a:lstStyle/>
          <a:p>
            <a:pPr marL="0" indent="0" algn="ctr">
              <a:buNone/>
            </a:pPr>
            <a:r>
              <a:rPr lang="en-US" sz="780" dirty="0">
                <a:solidFill>
                  <a:srgbClr val="FFFFFF"/>
                </a:solidFill>
                <a:latin typeface="Inter" pitchFamily="34" charset="0"/>
                <a:ea typeface="Aptos" pitchFamily="34" charset="-122"/>
                <a:cs typeface="Aptos" pitchFamily="34" charset="-120"/>
              </a:rPr>
              <a:t>Kết nối giải pháp</a:t>
            </a:r>
            <a:endParaRPr lang="en-US" sz="780" dirty="0"/>
          </a:p>
        </p:txBody>
      </p:sp>
      <p:sp>
        <p:nvSpPr>
          <p:cNvPr id="20" name="Shape 18"/>
          <p:cNvSpPr/>
          <p:nvPr/>
        </p:nvSpPr>
        <p:spPr>
          <a:xfrm>
            <a:off x="2213222" y="3489090"/>
            <a:ext cx="2331720" cy="713232"/>
          </a:xfrm>
          <a:prstGeom prst="rect">
            <a:avLst/>
          </a:prstGeom>
          <a:solidFill>
            <a:srgbClr val="F4F0E8"/>
          </a:solidFill>
          <a:ln w="10160">
            <a:solidFill>
              <a:srgbClr val="D7D7D7"/>
            </a:solidFill>
            <a:prstDash val="solid"/>
          </a:ln>
        </p:spPr>
        <p:txBody>
          <a:bodyPr/>
          <a:lstStyle/>
          <a:p>
            <a:endParaRPr/>
          </a:p>
        </p:txBody>
      </p:sp>
      <p:sp>
        <p:nvSpPr>
          <p:cNvPr id="21" name="Text 19"/>
          <p:cNvSpPr/>
          <p:nvPr/>
        </p:nvSpPr>
        <p:spPr>
          <a:xfrm>
            <a:off x="2350382" y="3607962"/>
            <a:ext cx="2011680" cy="228600"/>
          </a:xfrm>
          <a:prstGeom prst="rect">
            <a:avLst/>
          </a:prstGeom>
          <a:noFill/>
          <a:ln/>
        </p:spPr>
        <p:txBody>
          <a:bodyPr wrap="square" lIns="381" tIns="381" rIns="381" bIns="381" rtlCol="0" anchor="ctr">
            <a:normAutofit/>
          </a:bodyPr>
          <a:lstStyle/>
          <a:p>
            <a:pPr marL="0" indent="0" algn="ctr">
              <a:buNone/>
            </a:pPr>
            <a:r>
              <a:rPr lang="en-US" sz="1200" b="1" dirty="0">
                <a:solidFill>
                  <a:srgbClr val="071521"/>
                </a:solidFill>
                <a:latin typeface="Inter" pitchFamily="34" charset="0"/>
                <a:ea typeface="Aptos" pitchFamily="34" charset="-122"/>
                <a:cs typeface="Aptos" pitchFamily="34" charset="-120"/>
              </a:rPr>
              <a:t>Academy</a:t>
            </a:r>
            <a:endParaRPr lang="en-US" sz="1200" dirty="0"/>
          </a:p>
        </p:txBody>
      </p:sp>
      <p:sp>
        <p:nvSpPr>
          <p:cNvPr id="22" name="Text 20"/>
          <p:cNvSpPr/>
          <p:nvPr/>
        </p:nvSpPr>
        <p:spPr>
          <a:xfrm>
            <a:off x="2350382" y="3882282"/>
            <a:ext cx="2011680" cy="201168"/>
          </a:xfrm>
          <a:prstGeom prst="rect">
            <a:avLst/>
          </a:prstGeom>
          <a:noFill/>
          <a:ln/>
        </p:spPr>
        <p:txBody>
          <a:bodyPr wrap="square" lIns="381" tIns="381" rIns="381" bIns="381" rtlCol="0" anchor="ctr">
            <a:normAutofit/>
          </a:bodyPr>
          <a:lstStyle/>
          <a:p>
            <a:pPr marL="0" indent="0" algn="ctr">
              <a:buNone/>
            </a:pPr>
            <a:r>
              <a:rPr lang="en-US" sz="780" dirty="0">
                <a:solidFill>
                  <a:srgbClr val="070707"/>
                </a:solidFill>
                <a:latin typeface="Inter" pitchFamily="34" charset="0"/>
                <a:ea typeface="Aptos" pitchFamily="34" charset="-122"/>
                <a:cs typeface="Aptos" pitchFamily="34" charset="-120"/>
              </a:rPr>
              <a:t>Đào tạo tài chính</a:t>
            </a:r>
            <a:endParaRPr lang="en-US" sz="780" dirty="0"/>
          </a:p>
        </p:txBody>
      </p:sp>
      <p:sp>
        <p:nvSpPr>
          <p:cNvPr id="23" name="Shape 21"/>
          <p:cNvSpPr/>
          <p:nvPr/>
        </p:nvSpPr>
        <p:spPr>
          <a:xfrm>
            <a:off x="5002142" y="3489090"/>
            <a:ext cx="2331720" cy="713232"/>
          </a:xfrm>
          <a:prstGeom prst="rect">
            <a:avLst/>
          </a:prstGeom>
          <a:solidFill>
            <a:srgbClr val="F4F0E8"/>
          </a:solidFill>
          <a:ln w="10160">
            <a:solidFill>
              <a:srgbClr val="D7D7D7"/>
            </a:solidFill>
            <a:prstDash val="solid"/>
          </a:ln>
        </p:spPr>
        <p:txBody>
          <a:bodyPr/>
          <a:lstStyle/>
          <a:p>
            <a:endParaRPr/>
          </a:p>
        </p:txBody>
      </p:sp>
      <p:sp>
        <p:nvSpPr>
          <p:cNvPr id="24" name="Text 22"/>
          <p:cNvSpPr/>
          <p:nvPr/>
        </p:nvSpPr>
        <p:spPr>
          <a:xfrm>
            <a:off x="5139302" y="3607962"/>
            <a:ext cx="2011680" cy="228600"/>
          </a:xfrm>
          <a:prstGeom prst="rect">
            <a:avLst/>
          </a:prstGeom>
          <a:noFill/>
          <a:ln/>
        </p:spPr>
        <p:txBody>
          <a:bodyPr wrap="square" lIns="381" tIns="381" rIns="381" bIns="381" rtlCol="0" anchor="ctr">
            <a:normAutofit/>
          </a:bodyPr>
          <a:lstStyle/>
          <a:p>
            <a:pPr marL="0" indent="0" algn="ctr">
              <a:buNone/>
            </a:pPr>
            <a:r>
              <a:rPr lang="en-US" sz="1200" b="1" dirty="0">
                <a:solidFill>
                  <a:srgbClr val="071521"/>
                </a:solidFill>
                <a:latin typeface="Inter" pitchFamily="34" charset="0"/>
                <a:ea typeface="Aptos" pitchFamily="34" charset="-122"/>
                <a:cs typeface="Aptos" pitchFamily="34" charset="-120"/>
              </a:rPr>
              <a:t>Mastery</a:t>
            </a:r>
            <a:endParaRPr lang="en-US" sz="1200" dirty="0"/>
          </a:p>
        </p:txBody>
      </p:sp>
      <p:sp>
        <p:nvSpPr>
          <p:cNvPr id="25" name="Text 23"/>
          <p:cNvSpPr/>
          <p:nvPr/>
        </p:nvSpPr>
        <p:spPr>
          <a:xfrm>
            <a:off x="5139302" y="3882282"/>
            <a:ext cx="2011680" cy="201168"/>
          </a:xfrm>
          <a:prstGeom prst="rect">
            <a:avLst/>
          </a:prstGeom>
          <a:noFill/>
          <a:ln/>
        </p:spPr>
        <p:txBody>
          <a:bodyPr wrap="square" lIns="381" tIns="381" rIns="381" bIns="381" rtlCol="0" anchor="ctr">
            <a:normAutofit/>
          </a:bodyPr>
          <a:lstStyle/>
          <a:p>
            <a:pPr marL="0" indent="0" algn="ctr">
              <a:buNone/>
            </a:pPr>
            <a:r>
              <a:rPr lang="en-US" sz="780" dirty="0">
                <a:solidFill>
                  <a:srgbClr val="070707"/>
                </a:solidFill>
                <a:latin typeface="Inter" pitchFamily="34" charset="0"/>
                <a:ea typeface="Aptos" pitchFamily="34" charset="-122"/>
                <a:cs typeface="Aptos" pitchFamily="34" charset="-120"/>
              </a:rPr>
              <a:t>Đồng hành kết quả</a:t>
            </a:r>
            <a:endParaRPr lang="en-US" sz="780" dirty="0"/>
          </a:p>
        </p:txBody>
      </p:sp>
      <p:sp>
        <p:nvSpPr>
          <p:cNvPr id="26" name="Shape 24"/>
          <p:cNvSpPr/>
          <p:nvPr/>
        </p:nvSpPr>
        <p:spPr>
          <a:xfrm>
            <a:off x="7791062" y="3489090"/>
            <a:ext cx="2331720" cy="713232"/>
          </a:xfrm>
          <a:prstGeom prst="rect">
            <a:avLst/>
          </a:prstGeom>
          <a:solidFill>
            <a:srgbClr val="F4F0E8"/>
          </a:solidFill>
          <a:ln w="10160">
            <a:solidFill>
              <a:srgbClr val="D7D7D7"/>
            </a:solidFill>
            <a:prstDash val="solid"/>
          </a:ln>
        </p:spPr>
        <p:txBody>
          <a:bodyPr/>
          <a:lstStyle/>
          <a:p>
            <a:endParaRPr/>
          </a:p>
        </p:txBody>
      </p:sp>
      <p:sp>
        <p:nvSpPr>
          <p:cNvPr id="27" name="Text 25"/>
          <p:cNvSpPr/>
          <p:nvPr/>
        </p:nvSpPr>
        <p:spPr>
          <a:xfrm>
            <a:off x="7928222" y="3607962"/>
            <a:ext cx="2011680" cy="228600"/>
          </a:xfrm>
          <a:prstGeom prst="rect">
            <a:avLst/>
          </a:prstGeom>
          <a:noFill/>
          <a:ln/>
        </p:spPr>
        <p:txBody>
          <a:bodyPr wrap="square" lIns="381" tIns="381" rIns="381" bIns="381" rtlCol="0" anchor="ctr">
            <a:normAutofit/>
          </a:bodyPr>
          <a:lstStyle/>
          <a:p>
            <a:pPr marL="0" indent="0" algn="ctr">
              <a:buNone/>
            </a:pPr>
            <a:r>
              <a:rPr lang="en-US" sz="1200" b="1" dirty="0">
                <a:solidFill>
                  <a:srgbClr val="071521"/>
                </a:solidFill>
                <a:latin typeface="Inter" pitchFamily="34" charset="0"/>
                <a:ea typeface="Aptos" pitchFamily="34" charset="-122"/>
                <a:cs typeface="Aptos" pitchFamily="34" charset="-120"/>
              </a:rPr>
              <a:t>Summit</a:t>
            </a:r>
            <a:endParaRPr lang="en-US" sz="1200" dirty="0"/>
          </a:p>
        </p:txBody>
      </p:sp>
      <p:sp>
        <p:nvSpPr>
          <p:cNvPr id="28" name="Text 26"/>
          <p:cNvSpPr/>
          <p:nvPr/>
        </p:nvSpPr>
        <p:spPr>
          <a:xfrm>
            <a:off x="7928222" y="3882282"/>
            <a:ext cx="2011680" cy="201168"/>
          </a:xfrm>
          <a:prstGeom prst="rect">
            <a:avLst/>
          </a:prstGeom>
          <a:noFill/>
          <a:ln/>
        </p:spPr>
        <p:txBody>
          <a:bodyPr wrap="square" lIns="381" tIns="381" rIns="381" bIns="381" rtlCol="0" anchor="ctr">
            <a:normAutofit/>
          </a:bodyPr>
          <a:lstStyle/>
          <a:p>
            <a:pPr marL="0" indent="0" algn="ctr">
              <a:buNone/>
            </a:pPr>
            <a:r>
              <a:rPr lang="en-US" sz="780" dirty="0">
                <a:solidFill>
                  <a:srgbClr val="070707"/>
                </a:solidFill>
                <a:latin typeface="Inter" pitchFamily="34" charset="0"/>
                <a:ea typeface="Aptos" pitchFamily="34" charset="-122"/>
                <a:cs typeface="Aptos" pitchFamily="34" charset="-120"/>
              </a:rPr>
              <a:t>Hệ sinh thái chuyên gia</a:t>
            </a:r>
            <a:endParaRPr lang="en-US" sz="780" dirty="0"/>
          </a:p>
        </p:txBody>
      </p:sp>
      <p:sp>
        <p:nvSpPr>
          <p:cNvPr id="32" name="Text 30"/>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33" name="Text 31"/>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E8CF8B"/>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D7D7D7"/>
                </a:solidFill>
                <a:latin typeface="Inter" pitchFamily="34" charset="0"/>
                <a:ea typeface="Aptos" pitchFamily="34" charset="-122"/>
                <a:cs typeface="Aptos" pitchFamily="34" charset="-120"/>
              </a:rPr>
              <a:t>02 Brand Key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D4A83F"/>
                </a:solidFill>
                <a:latin typeface="Inter" pitchFamily="34" charset="0"/>
                <a:ea typeface="Aptos" pitchFamily="34" charset="-122"/>
                <a:cs typeface="Aptos" pitchFamily="34" charset="-120"/>
              </a:rPr>
              <a:t>11</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E8CF8B"/>
                </a:solidFill>
                <a:latin typeface="Inter" pitchFamily="34" charset="0"/>
                <a:ea typeface="Aptos" pitchFamily="34" charset="-122"/>
                <a:cs typeface="Aptos" pitchFamily="34" charset="-120"/>
              </a:rPr>
              <a:t>BRAND CHARACTER</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FFFFFF"/>
                </a:solidFill>
                <a:latin typeface="SVN-Georgia" pitchFamily="34" charset="0"/>
                <a:ea typeface="Aptos Display" pitchFamily="34" charset="-122"/>
                <a:cs typeface="Aptos Display" pitchFamily="34" charset="-120"/>
              </a:rPr>
              <a:t>Nhà thông </a:t>
            </a:r>
            <a:r>
              <a:rPr lang="en-US" sz="2300" b="1" dirty="0" err="1">
                <a:solidFill>
                  <a:srgbClr val="FFFFFF"/>
                </a:solidFill>
                <a:latin typeface="SVN-Georgia" pitchFamily="34" charset="0"/>
                <a:ea typeface="Aptos Display" pitchFamily="34" charset="-122"/>
                <a:cs typeface="Aptos Display" pitchFamily="34" charset="-120"/>
              </a:rPr>
              <a:t>thái</a:t>
            </a:r>
            <a:r>
              <a:rPr lang="en-US" sz="2300" b="1" dirty="0">
                <a:solidFill>
                  <a:srgbClr val="FFFFFF"/>
                </a:solidFill>
                <a:latin typeface="SVN-Georgia" pitchFamily="34" charset="0"/>
                <a:ea typeface="Aptos Display" pitchFamily="34" charset="-122"/>
                <a:cs typeface="Aptos Display" pitchFamily="34" charset="-120"/>
              </a:rPr>
              <a:t> </a:t>
            </a:r>
            <a:r>
              <a:rPr lang="en-US" sz="2300" b="1" dirty="0" smtClean="0">
                <a:solidFill>
                  <a:srgbClr val="FFFFFF"/>
                </a:solidFill>
                <a:latin typeface="SVN-Georgia" pitchFamily="34" charset="0"/>
                <a:ea typeface="Aptos Display" pitchFamily="34" charset="-122"/>
                <a:cs typeface="Aptos Display" pitchFamily="34" charset="-120"/>
              </a:rPr>
              <a:t>&amp; </a:t>
            </a:r>
            <a:r>
              <a:rPr lang="en-US" sz="2300" b="1" dirty="0" err="1" smtClean="0">
                <a:solidFill>
                  <a:srgbClr val="FFFFFF"/>
                </a:solidFill>
                <a:latin typeface="SVN-Georgia" pitchFamily="34" charset="0"/>
                <a:ea typeface="Aptos Display" pitchFamily="34" charset="-122"/>
                <a:cs typeface="Aptos Display" pitchFamily="34" charset="-120"/>
              </a:rPr>
              <a:t>Cố</a:t>
            </a:r>
            <a:r>
              <a:rPr lang="en-US" sz="2300" b="1" dirty="0" smtClean="0">
                <a:solidFill>
                  <a:srgbClr val="FFFFFF"/>
                </a:solidFill>
                <a:latin typeface="SVN-Georgia" pitchFamily="34" charset="0"/>
                <a:ea typeface="Aptos Display" pitchFamily="34" charset="-122"/>
                <a:cs typeface="Aptos Display" pitchFamily="34" charset="-120"/>
              </a:rPr>
              <a:t> </a:t>
            </a:r>
            <a:r>
              <a:rPr lang="en-US" sz="2300" b="1" dirty="0">
                <a:solidFill>
                  <a:srgbClr val="FFFFFF"/>
                </a:solidFill>
                <a:latin typeface="SVN-Georgia" pitchFamily="34" charset="0"/>
                <a:ea typeface="Aptos Display" pitchFamily="34" charset="-122"/>
                <a:cs typeface="Aptos Display" pitchFamily="34" charset="-120"/>
              </a:rPr>
              <a:t>vấn </a:t>
            </a:r>
            <a:r>
              <a:rPr lang="en-US" sz="2300" b="1" dirty="0" err="1">
                <a:solidFill>
                  <a:srgbClr val="FFFFFF"/>
                </a:solidFill>
                <a:latin typeface="SVN-Georgia" pitchFamily="34" charset="0"/>
                <a:ea typeface="Aptos Display" pitchFamily="34" charset="-122"/>
                <a:cs typeface="Aptos Display" pitchFamily="34" charset="-120"/>
              </a:rPr>
              <a:t>tài</a:t>
            </a:r>
            <a:r>
              <a:rPr lang="en-US" sz="2300" b="1" dirty="0">
                <a:solidFill>
                  <a:srgbClr val="FFFFFF"/>
                </a:solidFill>
                <a:latin typeface="SVN-Georgia" pitchFamily="34" charset="0"/>
                <a:ea typeface="Aptos Display" pitchFamily="34" charset="-122"/>
                <a:cs typeface="Aptos Display" pitchFamily="34" charset="-120"/>
              </a:rPr>
              <a:t> </a:t>
            </a:r>
            <a:r>
              <a:rPr lang="en-US" sz="2300" b="1" dirty="0" err="1" smtClean="0">
                <a:solidFill>
                  <a:srgbClr val="FFFFFF"/>
                </a:solidFill>
                <a:latin typeface="SVN-Georgia" pitchFamily="34" charset="0"/>
                <a:ea typeface="Aptos Display" pitchFamily="34" charset="-122"/>
                <a:cs typeface="Aptos Display" pitchFamily="34" charset="-120"/>
              </a:rPr>
              <a:t>chính</a:t>
            </a:r>
            <a:endParaRPr lang="en-US" sz="2300" dirty="0"/>
          </a:p>
        </p:txBody>
      </p:sp>
      <p:sp>
        <p:nvSpPr>
          <p:cNvPr id="8" name="Shape 6"/>
          <p:cNvSpPr/>
          <p:nvPr/>
        </p:nvSpPr>
        <p:spPr>
          <a:xfrm>
            <a:off x="777240" y="1828800"/>
            <a:ext cx="4983480" cy="3154680"/>
          </a:xfrm>
          <a:prstGeom prst="rect">
            <a:avLst/>
          </a:prstGeom>
          <a:solidFill>
            <a:srgbClr val="071521"/>
          </a:solidFill>
          <a:ln w="10160">
            <a:solidFill>
              <a:srgbClr val="D4A83F"/>
            </a:solidFill>
            <a:prstDash val="solid"/>
          </a:ln>
        </p:spPr>
        <p:txBody>
          <a:bodyPr/>
          <a:lstStyle/>
          <a:p>
            <a:endParaRPr/>
          </a:p>
        </p:txBody>
      </p:sp>
      <p:sp>
        <p:nvSpPr>
          <p:cNvPr id="9" name="Text 7"/>
          <p:cNvSpPr/>
          <p:nvPr/>
        </p:nvSpPr>
        <p:spPr>
          <a:xfrm>
            <a:off x="1051560" y="2176272"/>
            <a:ext cx="4389120" cy="365760"/>
          </a:xfrm>
          <a:prstGeom prst="rect">
            <a:avLst/>
          </a:prstGeom>
          <a:noFill/>
          <a:ln/>
        </p:spPr>
        <p:txBody>
          <a:bodyPr wrap="square" lIns="381" tIns="381" rIns="381" bIns="381" rtlCol="0" anchor="ctr">
            <a:normAutofit/>
          </a:bodyPr>
          <a:lstStyle/>
          <a:p>
            <a:pPr marL="0" indent="0" algn="ctr">
              <a:buNone/>
            </a:pPr>
            <a:r>
              <a:rPr lang="en-US" sz="2200" b="1" dirty="0">
                <a:solidFill>
                  <a:srgbClr val="D4A83F"/>
                </a:solidFill>
                <a:latin typeface="SVN-Georgia" panose="02040502050405020303" pitchFamily="18" charset="0"/>
                <a:ea typeface="SVN-Georgia" pitchFamily="34" charset="-122"/>
                <a:cs typeface="SVN-Georgia" pitchFamily="34" charset="-120"/>
              </a:rPr>
              <a:t>THE SAGE</a:t>
            </a:r>
            <a:endParaRPr lang="en-US" sz="2200" dirty="0">
              <a:latin typeface="SVN-Georgia" panose="02040502050405020303" pitchFamily="18" charset="0"/>
            </a:endParaRPr>
          </a:p>
        </p:txBody>
      </p:sp>
      <p:sp>
        <p:nvSpPr>
          <p:cNvPr id="10" name="Text 8"/>
          <p:cNvSpPr/>
          <p:nvPr/>
        </p:nvSpPr>
        <p:spPr>
          <a:xfrm>
            <a:off x="1051560" y="2788920"/>
            <a:ext cx="4389120" cy="658368"/>
          </a:xfrm>
          <a:prstGeom prst="rect">
            <a:avLst/>
          </a:prstGeom>
          <a:noFill/>
          <a:ln/>
        </p:spPr>
        <p:txBody>
          <a:bodyPr wrap="square" lIns="381" tIns="381" rIns="381" bIns="381" rtlCol="0" anchor="ctr">
            <a:normAutofit/>
          </a:bodyPr>
          <a:lstStyle/>
          <a:p>
            <a:pPr marL="0" indent="0" algn="ctr">
              <a:buNone/>
            </a:pPr>
            <a:r>
              <a:rPr lang="en-US" sz="1400" b="1" dirty="0">
                <a:solidFill>
                  <a:srgbClr val="FFFFFF"/>
                </a:solidFill>
                <a:latin typeface="Inter" pitchFamily="34" charset="0"/>
                <a:ea typeface="Aptos" pitchFamily="34" charset="-122"/>
                <a:cs typeface="Aptos" pitchFamily="34" charset="-120"/>
              </a:rPr>
              <a:t>Sâu sắc · Điềm tĩnh · Tư duy hệ </a:t>
            </a:r>
            <a:r>
              <a:rPr lang="en-US" sz="1400" b="1" dirty="0" err="1">
                <a:solidFill>
                  <a:srgbClr val="FFFFFF"/>
                </a:solidFill>
                <a:latin typeface="Inter" pitchFamily="34" charset="0"/>
                <a:ea typeface="Aptos" pitchFamily="34" charset="-122"/>
                <a:cs typeface="Aptos" pitchFamily="34" charset="-120"/>
              </a:rPr>
              <a:t>thống</a:t>
            </a:r>
            <a:r>
              <a:rPr lang="en-US" sz="1400" b="1" dirty="0">
                <a:solidFill>
                  <a:srgbClr val="FFFFFF"/>
                </a:solidFill>
                <a:latin typeface="Inter" pitchFamily="34" charset="0"/>
                <a:ea typeface="Aptos" pitchFamily="34" charset="-122"/>
                <a:cs typeface="Aptos" pitchFamily="34" charset="-120"/>
              </a:rPr>
              <a:t> </a:t>
            </a:r>
            <a:r>
              <a:rPr lang="en-US" sz="1400" b="1" dirty="0" smtClean="0">
                <a:solidFill>
                  <a:srgbClr val="FFFFFF"/>
                </a:solidFill>
                <a:latin typeface="Inter" pitchFamily="34" charset="0"/>
                <a:ea typeface="Aptos" pitchFamily="34" charset="-122"/>
                <a:cs typeface="Aptos" pitchFamily="34" charset="-120"/>
              </a:rPr>
              <a:t/>
            </a:r>
            <a:br>
              <a:rPr lang="en-US" sz="1400" b="1" dirty="0" smtClean="0">
                <a:solidFill>
                  <a:srgbClr val="FFFFFF"/>
                </a:solidFill>
                <a:latin typeface="Inter" pitchFamily="34" charset="0"/>
                <a:ea typeface="Aptos" pitchFamily="34" charset="-122"/>
                <a:cs typeface="Aptos" pitchFamily="34" charset="-120"/>
              </a:rPr>
            </a:br>
            <a:r>
              <a:rPr lang="en-US" sz="1400" b="1" dirty="0" smtClean="0">
                <a:solidFill>
                  <a:srgbClr val="FFFFFF"/>
                </a:solidFill>
                <a:latin typeface="Inter" pitchFamily="34" charset="0"/>
                <a:ea typeface="Aptos" pitchFamily="34" charset="-122"/>
                <a:cs typeface="Aptos" pitchFamily="34" charset="-120"/>
              </a:rPr>
              <a:t>· </a:t>
            </a:r>
            <a:r>
              <a:rPr lang="en-US" sz="1400" b="1" dirty="0">
                <a:solidFill>
                  <a:srgbClr val="FFFFFF"/>
                </a:solidFill>
                <a:latin typeface="Inter" pitchFamily="34" charset="0"/>
                <a:ea typeface="Aptos" pitchFamily="34" charset="-122"/>
                <a:cs typeface="Aptos" pitchFamily="34" charset="-120"/>
              </a:rPr>
              <a:t>Nhìn thấy quy luật · Giải thích bản chất</a:t>
            </a:r>
            <a:endParaRPr lang="en-US" sz="1400" dirty="0"/>
          </a:p>
        </p:txBody>
      </p:sp>
      <p:sp>
        <p:nvSpPr>
          <p:cNvPr id="11" name="Text 9"/>
          <p:cNvSpPr/>
          <p:nvPr/>
        </p:nvSpPr>
        <p:spPr>
          <a:xfrm>
            <a:off x="1051560" y="3931920"/>
            <a:ext cx="4389120" cy="411480"/>
          </a:xfrm>
          <a:prstGeom prst="rect">
            <a:avLst/>
          </a:prstGeom>
          <a:noFill/>
          <a:ln/>
        </p:spPr>
        <p:txBody>
          <a:bodyPr wrap="square" lIns="381" tIns="381" rIns="381" bIns="381" rtlCol="0" anchor="ctr">
            <a:normAutofit/>
          </a:bodyPr>
          <a:lstStyle/>
          <a:p>
            <a:pPr marL="0" indent="0" algn="ctr">
              <a:buNone/>
            </a:pPr>
            <a:r>
              <a:rPr lang="en-US" sz="1100" dirty="0">
                <a:solidFill>
                  <a:srgbClr val="F4F0E8"/>
                </a:solidFill>
                <a:latin typeface="Inter" pitchFamily="34" charset="0"/>
                <a:ea typeface="Aptos" pitchFamily="34" charset="-122"/>
                <a:cs typeface="Aptos" pitchFamily="34" charset="-120"/>
              </a:rPr>
              <a:t>Vai trò: xây authority, nâng nhận thức, tạo sự sáng tỏ.</a:t>
            </a:r>
            <a:endParaRPr lang="en-US" sz="1100" dirty="0"/>
          </a:p>
        </p:txBody>
      </p:sp>
      <p:sp>
        <p:nvSpPr>
          <p:cNvPr id="12" name="Shape 10"/>
          <p:cNvSpPr/>
          <p:nvPr/>
        </p:nvSpPr>
        <p:spPr>
          <a:xfrm>
            <a:off x="6446520" y="1828800"/>
            <a:ext cx="4983480" cy="3154680"/>
          </a:xfrm>
          <a:prstGeom prst="rect">
            <a:avLst/>
          </a:prstGeom>
          <a:solidFill>
            <a:srgbClr val="FFFFFF"/>
          </a:solidFill>
          <a:ln w="10160">
            <a:solidFill>
              <a:srgbClr val="D4A83F"/>
            </a:solidFill>
            <a:prstDash val="solid"/>
          </a:ln>
        </p:spPr>
        <p:txBody>
          <a:bodyPr/>
          <a:lstStyle/>
          <a:p>
            <a:endParaRPr/>
          </a:p>
        </p:txBody>
      </p:sp>
      <p:sp>
        <p:nvSpPr>
          <p:cNvPr id="13" name="Text 11"/>
          <p:cNvSpPr/>
          <p:nvPr/>
        </p:nvSpPr>
        <p:spPr>
          <a:xfrm>
            <a:off x="6720840" y="2176272"/>
            <a:ext cx="4389120" cy="365760"/>
          </a:xfrm>
          <a:prstGeom prst="rect">
            <a:avLst/>
          </a:prstGeom>
          <a:noFill/>
          <a:ln/>
        </p:spPr>
        <p:txBody>
          <a:bodyPr wrap="square" lIns="381" tIns="381" rIns="381" bIns="381" rtlCol="0" anchor="ctr">
            <a:normAutofit/>
          </a:bodyPr>
          <a:lstStyle/>
          <a:p>
            <a:pPr marL="0" indent="0" algn="ctr">
              <a:buNone/>
            </a:pPr>
            <a:r>
              <a:rPr lang="en-US" sz="2200" b="1" dirty="0">
                <a:solidFill>
                  <a:srgbClr val="071521"/>
                </a:solidFill>
                <a:latin typeface="SVN-Georgia" pitchFamily="34" charset="0"/>
                <a:ea typeface="SVN-Georgia" pitchFamily="34" charset="-122"/>
                <a:cs typeface="SVN-Georgia" pitchFamily="34" charset="-120"/>
              </a:rPr>
              <a:t>THE ADVISOR</a:t>
            </a:r>
            <a:endParaRPr lang="en-US" sz="2200" dirty="0"/>
          </a:p>
        </p:txBody>
      </p:sp>
      <p:sp>
        <p:nvSpPr>
          <p:cNvPr id="14" name="Text 12"/>
          <p:cNvSpPr/>
          <p:nvPr/>
        </p:nvSpPr>
        <p:spPr>
          <a:xfrm>
            <a:off x="6720840" y="2788920"/>
            <a:ext cx="4389120" cy="658368"/>
          </a:xfrm>
          <a:prstGeom prst="rect">
            <a:avLst/>
          </a:prstGeom>
          <a:noFill/>
          <a:ln/>
        </p:spPr>
        <p:txBody>
          <a:bodyPr wrap="square" lIns="381" tIns="381" rIns="381" bIns="381" rtlCol="0" anchor="ctr">
            <a:normAutofit/>
          </a:bodyPr>
          <a:lstStyle/>
          <a:p>
            <a:pPr marL="0" indent="0" algn="ctr">
              <a:buNone/>
            </a:pPr>
            <a:r>
              <a:rPr lang="en-US" sz="1400" b="1" dirty="0">
                <a:solidFill>
                  <a:srgbClr val="070707"/>
                </a:solidFill>
                <a:latin typeface="Inter" pitchFamily="34" charset="0"/>
                <a:ea typeface="Aptos" pitchFamily="34" charset="-122"/>
                <a:cs typeface="Aptos" pitchFamily="34" charset="-120"/>
              </a:rPr>
              <a:t>Thực tế · Minh bạch · Rõ ràng · Có trách nhiệm · Đưa ra bước hành động</a:t>
            </a:r>
            <a:endParaRPr lang="en-US" sz="1400" dirty="0"/>
          </a:p>
        </p:txBody>
      </p:sp>
      <p:sp>
        <p:nvSpPr>
          <p:cNvPr id="15" name="Text 13"/>
          <p:cNvSpPr/>
          <p:nvPr/>
        </p:nvSpPr>
        <p:spPr>
          <a:xfrm>
            <a:off x="6720840" y="3931920"/>
            <a:ext cx="4389120" cy="411480"/>
          </a:xfrm>
          <a:prstGeom prst="rect">
            <a:avLst/>
          </a:prstGeom>
          <a:noFill/>
          <a:ln/>
        </p:spPr>
        <p:txBody>
          <a:bodyPr wrap="square" lIns="381" tIns="381" rIns="381" bIns="381" rtlCol="0" anchor="ctr">
            <a:normAutofit/>
          </a:bodyPr>
          <a:lstStyle/>
          <a:p>
            <a:pPr marL="0" indent="0" algn="ctr">
              <a:buNone/>
            </a:pPr>
            <a:r>
              <a:rPr lang="en-US" sz="1100" dirty="0">
                <a:solidFill>
                  <a:srgbClr val="66717A"/>
                </a:solidFill>
                <a:latin typeface="Inter" pitchFamily="34" charset="0"/>
                <a:ea typeface="Aptos" pitchFamily="34" charset="-122"/>
                <a:cs typeface="Aptos" pitchFamily="34" charset="-120"/>
              </a:rPr>
              <a:t>Vai trò: chuyển đổi niềm tin thành tư vấn và giải pháp.</a:t>
            </a:r>
            <a:endParaRPr lang="en-US" sz="1100" dirty="0"/>
          </a:p>
        </p:txBody>
      </p:sp>
      <p:sp>
        <p:nvSpPr>
          <p:cNvPr id="16" name="Text 14"/>
          <p:cNvSpPr/>
          <p:nvPr/>
        </p:nvSpPr>
        <p:spPr>
          <a:xfrm>
            <a:off x="1097280" y="5715000"/>
            <a:ext cx="9966960" cy="320040"/>
          </a:xfrm>
          <a:prstGeom prst="rect">
            <a:avLst/>
          </a:prstGeom>
          <a:noFill/>
          <a:ln/>
        </p:spPr>
        <p:txBody>
          <a:bodyPr wrap="square" lIns="381" tIns="381" rIns="381" bIns="381" rtlCol="0" anchor="ctr">
            <a:normAutofit/>
          </a:bodyPr>
          <a:lstStyle/>
          <a:p>
            <a:pPr marL="0" indent="0" algn="ctr">
              <a:buNone/>
            </a:pPr>
            <a:r>
              <a:rPr lang="en-US" sz="1400" b="1" dirty="0">
                <a:solidFill>
                  <a:srgbClr val="E8CF8B"/>
                </a:solidFill>
                <a:latin typeface="Inter" pitchFamily="34" charset="0"/>
                <a:ea typeface="Aptos" pitchFamily="34" charset="-122"/>
                <a:cs typeface="Aptos" pitchFamily="34" charset="-120"/>
              </a:rPr>
              <a:t>Không khoe giàu. Không FOMO. Không phím hàng. Không cam kết lợi nhuận.</a:t>
            </a:r>
            <a:endParaRPr lang="en-US" sz="1400" dirty="0"/>
          </a:p>
        </p:txBody>
      </p:sp>
      <p:sp>
        <p:nvSpPr>
          <p:cNvPr id="17" name="Text 15"/>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18" name="Text 16"/>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731520" y="685800"/>
            <a:ext cx="1097280" cy="640080"/>
          </a:xfrm>
          <a:prstGeom prst="rect">
            <a:avLst/>
          </a:prstGeom>
          <a:noFill/>
          <a:ln/>
        </p:spPr>
        <p:txBody>
          <a:bodyPr wrap="square" lIns="381" tIns="381" rIns="381" bIns="381" rtlCol="0" anchor="ctr">
            <a:normAutofit/>
          </a:bodyPr>
          <a:lstStyle/>
          <a:p>
            <a:pPr marL="0" indent="0" algn="l">
              <a:buNone/>
            </a:pPr>
            <a:r>
              <a:rPr lang="en-US" sz="3400" b="1" dirty="0">
                <a:solidFill>
                  <a:srgbClr val="D4A83F"/>
                </a:solidFill>
                <a:latin typeface="SVN-Georgia" pitchFamily="34" charset="0"/>
                <a:ea typeface="SVN-Georgia" pitchFamily="34" charset="-122"/>
                <a:cs typeface="SVN-Georgia" pitchFamily="34" charset="-120"/>
              </a:rPr>
              <a:t>03</a:t>
            </a:r>
            <a:endParaRPr lang="en-US" sz="3400" dirty="0"/>
          </a:p>
        </p:txBody>
      </p:sp>
      <p:sp>
        <p:nvSpPr>
          <p:cNvPr id="4" name="Text 2"/>
          <p:cNvSpPr/>
          <p:nvPr/>
        </p:nvSpPr>
        <p:spPr>
          <a:xfrm>
            <a:off x="731520" y="1828800"/>
            <a:ext cx="6858000" cy="822960"/>
          </a:xfrm>
          <a:prstGeom prst="rect">
            <a:avLst/>
          </a:prstGeom>
          <a:noFill/>
          <a:ln/>
        </p:spPr>
        <p:txBody>
          <a:bodyPr wrap="square" lIns="381" tIns="381" rIns="381" bIns="381" rtlCol="0" anchor="ctr">
            <a:normAutofit/>
          </a:bodyPr>
          <a:lstStyle/>
          <a:p>
            <a:pPr marL="0" indent="0" algn="l">
              <a:buNone/>
            </a:pPr>
            <a:r>
              <a:rPr lang="en-US" sz="3000" b="1" dirty="0">
                <a:solidFill>
                  <a:srgbClr val="FFFFFF"/>
                </a:solidFill>
                <a:latin typeface="SVN-Georgia" pitchFamily="34" charset="0"/>
                <a:ea typeface="Aptos Display" pitchFamily="34" charset="-122"/>
                <a:cs typeface="Aptos Display" pitchFamily="34" charset="-120"/>
              </a:rPr>
              <a:t>VISUAL IDENTITY SYSTEM</a:t>
            </a:r>
            <a:endParaRPr lang="en-US" sz="3000" dirty="0"/>
          </a:p>
        </p:txBody>
      </p:sp>
      <p:sp>
        <p:nvSpPr>
          <p:cNvPr id="5" name="Text 3"/>
          <p:cNvSpPr/>
          <p:nvPr/>
        </p:nvSpPr>
        <p:spPr>
          <a:xfrm>
            <a:off x="777240" y="2743200"/>
            <a:ext cx="6583680" cy="640080"/>
          </a:xfrm>
          <a:prstGeom prst="rect">
            <a:avLst/>
          </a:prstGeom>
          <a:noFill/>
          <a:ln/>
        </p:spPr>
        <p:txBody>
          <a:bodyPr wrap="square" lIns="381" tIns="381" rIns="381" bIns="381" rtlCol="0" anchor="ctr">
            <a:normAutofit/>
          </a:bodyPr>
          <a:lstStyle/>
          <a:p>
            <a:pPr marL="0" indent="0" algn="l">
              <a:buNone/>
            </a:pPr>
            <a:r>
              <a:rPr lang="en-US" sz="1400" dirty="0">
                <a:solidFill>
                  <a:srgbClr val="E8CF8B"/>
                </a:solidFill>
                <a:latin typeface="Inter" pitchFamily="34" charset="0"/>
                <a:ea typeface="Aptos" pitchFamily="34" charset="-122"/>
                <a:cs typeface="Aptos" pitchFamily="34" charset="-120"/>
              </a:rPr>
              <a:t>Logo, màu sắc, typography, motif và quy chuẩn hình ảnh theo tinh thần Financial Wisdom Luxury.</a:t>
            </a:r>
            <a:endParaRPr lang="en-US" sz="1400" dirty="0"/>
          </a:p>
        </p:txBody>
      </p:sp>
      <p:sp>
        <p:nvSpPr>
          <p:cNvPr id="7" name="Text 4"/>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8" name="Text 5"/>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pic>
        <p:nvPicPr>
          <p:cNvPr id="9" name="Picture 8" descr="moneyfest_logo_gold_transparent.png"/>
          <p:cNvPicPr>
            <a:picLocks noChangeAspect="1"/>
          </p:cNvPicPr>
          <p:nvPr/>
        </p:nvPicPr>
        <p:blipFill>
          <a:blip r:embed="rId3"/>
          <a:stretch>
            <a:fillRect/>
          </a:stretch>
        </p:blipFill>
        <p:spPr>
          <a:xfrm>
            <a:off x="8915400" y="1801405"/>
            <a:ext cx="2331720" cy="160926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03 Visual Identity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13</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LOGO IDEA</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Monogram M – Tài Chính Thông Minh</a:t>
            </a:r>
            <a:endParaRPr lang="en-US" sz="2300" dirty="0"/>
          </a:p>
        </p:txBody>
      </p:sp>
      <p:sp>
        <p:nvSpPr>
          <p:cNvPr id="9" name="Text 6"/>
          <p:cNvSpPr/>
          <p:nvPr/>
        </p:nvSpPr>
        <p:spPr>
          <a:xfrm>
            <a:off x="5532120" y="2220310"/>
            <a:ext cx="1965960" cy="228600"/>
          </a:xfrm>
          <a:prstGeom prst="rect">
            <a:avLst/>
          </a:prstGeom>
          <a:noFill/>
          <a:ln/>
        </p:spPr>
        <p:txBody>
          <a:bodyPr wrap="square" lIns="381" tIns="381" rIns="381" bIns="381" rtlCol="0" anchor="ctr">
            <a:normAutofit/>
          </a:bodyPr>
          <a:lstStyle/>
          <a:p>
            <a:pPr marL="0" indent="0" algn="l">
              <a:buNone/>
            </a:pPr>
            <a:r>
              <a:rPr lang="en-US" sz="1150" b="1" dirty="0">
                <a:solidFill>
                  <a:srgbClr val="D4A83F"/>
                </a:solidFill>
                <a:latin typeface="Inter" pitchFamily="34" charset="0"/>
                <a:ea typeface="Aptos" pitchFamily="34" charset="-122"/>
                <a:cs typeface="Aptos" pitchFamily="34" charset="-120"/>
              </a:rPr>
              <a:t>Ngôi sao Bắc Đẩu</a:t>
            </a:r>
            <a:endParaRPr lang="en-US" sz="1150" dirty="0"/>
          </a:p>
        </p:txBody>
      </p:sp>
      <p:sp>
        <p:nvSpPr>
          <p:cNvPr id="10" name="Text 7"/>
          <p:cNvSpPr/>
          <p:nvPr/>
        </p:nvSpPr>
        <p:spPr>
          <a:xfrm>
            <a:off x="8183880" y="2202022"/>
            <a:ext cx="2834640" cy="384048"/>
          </a:xfrm>
          <a:prstGeom prst="rect">
            <a:avLst/>
          </a:prstGeom>
          <a:noFill/>
          <a:ln/>
        </p:spPr>
        <p:txBody>
          <a:bodyPr wrap="square" lIns="381" tIns="381" rIns="381" bIns="381" rtlCol="0" anchor="ctr">
            <a:normAutofit/>
          </a:bodyPr>
          <a:lstStyle/>
          <a:p>
            <a:pPr marL="0" indent="0" algn="l">
              <a:buNone/>
            </a:pPr>
            <a:r>
              <a:rPr lang="en-US" sz="1030" dirty="0">
                <a:solidFill>
                  <a:srgbClr val="070707"/>
                </a:solidFill>
                <a:latin typeface="Inter" pitchFamily="34" charset="0"/>
                <a:ea typeface="Aptos" pitchFamily="34" charset="-122"/>
                <a:cs typeface="Aptos" pitchFamily="34" charset="-120"/>
              </a:rPr>
              <a:t>Định hướng, dẫn đường, giữ phương hướng khi thị trường biến động.</a:t>
            </a:r>
            <a:endParaRPr lang="en-US" sz="1030" dirty="0"/>
          </a:p>
        </p:txBody>
      </p:sp>
      <p:sp>
        <p:nvSpPr>
          <p:cNvPr id="11" name="Text 8"/>
          <p:cNvSpPr/>
          <p:nvPr/>
        </p:nvSpPr>
        <p:spPr>
          <a:xfrm>
            <a:off x="5532120" y="3061558"/>
            <a:ext cx="1965960" cy="228600"/>
          </a:xfrm>
          <a:prstGeom prst="rect">
            <a:avLst/>
          </a:prstGeom>
          <a:noFill/>
          <a:ln/>
        </p:spPr>
        <p:txBody>
          <a:bodyPr wrap="square" lIns="381" tIns="381" rIns="381" bIns="381" rtlCol="0" anchor="ctr">
            <a:normAutofit/>
          </a:bodyPr>
          <a:lstStyle/>
          <a:p>
            <a:pPr marL="0" indent="0" algn="l">
              <a:buNone/>
            </a:pPr>
            <a:r>
              <a:rPr lang="en-US" sz="1150" b="1" dirty="0">
                <a:solidFill>
                  <a:srgbClr val="D4A83F"/>
                </a:solidFill>
                <a:latin typeface="Inter" pitchFamily="34" charset="0"/>
                <a:ea typeface="Aptos" pitchFamily="34" charset="-122"/>
                <a:cs typeface="Aptos" pitchFamily="34" charset="-120"/>
              </a:rPr>
              <a:t>Đồng xu</a:t>
            </a:r>
            <a:endParaRPr lang="en-US" sz="1150" dirty="0"/>
          </a:p>
        </p:txBody>
      </p:sp>
      <p:sp>
        <p:nvSpPr>
          <p:cNvPr id="12" name="Text 9"/>
          <p:cNvSpPr/>
          <p:nvPr/>
        </p:nvSpPr>
        <p:spPr>
          <a:xfrm>
            <a:off x="8183880" y="3043270"/>
            <a:ext cx="2834640" cy="384048"/>
          </a:xfrm>
          <a:prstGeom prst="rect">
            <a:avLst/>
          </a:prstGeom>
          <a:noFill/>
          <a:ln/>
        </p:spPr>
        <p:txBody>
          <a:bodyPr wrap="square" lIns="381" tIns="381" rIns="381" bIns="381" rtlCol="0" anchor="ctr">
            <a:normAutofit/>
          </a:bodyPr>
          <a:lstStyle/>
          <a:p>
            <a:pPr marL="0" indent="0" algn="l">
              <a:buNone/>
            </a:pPr>
            <a:r>
              <a:rPr lang="en-US" sz="1030" dirty="0">
                <a:solidFill>
                  <a:srgbClr val="070707"/>
                </a:solidFill>
                <a:latin typeface="Inter" pitchFamily="34" charset="0"/>
                <a:ea typeface="Aptos" pitchFamily="34" charset="-122"/>
                <a:cs typeface="Aptos" pitchFamily="34" charset="-120"/>
              </a:rPr>
              <a:t>Tài sản, tích lũy, giá trị và các quyết định tài chính.</a:t>
            </a:r>
            <a:endParaRPr lang="en-US" sz="1030" dirty="0"/>
          </a:p>
        </p:txBody>
      </p:sp>
      <p:sp>
        <p:nvSpPr>
          <p:cNvPr id="13" name="Text 10"/>
          <p:cNvSpPr/>
          <p:nvPr/>
        </p:nvSpPr>
        <p:spPr>
          <a:xfrm>
            <a:off x="5532120" y="3902806"/>
            <a:ext cx="1965960" cy="228600"/>
          </a:xfrm>
          <a:prstGeom prst="rect">
            <a:avLst/>
          </a:prstGeom>
          <a:noFill/>
          <a:ln/>
        </p:spPr>
        <p:txBody>
          <a:bodyPr wrap="square" lIns="381" tIns="381" rIns="381" bIns="381" rtlCol="0" anchor="ctr">
            <a:normAutofit/>
          </a:bodyPr>
          <a:lstStyle/>
          <a:p>
            <a:pPr marL="0" indent="0" algn="l">
              <a:buNone/>
            </a:pPr>
            <a:r>
              <a:rPr lang="en-US" sz="1150" b="1" dirty="0">
                <a:solidFill>
                  <a:srgbClr val="D4A83F"/>
                </a:solidFill>
                <a:latin typeface="Inter" pitchFamily="34" charset="0"/>
                <a:ea typeface="Aptos" pitchFamily="34" charset="-122"/>
                <a:cs typeface="Aptos" pitchFamily="34" charset="-120"/>
              </a:rPr>
              <a:t>Vòng tròn</a:t>
            </a:r>
            <a:endParaRPr lang="en-US" sz="1150" dirty="0"/>
          </a:p>
        </p:txBody>
      </p:sp>
      <p:sp>
        <p:nvSpPr>
          <p:cNvPr id="14" name="Text 11"/>
          <p:cNvSpPr/>
          <p:nvPr/>
        </p:nvSpPr>
        <p:spPr>
          <a:xfrm>
            <a:off x="8183880" y="3884518"/>
            <a:ext cx="2834640" cy="384048"/>
          </a:xfrm>
          <a:prstGeom prst="rect">
            <a:avLst/>
          </a:prstGeom>
          <a:noFill/>
          <a:ln/>
        </p:spPr>
        <p:txBody>
          <a:bodyPr wrap="square" lIns="381" tIns="381" rIns="381" bIns="381" rtlCol="0" anchor="ctr">
            <a:normAutofit/>
          </a:bodyPr>
          <a:lstStyle/>
          <a:p>
            <a:pPr marL="0" indent="0" algn="l">
              <a:buNone/>
            </a:pPr>
            <a:r>
              <a:rPr lang="en-US" sz="1030" dirty="0">
                <a:solidFill>
                  <a:srgbClr val="070707"/>
                </a:solidFill>
                <a:latin typeface="Inter" pitchFamily="34" charset="0"/>
                <a:ea typeface="Aptos" pitchFamily="34" charset="-122"/>
                <a:cs typeface="Aptos" pitchFamily="34" charset="-120"/>
              </a:rPr>
              <a:t>Hệ sinh thái, sự bảo vệ, tính toàn diện và chu kỳ tăng trưởng.</a:t>
            </a:r>
            <a:endParaRPr lang="en-US" sz="1030" dirty="0"/>
          </a:p>
        </p:txBody>
      </p:sp>
      <p:sp>
        <p:nvSpPr>
          <p:cNvPr id="15" name="Text 12"/>
          <p:cNvSpPr/>
          <p:nvPr/>
        </p:nvSpPr>
        <p:spPr>
          <a:xfrm>
            <a:off x="5532120" y="4744054"/>
            <a:ext cx="1965960" cy="228600"/>
          </a:xfrm>
          <a:prstGeom prst="rect">
            <a:avLst/>
          </a:prstGeom>
          <a:noFill/>
          <a:ln/>
        </p:spPr>
        <p:txBody>
          <a:bodyPr wrap="square" lIns="381" tIns="381" rIns="381" bIns="381" rtlCol="0" anchor="ctr">
            <a:normAutofit/>
          </a:bodyPr>
          <a:lstStyle/>
          <a:p>
            <a:pPr marL="0" indent="0" algn="l">
              <a:buNone/>
            </a:pPr>
            <a:r>
              <a:rPr lang="en-US" sz="1150" b="1" dirty="0">
                <a:solidFill>
                  <a:srgbClr val="D4A83F"/>
                </a:solidFill>
                <a:latin typeface="Inter" pitchFamily="34" charset="0"/>
                <a:ea typeface="Aptos" pitchFamily="34" charset="-122"/>
                <a:cs typeface="Aptos" pitchFamily="34" charset="-120"/>
              </a:rPr>
              <a:t>Finance · Legacy · Integrity</a:t>
            </a:r>
            <a:endParaRPr lang="en-US" sz="1150" dirty="0"/>
          </a:p>
        </p:txBody>
      </p:sp>
      <p:sp>
        <p:nvSpPr>
          <p:cNvPr id="16" name="Text 13"/>
          <p:cNvSpPr/>
          <p:nvPr/>
        </p:nvSpPr>
        <p:spPr>
          <a:xfrm>
            <a:off x="8183880" y="4725766"/>
            <a:ext cx="2834640" cy="384048"/>
          </a:xfrm>
          <a:prstGeom prst="rect">
            <a:avLst/>
          </a:prstGeom>
          <a:noFill/>
          <a:ln/>
        </p:spPr>
        <p:txBody>
          <a:bodyPr wrap="square" lIns="381" tIns="381" rIns="381" bIns="381" rtlCol="0" anchor="ctr">
            <a:normAutofit/>
          </a:bodyPr>
          <a:lstStyle/>
          <a:p>
            <a:pPr marL="0" indent="0" algn="l">
              <a:buNone/>
            </a:pPr>
            <a:r>
              <a:rPr lang="en-US" sz="1030" dirty="0">
                <a:solidFill>
                  <a:srgbClr val="070707"/>
                </a:solidFill>
                <a:latin typeface="Inter" pitchFamily="34" charset="0"/>
                <a:ea typeface="Aptos" pitchFamily="34" charset="-122"/>
                <a:cs typeface="Aptos" pitchFamily="34" charset="-120"/>
              </a:rPr>
              <a:t>Tài chính, di sản và chính trực là lời hứa nền tảng.</a:t>
            </a:r>
            <a:endParaRPr lang="en-US" sz="1030" dirty="0"/>
          </a:p>
        </p:txBody>
      </p:sp>
      <p:sp>
        <p:nvSpPr>
          <p:cNvPr id="17" name="Text 14"/>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18" name="Text 15"/>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pic>
        <p:nvPicPr>
          <p:cNvPr id="19" name="Picture 18" descr="moneyfest_logo_gold_transparent.png"/>
          <p:cNvPicPr>
            <a:picLocks noChangeAspect="1"/>
          </p:cNvPicPr>
          <p:nvPr/>
        </p:nvPicPr>
        <p:blipFill>
          <a:blip r:embed="rId3"/>
          <a:stretch>
            <a:fillRect/>
          </a:stretch>
        </p:blipFill>
        <p:spPr>
          <a:xfrm>
            <a:off x="1127549" y="2884204"/>
            <a:ext cx="3322741" cy="22932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0E8"/>
          </a:solidFill>
          <a:ln w="12700">
            <a:solidFill>
              <a:srgbClr val="F4F0E8">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03 Visual Identity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14</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LOGO CLEAR SPACE &amp; CONSTRUCTION</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Khoảng cách an toàn</a:t>
            </a:r>
            <a:endParaRPr lang="en-US" sz="2300" dirty="0"/>
          </a:p>
        </p:txBody>
      </p:sp>
      <p:sp>
        <p:nvSpPr>
          <p:cNvPr id="12" name="Text 9"/>
          <p:cNvSpPr/>
          <p:nvPr/>
        </p:nvSpPr>
        <p:spPr>
          <a:xfrm>
            <a:off x="7360920" y="2144176"/>
            <a:ext cx="1828800" cy="274320"/>
          </a:xfrm>
          <a:prstGeom prst="rect">
            <a:avLst/>
          </a:prstGeom>
          <a:noFill/>
          <a:ln/>
        </p:spPr>
        <p:txBody>
          <a:bodyPr wrap="square" lIns="381" tIns="381" rIns="381" bIns="381" rtlCol="0" anchor="ctr">
            <a:normAutofit/>
          </a:bodyPr>
          <a:lstStyle/>
          <a:p>
            <a:pPr marL="0" indent="0" algn="l">
              <a:buNone/>
            </a:pPr>
            <a:r>
              <a:rPr lang="en-US" sz="1300" b="1" dirty="0">
                <a:solidFill>
                  <a:srgbClr val="071521"/>
                </a:solidFill>
                <a:latin typeface="Inter" pitchFamily="34" charset="0"/>
                <a:ea typeface="Aptos" pitchFamily="34" charset="-122"/>
                <a:cs typeface="Aptos" pitchFamily="34" charset="-120"/>
              </a:rPr>
              <a:t>Quy ước</a:t>
            </a:r>
            <a:endParaRPr lang="en-US" sz="1300" dirty="0"/>
          </a:p>
        </p:txBody>
      </p:sp>
      <p:sp>
        <p:nvSpPr>
          <p:cNvPr id="13" name="Text 10"/>
          <p:cNvSpPr/>
          <p:nvPr/>
        </p:nvSpPr>
        <p:spPr>
          <a:xfrm>
            <a:off x="7360920" y="2583088"/>
            <a:ext cx="3566160" cy="1554480"/>
          </a:xfrm>
          <a:prstGeom prst="rect">
            <a:avLst/>
          </a:prstGeom>
          <a:noFill/>
          <a:ln/>
        </p:spPr>
        <p:txBody>
          <a:bodyPr wrap="square" lIns="635" tIns="635" rIns="635" bIns="635" rtlCol="0" anchor="ctr">
            <a:normAutofit/>
          </a:bodyPr>
          <a:lstStyle/>
          <a:p>
            <a:pPr marL="0" indent="0">
              <a:buNone/>
            </a:pPr>
            <a:r>
              <a:rPr lang="en-US" sz="1110" dirty="0">
                <a:solidFill>
                  <a:srgbClr val="070707"/>
                </a:solidFill>
                <a:latin typeface="Inter" pitchFamily="34" charset="0"/>
                <a:ea typeface="Aptos" pitchFamily="34" charset="-122"/>
                <a:cs typeface="Aptos" pitchFamily="34" charset="-120"/>
              </a:rPr>
              <a:t>• Dùng chiều cao chữ M trong Moneyfest làm đơn vị X.• Giữ tối thiểu 1X quanh logo ở mọi cạnh.• Không đặt chữ, icon, ảnh hoặc QR trong vùng an toàn.• Kích thước tối thiểu bản digital: 120px chiều rộng.</a:t>
            </a:r>
            <a:endParaRPr lang="en-US" sz="1110" dirty="0"/>
          </a:p>
        </p:txBody>
      </p:sp>
      <p:sp>
        <p:nvSpPr>
          <p:cNvPr id="14" name="Text 11"/>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15" name="Text 12"/>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grpSp>
        <p:nvGrpSpPr>
          <p:cNvPr id="9" name="Group 8"/>
          <p:cNvGrpSpPr/>
          <p:nvPr/>
        </p:nvGrpSpPr>
        <p:grpSpPr>
          <a:xfrm>
            <a:off x="1856232" y="1745198"/>
            <a:ext cx="4590288" cy="4599432"/>
            <a:chOff x="2057400" y="1234440"/>
            <a:chExt cx="4590288" cy="4599432"/>
          </a:xfrm>
        </p:grpSpPr>
        <p:sp>
          <p:nvSpPr>
            <p:cNvPr id="8" name="Shape 6"/>
            <p:cNvSpPr/>
            <p:nvPr/>
          </p:nvSpPr>
          <p:spPr>
            <a:xfrm>
              <a:off x="2057400" y="1691640"/>
              <a:ext cx="4389120" cy="3749040"/>
            </a:xfrm>
            <a:prstGeom prst="rect">
              <a:avLst/>
            </a:prstGeom>
            <a:solidFill>
              <a:srgbClr val="070707"/>
            </a:solidFill>
            <a:ln w="10160">
              <a:solidFill>
                <a:srgbClr val="D4A83F"/>
              </a:solidFill>
              <a:prstDash val="solid"/>
            </a:ln>
          </p:spPr>
          <p:txBody>
            <a:bodyPr/>
            <a:lstStyle/>
            <a:p>
              <a:endParaRPr/>
            </a:p>
          </p:txBody>
        </p:sp>
        <p:sp>
          <p:nvSpPr>
            <p:cNvPr id="10" name="Text 7"/>
            <p:cNvSpPr/>
            <p:nvPr/>
          </p:nvSpPr>
          <p:spPr>
            <a:xfrm>
              <a:off x="2075688" y="1234440"/>
              <a:ext cx="228600" cy="18288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X</a:t>
              </a:r>
              <a:endParaRPr lang="en-US" sz="800" dirty="0"/>
            </a:p>
          </p:txBody>
        </p:sp>
        <p:sp>
          <p:nvSpPr>
            <p:cNvPr id="11" name="Text 8"/>
            <p:cNvSpPr/>
            <p:nvPr/>
          </p:nvSpPr>
          <p:spPr>
            <a:xfrm>
              <a:off x="6419088" y="5650992"/>
              <a:ext cx="228600" cy="18288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X</a:t>
              </a:r>
              <a:endParaRPr lang="en-US" sz="800" dirty="0"/>
            </a:p>
          </p:txBody>
        </p:sp>
        <p:pic>
          <p:nvPicPr>
            <p:cNvPr id="16" name="Picture 15" descr="moneyfest_logo_gold_transparent.png"/>
            <p:cNvPicPr>
              <a:picLocks noChangeAspect="1"/>
            </p:cNvPicPr>
            <p:nvPr/>
          </p:nvPicPr>
          <p:blipFill>
            <a:blip r:embed="rId3"/>
            <a:stretch>
              <a:fillRect/>
            </a:stretch>
          </p:blipFill>
          <p:spPr>
            <a:xfrm>
              <a:off x="3114766" y="2728507"/>
              <a:ext cx="2228668" cy="1538146"/>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03 Visual Identity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15</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LOGO COLOR VARIATION</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Các phiên bản sử dụng</a:t>
            </a:r>
            <a:endParaRPr lang="en-US" sz="2300" dirty="0"/>
          </a:p>
        </p:txBody>
      </p:sp>
      <p:sp>
        <p:nvSpPr>
          <p:cNvPr id="8" name="Shape 6"/>
          <p:cNvSpPr/>
          <p:nvPr/>
        </p:nvSpPr>
        <p:spPr>
          <a:xfrm>
            <a:off x="777240" y="1828800"/>
            <a:ext cx="4983480" cy="1417320"/>
          </a:xfrm>
          <a:prstGeom prst="rect">
            <a:avLst/>
          </a:prstGeom>
          <a:solidFill>
            <a:srgbClr val="070707"/>
          </a:solidFill>
          <a:ln w="6350">
            <a:solidFill>
              <a:srgbClr val="D7D7D7"/>
            </a:solidFill>
            <a:prstDash val="solid"/>
          </a:ln>
        </p:spPr>
        <p:txBody>
          <a:bodyPr/>
          <a:lstStyle/>
          <a:p>
            <a:endParaRPr/>
          </a:p>
        </p:txBody>
      </p:sp>
      <p:sp>
        <p:nvSpPr>
          <p:cNvPr id="10" name="Text 7"/>
          <p:cNvSpPr/>
          <p:nvPr/>
        </p:nvSpPr>
        <p:spPr>
          <a:xfrm>
            <a:off x="777240" y="3346704"/>
            <a:ext cx="4937760" cy="228600"/>
          </a:xfrm>
          <a:prstGeom prst="rect">
            <a:avLst/>
          </a:prstGeom>
          <a:noFill/>
          <a:ln/>
        </p:spPr>
        <p:txBody>
          <a:bodyPr wrap="square" lIns="381" tIns="381" rIns="381" bIns="381" rtlCol="0" anchor="ctr">
            <a:normAutofit/>
          </a:bodyPr>
          <a:lstStyle/>
          <a:p>
            <a:pPr marL="0" indent="0" algn="ctr">
              <a:buNone/>
            </a:pPr>
            <a:r>
              <a:rPr lang="en-US" sz="950" b="1" dirty="0">
                <a:solidFill>
                  <a:srgbClr val="071521"/>
                </a:solidFill>
                <a:latin typeface="Inter" pitchFamily="34" charset="0"/>
                <a:ea typeface="Aptos" pitchFamily="34" charset="-122"/>
                <a:cs typeface="Aptos" pitchFamily="34" charset="-120"/>
              </a:rPr>
              <a:t>Primary full color</a:t>
            </a:r>
            <a:endParaRPr lang="en-US" sz="950" dirty="0"/>
          </a:p>
        </p:txBody>
      </p:sp>
      <p:sp>
        <p:nvSpPr>
          <p:cNvPr id="11" name="Shape 8"/>
          <p:cNvSpPr/>
          <p:nvPr/>
        </p:nvSpPr>
        <p:spPr>
          <a:xfrm>
            <a:off x="6355080" y="1828800"/>
            <a:ext cx="4983480" cy="1417320"/>
          </a:xfrm>
          <a:prstGeom prst="rect">
            <a:avLst/>
          </a:prstGeom>
          <a:solidFill>
            <a:srgbClr val="071521"/>
          </a:solidFill>
          <a:ln w="6350">
            <a:solidFill>
              <a:srgbClr val="D7D7D7"/>
            </a:solidFill>
            <a:prstDash val="solid"/>
          </a:ln>
        </p:spPr>
        <p:txBody>
          <a:bodyPr/>
          <a:lstStyle/>
          <a:p>
            <a:endParaRPr/>
          </a:p>
        </p:txBody>
      </p:sp>
      <p:sp>
        <p:nvSpPr>
          <p:cNvPr id="13" name="Text 9"/>
          <p:cNvSpPr/>
          <p:nvPr/>
        </p:nvSpPr>
        <p:spPr>
          <a:xfrm>
            <a:off x="6355080" y="3346704"/>
            <a:ext cx="4937760" cy="228600"/>
          </a:xfrm>
          <a:prstGeom prst="rect">
            <a:avLst/>
          </a:prstGeom>
          <a:noFill/>
          <a:ln/>
        </p:spPr>
        <p:txBody>
          <a:bodyPr wrap="square" lIns="381" tIns="381" rIns="381" bIns="381" rtlCol="0" anchor="ctr">
            <a:normAutofit/>
          </a:bodyPr>
          <a:lstStyle/>
          <a:p>
            <a:pPr marL="0" indent="0" algn="ctr">
              <a:buNone/>
            </a:pPr>
            <a:r>
              <a:rPr lang="en-US" sz="950" b="1" dirty="0">
                <a:solidFill>
                  <a:srgbClr val="071521"/>
                </a:solidFill>
                <a:latin typeface="Inter" pitchFamily="34" charset="0"/>
                <a:ea typeface="Aptos" pitchFamily="34" charset="-122"/>
                <a:cs typeface="Aptos" pitchFamily="34" charset="-120"/>
              </a:rPr>
              <a:t>Reverse on navy</a:t>
            </a:r>
            <a:endParaRPr lang="en-US" sz="950" dirty="0"/>
          </a:p>
        </p:txBody>
      </p:sp>
      <p:sp>
        <p:nvSpPr>
          <p:cNvPr id="14" name="Shape 10"/>
          <p:cNvSpPr/>
          <p:nvPr/>
        </p:nvSpPr>
        <p:spPr>
          <a:xfrm>
            <a:off x="777240" y="3703320"/>
            <a:ext cx="4983480" cy="1417320"/>
          </a:xfrm>
          <a:prstGeom prst="rect">
            <a:avLst/>
          </a:prstGeom>
          <a:solidFill>
            <a:srgbClr val="070707"/>
          </a:solidFill>
          <a:ln w="6350">
            <a:solidFill>
              <a:srgbClr val="D7D7D7"/>
            </a:solidFill>
            <a:prstDash val="solid"/>
          </a:ln>
        </p:spPr>
        <p:txBody>
          <a:bodyPr/>
          <a:lstStyle/>
          <a:p>
            <a:endParaRPr/>
          </a:p>
        </p:txBody>
      </p:sp>
      <p:sp>
        <p:nvSpPr>
          <p:cNvPr id="16" name="Text 11"/>
          <p:cNvSpPr/>
          <p:nvPr/>
        </p:nvSpPr>
        <p:spPr>
          <a:xfrm>
            <a:off x="777240" y="5221224"/>
            <a:ext cx="4937760" cy="228600"/>
          </a:xfrm>
          <a:prstGeom prst="rect">
            <a:avLst/>
          </a:prstGeom>
          <a:noFill/>
          <a:ln/>
        </p:spPr>
        <p:txBody>
          <a:bodyPr wrap="square" lIns="381" tIns="381" rIns="381" bIns="381" rtlCol="0" anchor="ctr">
            <a:normAutofit/>
          </a:bodyPr>
          <a:lstStyle/>
          <a:p>
            <a:pPr marL="0" indent="0" algn="ctr">
              <a:buNone/>
            </a:pPr>
            <a:r>
              <a:rPr lang="en-US" sz="950" b="1" dirty="0">
                <a:solidFill>
                  <a:srgbClr val="071521"/>
                </a:solidFill>
                <a:latin typeface="Inter" pitchFamily="34" charset="0"/>
                <a:ea typeface="Aptos" pitchFamily="34" charset="-122"/>
                <a:cs typeface="Aptos" pitchFamily="34" charset="-120"/>
              </a:rPr>
              <a:t>Premium gold on black</a:t>
            </a:r>
            <a:endParaRPr lang="en-US" sz="950" dirty="0"/>
          </a:p>
        </p:txBody>
      </p:sp>
      <p:sp>
        <p:nvSpPr>
          <p:cNvPr id="17" name="Shape 12"/>
          <p:cNvSpPr/>
          <p:nvPr/>
        </p:nvSpPr>
        <p:spPr>
          <a:xfrm>
            <a:off x="6355080" y="3703320"/>
            <a:ext cx="4983480" cy="1417320"/>
          </a:xfrm>
          <a:prstGeom prst="rect">
            <a:avLst/>
          </a:prstGeom>
          <a:solidFill>
            <a:srgbClr val="F4F0E8"/>
          </a:solidFill>
          <a:ln w="6350">
            <a:solidFill>
              <a:srgbClr val="D7D7D7"/>
            </a:solidFill>
            <a:prstDash val="solid"/>
          </a:ln>
        </p:spPr>
        <p:txBody>
          <a:bodyPr/>
          <a:lstStyle/>
          <a:p>
            <a:endParaRPr/>
          </a:p>
        </p:txBody>
      </p:sp>
      <p:sp>
        <p:nvSpPr>
          <p:cNvPr id="19" name="Text 13"/>
          <p:cNvSpPr/>
          <p:nvPr/>
        </p:nvSpPr>
        <p:spPr>
          <a:xfrm>
            <a:off x="6355080" y="5221224"/>
            <a:ext cx="4937760" cy="228600"/>
          </a:xfrm>
          <a:prstGeom prst="rect">
            <a:avLst/>
          </a:prstGeom>
          <a:noFill/>
          <a:ln/>
        </p:spPr>
        <p:txBody>
          <a:bodyPr wrap="square" lIns="381" tIns="381" rIns="381" bIns="381" rtlCol="0" anchor="ctr">
            <a:normAutofit/>
          </a:bodyPr>
          <a:lstStyle/>
          <a:p>
            <a:pPr marL="0" indent="0" algn="ctr">
              <a:buNone/>
            </a:pPr>
            <a:r>
              <a:rPr lang="en-US" sz="950" b="1" dirty="0">
                <a:solidFill>
                  <a:srgbClr val="071521"/>
                </a:solidFill>
                <a:latin typeface="Inter" pitchFamily="34" charset="0"/>
                <a:ea typeface="Aptos" pitchFamily="34" charset="-122"/>
                <a:cs typeface="Aptos" pitchFamily="34" charset="-120"/>
              </a:rPr>
              <a:t>Editorial light background</a:t>
            </a:r>
            <a:endParaRPr lang="en-US" sz="950" dirty="0"/>
          </a:p>
        </p:txBody>
      </p:sp>
      <p:sp>
        <p:nvSpPr>
          <p:cNvPr id="20" name="Text 14"/>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21" name="Text 15"/>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pic>
        <p:nvPicPr>
          <p:cNvPr id="22" name="Picture 21" descr="moneyfest_logo_gold_transparent.png"/>
          <p:cNvPicPr>
            <a:picLocks noChangeAspect="1"/>
          </p:cNvPicPr>
          <p:nvPr/>
        </p:nvPicPr>
        <p:blipFill>
          <a:blip r:embed="rId3"/>
          <a:stretch>
            <a:fillRect/>
          </a:stretch>
        </p:blipFill>
        <p:spPr>
          <a:xfrm>
            <a:off x="2782725" y="2206436"/>
            <a:ext cx="972510" cy="671191"/>
          </a:xfrm>
          <a:prstGeom prst="rect">
            <a:avLst/>
          </a:prstGeom>
        </p:spPr>
      </p:pic>
      <p:pic>
        <p:nvPicPr>
          <p:cNvPr id="23" name="Picture 22" descr="moneyfest_logo_gold_transparent.png"/>
          <p:cNvPicPr>
            <a:picLocks noChangeAspect="1"/>
          </p:cNvPicPr>
          <p:nvPr/>
        </p:nvPicPr>
        <p:blipFill>
          <a:blip r:embed="rId3"/>
          <a:stretch>
            <a:fillRect/>
          </a:stretch>
        </p:blipFill>
        <p:spPr>
          <a:xfrm>
            <a:off x="8360565" y="2206436"/>
            <a:ext cx="972510" cy="671191"/>
          </a:xfrm>
          <a:prstGeom prst="rect">
            <a:avLst/>
          </a:prstGeom>
        </p:spPr>
      </p:pic>
      <p:pic>
        <p:nvPicPr>
          <p:cNvPr id="24" name="Picture 23" descr="moneyfest_logo_gold_transparent.png"/>
          <p:cNvPicPr>
            <a:picLocks noChangeAspect="1"/>
          </p:cNvPicPr>
          <p:nvPr/>
        </p:nvPicPr>
        <p:blipFill>
          <a:blip r:embed="rId3"/>
          <a:stretch>
            <a:fillRect/>
          </a:stretch>
        </p:blipFill>
        <p:spPr>
          <a:xfrm>
            <a:off x="2782725" y="4080956"/>
            <a:ext cx="972510" cy="671191"/>
          </a:xfrm>
          <a:prstGeom prst="rect">
            <a:avLst/>
          </a:prstGeom>
        </p:spPr>
      </p:pic>
      <p:pic>
        <p:nvPicPr>
          <p:cNvPr id="25" name="Picture 24" descr="moneyfest_logo_gold_transparent.png"/>
          <p:cNvPicPr>
            <a:picLocks noChangeAspect="1"/>
          </p:cNvPicPr>
          <p:nvPr/>
        </p:nvPicPr>
        <p:blipFill>
          <a:blip r:embed="rId3"/>
          <a:stretch>
            <a:fillRect/>
          </a:stretch>
        </p:blipFill>
        <p:spPr>
          <a:xfrm>
            <a:off x="8360565" y="4080956"/>
            <a:ext cx="972510" cy="67119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03 Visual Identity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16</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LOGO MISUSE</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Không được làm sai</a:t>
            </a:r>
            <a:endParaRPr lang="en-US" sz="2300" dirty="0"/>
          </a:p>
        </p:txBody>
      </p:sp>
      <p:sp>
        <p:nvSpPr>
          <p:cNvPr id="8" name="Shape 6"/>
          <p:cNvSpPr/>
          <p:nvPr/>
        </p:nvSpPr>
        <p:spPr>
          <a:xfrm>
            <a:off x="822960" y="1874520"/>
            <a:ext cx="4754880" cy="658368"/>
          </a:xfrm>
          <a:prstGeom prst="rect">
            <a:avLst/>
          </a:prstGeom>
          <a:solidFill>
            <a:srgbClr val="F4F0E8"/>
          </a:solidFill>
          <a:ln w="6350">
            <a:solidFill>
              <a:srgbClr val="D7D7D7"/>
            </a:solidFill>
            <a:prstDash val="solid"/>
          </a:ln>
        </p:spPr>
        <p:txBody>
          <a:bodyPr/>
          <a:lstStyle/>
          <a:p>
            <a:endParaRPr/>
          </a:p>
        </p:txBody>
      </p:sp>
      <p:sp>
        <p:nvSpPr>
          <p:cNvPr id="9" name="Text 7"/>
          <p:cNvSpPr/>
          <p:nvPr/>
        </p:nvSpPr>
        <p:spPr>
          <a:xfrm>
            <a:off x="987552" y="2011680"/>
            <a:ext cx="274320" cy="274320"/>
          </a:xfrm>
          <a:prstGeom prst="rect">
            <a:avLst/>
          </a:prstGeom>
          <a:noFill/>
          <a:ln/>
        </p:spPr>
        <p:txBody>
          <a:bodyPr wrap="square" lIns="381" tIns="381" rIns="381" bIns="381" rtlCol="0" anchor="ctr">
            <a:normAutofit/>
          </a:bodyPr>
          <a:lstStyle/>
          <a:p>
            <a:pPr marL="0" indent="0" algn="l">
              <a:buNone/>
            </a:pPr>
            <a:r>
              <a:rPr lang="en-US" sz="1400" b="1" dirty="0">
                <a:solidFill>
                  <a:srgbClr val="B00020"/>
                </a:solidFill>
                <a:latin typeface="Inter" pitchFamily="34" charset="0"/>
                <a:ea typeface="Aptos" pitchFamily="34" charset="-122"/>
                <a:cs typeface="Aptos" pitchFamily="34" charset="-120"/>
              </a:rPr>
              <a:t>✕</a:t>
            </a:r>
            <a:endParaRPr lang="en-US" sz="1400" dirty="0"/>
          </a:p>
        </p:txBody>
      </p:sp>
      <p:sp>
        <p:nvSpPr>
          <p:cNvPr id="10" name="Text 8"/>
          <p:cNvSpPr/>
          <p:nvPr/>
        </p:nvSpPr>
        <p:spPr>
          <a:xfrm>
            <a:off x="1417320" y="2011680"/>
            <a:ext cx="3977640" cy="310896"/>
          </a:xfrm>
          <a:prstGeom prst="rect">
            <a:avLst/>
          </a:prstGeom>
          <a:noFill/>
          <a:ln/>
        </p:spPr>
        <p:txBody>
          <a:bodyPr wrap="square" lIns="381" tIns="381" rIns="381" bIns="381" rtlCol="0" anchor="ctr">
            <a:normAutofit/>
          </a:bodyPr>
          <a:lstStyle/>
          <a:p>
            <a:pPr marL="0" indent="0" algn="l">
              <a:buNone/>
            </a:pPr>
            <a:r>
              <a:rPr lang="en-US" sz="1030" dirty="0">
                <a:solidFill>
                  <a:srgbClr val="070707"/>
                </a:solidFill>
                <a:latin typeface="Inter" pitchFamily="34" charset="0"/>
                <a:ea typeface="Aptos" pitchFamily="34" charset="-122"/>
                <a:cs typeface="Aptos" pitchFamily="34" charset="-120"/>
              </a:rPr>
              <a:t>Không kéo giãn hoặc bóp méo logo.</a:t>
            </a:r>
            <a:endParaRPr lang="en-US" sz="1030" dirty="0"/>
          </a:p>
        </p:txBody>
      </p:sp>
      <p:sp>
        <p:nvSpPr>
          <p:cNvPr id="11" name="Shape 9"/>
          <p:cNvSpPr/>
          <p:nvPr/>
        </p:nvSpPr>
        <p:spPr>
          <a:xfrm>
            <a:off x="6400800" y="1874520"/>
            <a:ext cx="4754880" cy="658368"/>
          </a:xfrm>
          <a:prstGeom prst="rect">
            <a:avLst/>
          </a:prstGeom>
          <a:solidFill>
            <a:srgbClr val="F4F0E8"/>
          </a:solidFill>
          <a:ln w="6350">
            <a:solidFill>
              <a:srgbClr val="D7D7D7"/>
            </a:solidFill>
            <a:prstDash val="solid"/>
          </a:ln>
        </p:spPr>
        <p:txBody>
          <a:bodyPr/>
          <a:lstStyle/>
          <a:p>
            <a:endParaRPr/>
          </a:p>
        </p:txBody>
      </p:sp>
      <p:sp>
        <p:nvSpPr>
          <p:cNvPr id="12" name="Text 10"/>
          <p:cNvSpPr/>
          <p:nvPr/>
        </p:nvSpPr>
        <p:spPr>
          <a:xfrm>
            <a:off x="6565392" y="2011680"/>
            <a:ext cx="274320" cy="274320"/>
          </a:xfrm>
          <a:prstGeom prst="rect">
            <a:avLst/>
          </a:prstGeom>
          <a:noFill/>
          <a:ln/>
        </p:spPr>
        <p:txBody>
          <a:bodyPr wrap="square" lIns="381" tIns="381" rIns="381" bIns="381" rtlCol="0" anchor="ctr">
            <a:normAutofit/>
          </a:bodyPr>
          <a:lstStyle/>
          <a:p>
            <a:pPr marL="0" indent="0" algn="l">
              <a:buNone/>
            </a:pPr>
            <a:r>
              <a:rPr lang="en-US" sz="1400" b="1" dirty="0">
                <a:solidFill>
                  <a:srgbClr val="B00020"/>
                </a:solidFill>
                <a:latin typeface="Inter" pitchFamily="34" charset="0"/>
                <a:ea typeface="Aptos" pitchFamily="34" charset="-122"/>
                <a:cs typeface="Aptos" pitchFamily="34" charset="-120"/>
              </a:rPr>
              <a:t>✕</a:t>
            </a:r>
            <a:endParaRPr lang="en-US" sz="1400" dirty="0"/>
          </a:p>
        </p:txBody>
      </p:sp>
      <p:sp>
        <p:nvSpPr>
          <p:cNvPr id="13" name="Text 11"/>
          <p:cNvSpPr/>
          <p:nvPr/>
        </p:nvSpPr>
        <p:spPr>
          <a:xfrm>
            <a:off x="6995160" y="2011680"/>
            <a:ext cx="3977640" cy="310896"/>
          </a:xfrm>
          <a:prstGeom prst="rect">
            <a:avLst/>
          </a:prstGeom>
          <a:noFill/>
          <a:ln/>
        </p:spPr>
        <p:txBody>
          <a:bodyPr wrap="square" lIns="381" tIns="381" rIns="381" bIns="381" rtlCol="0" anchor="ctr">
            <a:normAutofit/>
          </a:bodyPr>
          <a:lstStyle/>
          <a:p>
            <a:pPr marL="0" indent="0" algn="l">
              <a:buNone/>
            </a:pPr>
            <a:r>
              <a:rPr lang="en-US" sz="1030" dirty="0">
                <a:solidFill>
                  <a:srgbClr val="070707"/>
                </a:solidFill>
                <a:latin typeface="Inter" pitchFamily="34" charset="0"/>
                <a:ea typeface="Aptos" pitchFamily="34" charset="-122"/>
                <a:cs typeface="Aptos" pitchFamily="34" charset="-120"/>
              </a:rPr>
              <a:t>Không đổi màu ngẫu nhiên ngoài bảng màu.</a:t>
            </a:r>
            <a:endParaRPr lang="en-US" sz="1030" dirty="0"/>
          </a:p>
        </p:txBody>
      </p:sp>
      <p:sp>
        <p:nvSpPr>
          <p:cNvPr id="14" name="Shape 12"/>
          <p:cNvSpPr/>
          <p:nvPr/>
        </p:nvSpPr>
        <p:spPr>
          <a:xfrm>
            <a:off x="822960" y="2926080"/>
            <a:ext cx="4754880" cy="658368"/>
          </a:xfrm>
          <a:prstGeom prst="rect">
            <a:avLst/>
          </a:prstGeom>
          <a:solidFill>
            <a:srgbClr val="F4F0E8"/>
          </a:solidFill>
          <a:ln w="6350">
            <a:solidFill>
              <a:srgbClr val="D7D7D7"/>
            </a:solidFill>
            <a:prstDash val="solid"/>
          </a:ln>
        </p:spPr>
        <p:txBody>
          <a:bodyPr/>
          <a:lstStyle/>
          <a:p>
            <a:endParaRPr/>
          </a:p>
        </p:txBody>
      </p:sp>
      <p:sp>
        <p:nvSpPr>
          <p:cNvPr id="15" name="Text 13"/>
          <p:cNvSpPr/>
          <p:nvPr/>
        </p:nvSpPr>
        <p:spPr>
          <a:xfrm>
            <a:off x="987552" y="3063240"/>
            <a:ext cx="274320" cy="274320"/>
          </a:xfrm>
          <a:prstGeom prst="rect">
            <a:avLst/>
          </a:prstGeom>
          <a:noFill/>
          <a:ln/>
        </p:spPr>
        <p:txBody>
          <a:bodyPr wrap="square" lIns="381" tIns="381" rIns="381" bIns="381" rtlCol="0" anchor="ctr">
            <a:normAutofit/>
          </a:bodyPr>
          <a:lstStyle/>
          <a:p>
            <a:pPr marL="0" indent="0" algn="l">
              <a:buNone/>
            </a:pPr>
            <a:r>
              <a:rPr lang="en-US" sz="1400" b="1" dirty="0">
                <a:solidFill>
                  <a:srgbClr val="B00020"/>
                </a:solidFill>
                <a:latin typeface="Inter" pitchFamily="34" charset="0"/>
                <a:ea typeface="Aptos" pitchFamily="34" charset="-122"/>
                <a:cs typeface="Aptos" pitchFamily="34" charset="-120"/>
              </a:rPr>
              <a:t>✕</a:t>
            </a:r>
            <a:endParaRPr lang="en-US" sz="1400" dirty="0"/>
          </a:p>
        </p:txBody>
      </p:sp>
      <p:sp>
        <p:nvSpPr>
          <p:cNvPr id="16" name="Text 14"/>
          <p:cNvSpPr/>
          <p:nvPr/>
        </p:nvSpPr>
        <p:spPr>
          <a:xfrm>
            <a:off x="1417320" y="3063240"/>
            <a:ext cx="3977640" cy="310896"/>
          </a:xfrm>
          <a:prstGeom prst="rect">
            <a:avLst/>
          </a:prstGeom>
          <a:noFill/>
          <a:ln/>
        </p:spPr>
        <p:txBody>
          <a:bodyPr wrap="square" lIns="381" tIns="381" rIns="381" bIns="381" rtlCol="0" anchor="ctr">
            <a:normAutofit/>
          </a:bodyPr>
          <a:lstStyle/>
          <a:p>
            <a:pPr marL="0" indent="0" algn="l">
              <a:buNone/>
            </a:pPr>
            <a:r>
              <a:rPr lang="en-US" sz="1030" dirty="0">
                <a:solidFill>
                  <a:srgbClr val="070707"/>
                </a:solidFill>
                <a:latin typeface="Inter" pitchFamily="34" charset="0"/>
                <a:ea typeface="Aptos" pitchFamily="34" charset="-122"/>
                <a:cs typeface="Aptos" pitchFamily="34" charset="-120"/>
              </a:rPr>
              <a:t>Không đặt logo lên nền quá rối hoặc thiếu tương phản.</a:t>
            </a:r>
            <a:endParaRPr lang="en-US" sz="1030" dirty="0"/>
          </a:p>
        </p:txBody>
      </p:sp>
      <p:sp>
        <p:nvSpPr>
          <p:cNvPr id="17" name="Shape 15"/>
          <p:cNvSpPr/>
          <p:nvPr/>
        </p:nvSpPr>
        <p:spPr>
          <a:xfrm>
            <a:off x="6400800" y="2926080"/>
            <a:ext cx="4754880" cy="658368"/>
          </a:xfrm>
          <a:prstGeom prst="rect">
            <a:avLst/>
          </a:prstGeom>
          <a:solidFill>
            <a:srgbClr val="F4F0E8"/>
          </a:solidFill>
          <a:ln w="6350">
            <a:solidFill>
              <a:srgbClr val="D7D7D7"/>
            </a:solidFill>
            <a:prstDash val="solid"/>
          </a:ln>
        </p:spPr>
        <p:txBody>
          <a:bodyPr/>
          <a:lstStyle/>
          <a:p>
            <a:endParaRPr/>
          </a:p>
        </p:txBody>
      </p:sp>
      <p:sp>
        <p:nvSpPr>
          <p:cNvPr id="18" name="Text 16"/>
          <p:cNvSpPr/>
          <p:nvPr/>
        </p:nvSpPr>
        <p:spPr>
          <a:xfrm>
            <a:off x="6565392" y="3063240"/>
            <a:ext cx="274320" cy="274320"/>
          </a:xfrm>
          <a:prstGeom prst="rect">
            <a:avLst/>
          </a:prstGeom>
          <a:noFill/>
          <a:ln/>
        </p:spPr>
        <p:txBody>
          <a:bodyPr wrap="square" lIns="381" tIns="381" rIns="381" bIns="381" rtlCol="0" anchor="ctr">
            <a:normAutofit/>
          </a:bodyPr>
          <a:lstStyle/>
          <a:p>
            <a:pPr marL="0" indent="0" algn="l">
              <a:buNone/>
            </a:pPr>
            <a:r>
              <a:rPr lang="en-US" sz="1400" b="1" dirty="0">
                <a:solidFill>
                  <a:srgbClr val="B00020"/>
                </a:solidFill>
                <a:latin typeface="Inter" pitchFamily="34" charset="0"/>
                <a:ea typeface="Aptos" pitchFamily="34" charset="-122"/>
                <a:cs typeface="Aptos" pitchFamily="34" charset="-120"/>
              </a:rPr>
              <a:t>✕</a:t>
            </a:r>
            <a:endParaRPr lang="en-US" sz="1400" dirty="0"/>
          </a:p>
        </p:txBody>
      </p:sp>
      <p:sp>
        <p:nvSpPr>
          <p:cNvPr id="19" name="Text 17"/>
          <p:cNvSpPr/>
          <p:nvPr/>
        </p:nvSpPr>
        <p:spPr>
          <a:xfrm>
            <a:off x="6995160" y="3063240"/>
            <a:ext cx="3977640" cy="310896"/>
          </a:xfrm>
          <a:prstGeom prst="rect">
            <a:avLst/>
          </a:prstGeom>
          <a:noFill/>
          <a:ln/>
        </p:spPr>
        <p:txBody>
          <a:bodyPr wrap="square" lIns="381" tIns="381" rIns="381" bIns="381" rtlCol="0" anchor="ctr">
            <a:normAutofit/>
          </a:bodyPr>
          <a:lstStyle/>
          <a:p>
            <a:pPr marL="0" indent="0" algn="l">
              <a:buNone/>
            </a:pPr>
            <a:r>
              <a:rPr lang="en-US" sz="1030" dirty="0">
                <a:solidFill>
                  <a:srgbClr val="070707"/>
                </a:solidFill>
                <a:latin typeface="Inter" pitchFamily="34" charset="0"/>
                <a:ea typeface="Aptos" pitchFamily="34" charset="-122"/>
                <a:cs typeface="Aptos" pitchFamily="34" charset="-120"/>
              </a:rPr>
              <a:t>Không thêm hiệu ứng 3D, glow, shadow ngoài hệ thống.</a:t>
            </a:r>
            <a:endParaRPr lang="en-US" sz="1030" dirty="0"/>
          </a:p>
        </p:txBody>
      </p:sp>
      <p:sp>
        <p:nvSpPr>
          <p:cNvPr id="20" name="Shape 18"/>
          <p:cNvSpPr/>
          <p:nvPr/>
        </p:nvSpPr>
        <p:spPr>
          <a:xfrm>
            <a:off x="822960" y="3977640"/>
            <a:ext cx="4754880" cy="658368"/>
          </a:xfrm>
          <a:prstGeom prst="rect">
            <a:avLst/>
          </a:prstGeom>
          <a:solidFill>
            <a:srgbClr val="F4F0E8"/>
          </a:solidFill>
          <a:ln w="6350">
            <a:solidFill>
              <a:srgbClr val="D7D7D7"/>
            </a:solidFill>
            <a:prstDash val="solid"/>
          </a:ln>
        </p:spPr>
        <p:txBody>
          <a:bodyPr/>
          <a:lstStyle/>
          <a:p>
            <a:endParaRPr/>
          </a:p>
        </p:txBody>
      </p:sp>
      <p:sp>
        <p:nvSpPr>
          <p:cNvPr id="21" name="Text 19"/>
          <p:cNvSpPr/>
          <p:nvPr/>
        </p:nvSpPr>
        <p:spPr>
          <a:xfrm>
            <a:off x="987552" y="4114800"/>
            <a:ext cx="274320" cy="274320"/>
          </a:xfrm>
          <a:prstGeom prst="rect">
            <a:avLst/>
          </a:prstGeom>
          <a:noFill/>
          <a:ln/>
        </p:spPr>
        <p:txBody>
          <a:bodyPr wrap="square" lIns="381" tIns="381" rIns="381" bIns="381" rtlCol="0" anchor="ctr">
            <a:normAutofit/>
          </a:bodyPr>
          <a:lstStyle/>
          <a:p>
            <a:pPr marL="0" indent="0" algn="l">
              <a:buNone/>
            </a:pPr>
            <a:r>
              <a:rPr lang="en-US" sz="1400" b="1" dirty="0">
                <a:solidFill>
                  <a:srgbClr val="B00020"/>
                </a:solidFill>
                <a:latin typeface="Inter" pitchFamily="34" charset="0"/>
                <a:ea typeface="Aptos" pitchFamily="34" charset="-122"/>
                <a:cs typeface="Aptos" pitchFamily="34" charset="-120"/>
              </a:rPr>
              <a:t>✕</a:t>
            </a:r>
            <a:endParaRPr lang="en-US" sz="1400" dirty="0"/>
          </a:p>
        </p:txBody>
      </p:sp>
      <p:sp>
        <p:nvSpPr>
          <p:cNvPr id="22" name="Text 20"/>
          <p:cNvSpPr/>
          <p:nvPr/>
        </p:nvSpPr>
        <p:spPr>
          <a:xfrm>
            <a:off x="1417320" y="4114800"/>
            <a:ext cx="3977640" cy="310896"/>
          </a:xfrm>
          <a:prstGeom prst="rect">
            <a:avLst/>
          </a:prstGeom>
          <a:noFill/>
          <a:ln/>
        </p:spPr>
        <p:txBody>
          <a:bodyPr wrap="square" lIns="381" tIns="381" rIns="381" bIns="381" rtlCol="0" anchor="ctr">
            <a:normAutofit/>
          </a:bodyPr>
          <a:lstStyle/>
          <a:p>
            <a:pPr marL="0" indent="0" algn="l">
              <a:buNone/>
            </a:pPr>
            <a:r>
              <a:rPr lang="en-US" sz="1030" dirty="0">
                <a:solidFill>
                  <a:srgbClr val="070707"/>
                </a:solidFill>
                <a:latin typeface="Inter" pitchFamily="34" charset="0"/>
                <a:ea typeface="Aptos" pitchFamily="34" charset="-122"/>
                <a:cs typeface="Aptos" pitchFamily="34" charset="-120"/>
              </a:rPr>
              <a:t>Không tách biểu tượng và chữ khi chưa có quy chuẩn phụ.</a:t>
            </a:r>
            <a:endParaRPr lang="en-US" sz="1030" dirty="0"/>
          </a:p>
        </p:txBody>
      </p:sp>
      <p:sp>
        <p:nvSpPr>
          <p:cNvPr id="23" name="Shape 21"/>
          <p:cNvSpPr/>
          <p:nvPr/>
        </p:nvSpPr>
        <p:spPr>
          <a:xfrm>
            <a:off x="6400800" y="3977640"/>
            <a:ext cx="4754880" cy="658368"/>
          </a:xfrm>
          <a:prstGeom prst="rect">
            <a:avLst/>
          </a:prstGeom>
          <a:solidFill>
            <a:srgbClr val="F4F0E8"/>
          </a:solidFill>
          <a:ln w="6350">
            <a:solidFill>
              <a:srgbClr val="D7D7D7"/>
            </a:solidFill>
            <a:prstDash val="solid"/>
          </a:ln>
        </p:spPr>
        <p:txBody>
          <a:bodyPr/>
          <a:lstStyle/>
          <a:p>
            <a:endParaRPr/>
          </a:p>
        </p:txBody>
      </p:sp>
      <p:sp>
        <p:nvSpPr>
          <p:cNvPr id="24" name="Text 22"/>
          <p:cNvSpPr/>
          <p:nvPr/>
        </p:nvSpPr>
        <p:spPr>
          <a:xfrm>
            <a:off x="6565392" y="4114800"/>
            <a:ext cx="274320" cy="274320"/>
          </a:xfrm>
          <a:prstGeom prst="rect">
            <a:avLst/>
          </a:prstGeom>
          <a:noFill/>
          <a:ln/>
        </p:spPr>
        <p:txBody>
          <a:bodyPr wrap="square" lIns="381" tIns="381" rIns="381" bIns="381" rtlCol="0" anchor="ctr">
            <a:normAutofit/>
          </a:bodyPr>
          <a:lstStyle/>
          <a:p>
            <a:pPr marL="0" indent="0" algn="l">
              <a:buNone/>
            </a:pPr>
            <a:r>
              <a:rPr lang="en-US" sz="1400" b="1" dirty="0">
                <a:solidFill>
                  <a:srgbClr val="B00020"/>
                </a:solidFill>
                <a:latin typeface="Inter" pitchFamily="34" charset="0"/>
                <a:ea typeface="Aptos" pitchFamily="34" charset="-122"/>
                <a:cs typeface="Aptos" pitchFamily="34" charset="-120"/>
              </a:rPr>
              <a:t>✕</a:t>
            </a:r>
            <a:endParaRPr lang="en-US" sz="1400" dirty="0"/>
          </a:p>
        </p:txBody>
      </p:sp>
      <p:sp>
        <p:nvSpPr>
          <p:cNvPr id="25" name="Text 23"/>
          <p:cNvSpPr/>
          <p:nvPr/>
        </p:nvSpPr>
        <p:spPr>
          <a:xfrm>
            <a:off x="6995160" y="4114800"/>
            <a:ext cx="3977640" cy="310896"/>
          </a:xfrm>
          <a:prstGeom prst="rect">
            <a:avLst/>
          </a:prstGeom>
          <a:noFill/>
          <a:ln/>
        </p:spPr>
        <p:txBody>
          <a:bodyPr wrap="square" lIns="381" tIns="381" rIns="381" bIns="381" rtlCol="0" anchor="ctr">
            <a:normAutofit/>
          </a:bodyPr>
          <a:lstStyle/>
          <a:p>
            <a:pPr marL="0" indent="0" algn="l">
              <a:buNone/>
            </a:pPr>
            <a:r>
              <a:rPr lang="en-US" sz="1030" dirty="0">
                <a:solidFill>
                  <a:srgbClr val="070707"/>
                </a:solidFill>
                <a:latin typeface="Inter" pitchFamily="34" charset="0"/>
                <a:ea typeface="Aptos" pitchFamily="34" charset="-122"/>
                <a:cs typeface="Aptos" pitchFamily="34" charset="-120"/>
              </a:rPr>
              <a:t>Không đặt logo quá sát mép, QR hoặc thông tin liên hệ.</a:t>
            </a:r>
            <a:endParaRPr lang="en-US" sz="1030" dirty="0"/>
          </a:p>
        </p:txBody>
      </p:sp>
      <p:sp>
        <p:nvSpPr>
          <p:cNvPr id="26" name="Text 24"/>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27" name="Text 25"/>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03 Visual Identity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17</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COLOR PALETTE</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Hệ màu Financial Wisdom Luxury</a:t>
            </a:r>
            <a:endParaRPr lang="en-US" sz="2300" dirty="0"/>
          </a:p>
        </p:txBody>
      </p:sp>
      <p:sp>
        <p:nvSpPr>
          <p:cNvPr id="8" name="Shape 6"/>
          <p:cNvSpPr/>
          <p:nvPr/>
        </p:nvSpPr>
        <p:spPr>
          <a:xfrm>
            <a:off x="822960" y="1874520"/>
            <a:ext cx="3063240" cy="868680"/>
          </a:xfrm>
          <a:prstGeom prst="rect">
            <a:avLst/>
          </a:prstGeom>
          <a:solidFill>
            <a:srgbClr val="070707"/>
          </a:solidFill>
          <a:ln w="5080">
            <a:solidFill>
              <a:srgbClr val="D7D7D7"/>
            </a:solidFill>
            <a:prstDash val="solid"/>
          </a:ln>
        </p:spPr>
        <p:txBody>
          <a:bodyPr/>
          <a:lstStyle/>
          <a:p>
            <a:endParaRPr/>
          </a:p>
        </p:txBody>
      </p:sp>
      <p:sp>
        <p:nvSpPr>
          <p:cNvPr id="9" name="Text 7"/>
          <p:cNvSpPr/>
          <p:nvPr/>
        </p:nvSpPr>
        <p:spPr>
          <a:xfrm>
            <a:off x="822960" y="2843784"/>
            <a:ext cx="2011680" cy="201168"/>
          </a:xfrm>
          <a:prstGeom prst="rect">
            <a:avLst/>
          </a:prstGeom>
          <a:noFill/>
          <a:ln/>
        </p:spPr>
        <p:txBody>
          <a:bodyPr wrap="square" lIns="381" tIns="381" rIns="381" bIns="381" rtlCol="0" anchor="ctr">
            <a:normAutofit/>
          </a:bodyPr>
          <a:lstStyle/>
          <a:p>
            <a:pPr marL="0" indent="0" algn="l">
              <a:buNone/>
            </a:pPr>
            <a:r>
              <a:rPr lang="en-US" sz="1050" b="1" dirty="0">
                <a:solidFill>
                  <a:srgbClr val="071521"/>
                </a:solidFill>
                <a:latin typeface="Inter" pitchFamily="34" charset="0"/>
                <a:ea typeface="Aptos" pitchFamily="34" charset="-122"/>
                <a:cs typeface="Aptos" pitchFamily="34" charset="-120"/>
              </a:rPr>
              <a:t>Obsidian Black</a:t>
            </a:r>
            <a:endParaRPr lang="en-US" sz="1050" dirty="0"/>
          </a:p>
        </p:txBody>
      </p:sp>
      <p:sp>
        <p:nvSpPr>
          <p:cNvPr id="10" name="Text 8"/>
          <p:cNvSpPr/>
          <p:nvPr/>
        </p:nvSpPr>
        <p:spPr>
          <a:xfrm>
            <a:off x="2834640" y="2843784"/>
            <a:ext cx="1005840" cy="201168"/>
          </a:xfrm>
          <a:prstGeom prst="rect">
            <a:avLst/>
          </a:prstGeom>
          <a:noFill/>
          <a:ln/>
        </p:spPr>
        <p:txBody>
          <a:bodyPr wrap="square" lIns="381" tIns="381" rIns="381" bIns="381" rtlCol="0" anchor="ctr">
            <a:normAutofit/>
          </a:bodyPr>
          <a:lstStyle/>
          <a:p>
            <a:pPr marL="0" indent="0" algn="r">
              <a:buNone/>
            </a:pPr>
            <a:r>
              <a:rPr lang="en-US" sz="850" dirty="0">
                <a:solidFill>
                  <a:srgbClr val="66717A"/>
                </a:solidFill>
                <a:latin typeface="Inter" pitchFamily="34" charset="0"/>
                <a:ea typeface="Aptos" pitchFamily="34" charset="-122"/>
                <a:cs typeface="Aptos" pitchFamily="34" charset="-120"/>
              </a:rPr>
              <a:t>#070707</a:t>
            </a:r>
            <a:endParaRPr lang="en-US" sz="850" dirty="0"/>
          </a:p>
        </p:txBody>
      </p:sp>
      <p:sp>
        <p:nvSpPr>
          <p:cNvPr id="11" name="Text 9"/>
          <p:cNvSpPr/>
          <p:nvPr/>
        </p:nvSpPr>
        <p:spPr>
          <a:xfrm>
            <a:off x="822960" y="3118104"/>
            <a:ext cx="2971800" cy="228600"/>
          </a:xfrm>
          <a:prstGeom prst="rect">
            <a:avLst/>
          </a:prstGeom>
          <a:noFill/>
          <a:ln/>
        </p:spPr>
        <p:txBody>
          <a:bodyPr wrap="square" lIns="381" tIns="381" rIns="381" bIns="381" rtlCol="0" anchor="ctr">
            <a:normAutofit/>
          </a:bodyPr>
          <a:lstStyle/>
          <a:p>
            <a:pPr marL="0" indent="0" algn="l">
              <a:buNone/>
            </a:pPr>
            <a:r>
              <a:rPr lang="en-US" sz="850" dirty="0">
                <a:solidFill>
                  <a:srgbClr val="070707"/>
                </a:solidFill>
                <a:latin typeface="Inter" pitchFamily="34" charset="0"/>
                <a:ea typeface="Aptos" pitchFamily="34" charset="-122"/>
                <a:cs typeface="Aptos" pitchFamily="34" charset="-120"/>
              </a:rPr>
              <a:t>Nền chính · chiều sâu · quyền lực</a:t>
            </a:r>
            <a:endParaRPr lang="en-US" sz="850" dirty="0"/>
          </a:p>
        </p:txBody>
      </p:sp>
      <p:sp>
        <p:nvSpPr>
          <p:cNvPr id="12" name="Shape 10"/>
          <p:cNvSpPr/>
          <p:nvPr/>
        </p:nvSpPr>
        <p:spPr>
          <a:xfrm>
            <a:off x="4526280" y="1874520"/>
            <a:ext cx="3063240" cy="868680"/>
          </a:xfrm>
          <a:prstGeom prst="rect">
            <a:avLst/>
          </a:prstGeom>
          <a:solidFill>
            <a:srgbClr val="071521"/>
          </a:solidFill>
          <a:ln w="5080">
            <a:solidFill>
              <a:srgbClr val="D7D7D7"/>
            </a:solidFill>
            <a:prstDash val="solid"/>
          </a:ln>
        </p:spPr>
        <p:txBody>
          <a:bodyPr/>
          <a:lstStyle/>
          <a:p>
            <a:endParaRPr/>
          </a:p>
        </p:txBody>
      </p:sp>
      <p:sp>
        <p:nvSpPr>
          <p:cNvPr id="13" name="Text 11"/>
          <p:cNvSpPr/>
          <p:nvPr/>
        </p:nvSpPr>
        <p:spPr>
          <a:xfrm>
            <a:off x="4526280" y="2843784"/>
            <a:ext cx="2011680" cy="201168"/>
          </a:xfrm>
          <a:prstGeom prst="rect">
            <a:avLst/>
          </a:prstGeom>
          <a:noFill/>
          <a:ln/>
        </p:spPr>
        <p:txBody>
          <a:bodyPr wrap="square" lIns="381" tIns="381" rIns="381" bIns="381" rtlCol="0" anchor="ctr">
            <a:normAutofit/>
          </a:bodyPr>
          <a:lstStyle/>
          <a:p>
            <a:pPr marL="0" indent="0" algn="l">
              <a:buNone/>
            </a:pPr>
            <a:r>
              <a:rPr lang="en-US" sz="1050" b="1" dirty="0">
                <a:solidFill>
                  <a:srgbClr val="071521"/>
                </a:solidFill>
                <a:latin typeface="Inter" pitchFamily="34" charset="0"/>
                <a:ea typeface="Aptos" pitchFamily="34" charset="-122"/>
                <a:cs typeface="Aptos" pitchFamily="34" charset="-120"/>
              </a:rPr>
              <a:t>Midnight Navy</a:t>
            </a:r>
            <a:endParaRPr lang="en-US" sz="1050" dirty="0"/>
          </a:p>
        </p:txBody>
      </p:sp>
      <p:sp>
        <p:nvSpPr>
          <p:cNvPr id="14" name="Text 12"/>
          <p:cNvSpPr/>
          <p:nvPr/>
        </p:nvSpPr>
        <p:spPr>
          <a:xfrm>
            <a:off x="6537960" y="2843784"/>
            <a:ext cx="1005840" cy="201168"/>
          </a:xfrm>
          <a:prstGeom prst="rect">
            <a:avLst/>
          </a:prstGeom>
          <a:noFill/>
          <a:ln/>
        </p:spPr>
        <p:txBody>
          <a:bodyPr wrap="square" lIns="381" tIns="381" rIns="381" bIns="381" rtlCol="0" anchor="ctr">
            <a:normAutofit/>
          </a:bodyPr>
          <a:lstStyle/>
          <a:p>
            <a:pPr marL="0" indent="0" algn="r">
              <a:buNone/>
            </a:pPr>
            <a:r>
              <a:rPr lang="en-US" sz="850" dirty="0">
                <a:solidFill>
                  <a:srgbClr val="66717A"/>
                </a:solidFill>
                <a:latin typeface="Inter" pitchFamily="34" charset="0"/>
                <a:ea typeface="Aptos" pitchFamily="34" charset="-122"/>
                <a:cs typeface="Aptos" pitchFamily="34" charset="-120"/>
              </a:rPr>
              <a:t>#071521</a:t>
            </a:r>
            <a:endParaRPr lang="en-US" sz="850" dirty="0"/>
          </a:p>
        </p:txBody>
      </p:sp>
      <p:sp>
        <p:nvSpPr>
          <p:cNvPr id="15" name="Text 13"/>
          <p:cNvSpPr/>
          <p:nvPr/>
        </p:nvSpPr>
        <p:spPr>
          <a:xfrm>
            <a:off x="4526280" y="3118104"/>
            <a:ext cx="2971800" cy="228600"/>
          </a:xfrm>
          <a:prstGeom prst="rect">
            <a:avLst/>
          </a:prstGeom>
          <a:noFill/>
          <a:ln/>
        </p:spPr>
        <p:txBody>
          <a:bodyPr wrap="square" lIns="381" tIns="381" rIns="381" bIns="381" rtlCol="0" anchor="ctr">
            <a:normAutofit/>
          </a:bodyPr>
          <a:lstStyle/>
          <a:p>
            <a:pPr marL="0" indent="0" algn="l">
              <a:buNone/>
            </a:pPr>
            <a:r>
              <a:rPr lang="en-US" sz="850" dirty="0">
                <a:solidFill>
                  <a:srgbClr val="070707"/>
                </a:solidFill>
                <a:latin typeface="Inter" pitchFamily="34" charset="0"/>
                <a:ea typeface="Aptos" pitchFamily="34" charset="-122"/>
                <a:cs typeface="Aptos" pitchFamily="34" charset="-120"/>
              </a:rPr>
              <a:t>Tài chính · chuyên môn · uy tín</a:t>
            </a:r>
            <a:endParaRPr lang="en-US" sz="850" dirty="0"/>
          </a:p>
        </p:txBody>
      </p:sp>
      <p:sp>
        <p:nvSpPr>
          <p:cNvPr id="16" name="Shape 14"/>
          <p:cNvSpPr/>
          <p:nvPr/>
        </p:nvSpPr>
        <p:spPr>
          <a:xfrm>
            <a:off x="8229600" y="1874520"/>
            <a:ext cx="3063240" cy="868680"/>
          </a:xfrm>
          <a:prstGeom prst="rect">
            <a:avLst/>
          </a:prstGeom>
          <a:solidFill>
            <a:srgbClr val="D4A83F"/>
          </a:solidFill>
          <a:ln w="5080">
            <a:solidFill>
              <a:srgbClr val="D7D7D7"/>
            </a:solidFill>
            <a:prstDash val="solid"/>
          </a:ln>
        </p:spPr>
        <p:txBody>
          <a:bodyPr/>
          <a:lstStyle/>
          <a:p>
            <a:endParaRPr/>
          </a:p>
        </p:txBody>
      </p:sp>
      <p:sp>
        <p:nvSpPr>
          <p:cNvPr id="17" name="Text 15"/>
          <p:cNvSpPr/>
          <p:nvPr/>
        </p:nvSpPr>
        <p:spPr>
          <a:xfrm>
            <a:off x="8229600" y="2843784"/>
            <a:ext cx="2011680" cy="201168"/>
          </a:xfrm>
          <a:prstGeom prst="rect">
            <a:avLst/>
          </a:prstGeom>
          <a:noFill/>
          <a:ln/>
        </p:spPr>
        <p:txBody>
          <a:bodyPr wrap="square" lIns="381" tIns="381" rIns="381" bIns="381" rtlCol="0" anchor="ctr">
            <a:normAutofit/>
          </a:bodyPr>
          <a:lstStyle/>
          <a:p>
            <a:pPr marL="0" indent="0" algn="l">
              <a:buNone/>
            </a:pPr>
            <a:r>
              <a:rPr lang="en-US" sz="1050" b="1" dirty="0">
                <a:solidFill>
                  <a:srgbClr val="071521"/>
                </a:solidFill>
                <a:latin typeface="Inter" pitchFamily="34" charset="0"/>
                <a:ea typeface="Aptos" pitchFamily="34" charset="-122"/>
                <a:cs typeface="Aptos" pitchFamily="34" charset="-120"/>
              </a:rPr>
              <a:t>Heritage Gold</a:t>
            </a:r>
            <a:endParaRPr lang="en-US" sz="1050" dirty="0"/>
          </a:p>
        </p:txBody>
      </p:sp>
      <p:sp>
        <p:nvSpPr>
          <p:cNvPr id="18" name="Text 16"/>
          <p:cNvSpPr/>
          <p:nvPr/>
        </p:nvSpPr>
        <p:spPr>
          <a:xfrm>
            <a:off x="10241280" y="2843784"/>
            <a:ext cx="1005840" cy="201168"/>
          </a:xfrm>
          <a:prstGeom prst="rect">
            <a:avLst/>
          </a:prstGeom>
          <a:noFill/>
          <a:ln/>
        </p:spPr>
        <p:txBody>
          <a:bodyPr wrap="square" lIns="381" tIns="381" rIns="381" bIns="381" rtlCol="0" anchor="ctr">
            <a:normAutofit/>
          </a:bodyPr>
          <a:lstStyle/>
          <a:p>
            <a:pPr marL="0" indent="0" algn="r">
              <a:buNone/>
            </a:pPr>
            <a:r>
              <a:rPr lang="en-US" sz="850" dirty="0">
                <a:solidFill>
                  <a:srgbClr val="66717A"/>
                </a:solidFill>
                <a:latin typeface="Inter" pitchFamily="34" charset="0"/>
                <a:ea typeface="Aptos" pitchFamily="34" charset="-122"/>
                <a:cs typeface="Aptos" pitchFamily="34" charset="-120"/>
              </a:rPr>
              <a:t>#D4A83F</a:t>
            </a:r>
            <a:endParaRPr lang="en-US" sz="850" dirty="0"/>
          </a:p>
        </p:txBody>
      </p:sp>
      <p:sp>
        <p:nvSpPr>
          <p:cNvPr id="19" name="Text 17"/>
          <p:cNvSpPr/>
          <p:nvPr/>
        </p:nvSpPr>
        <p:spPr>
          <a:xfrm>
            <a:off x="8229600" y="3118104"/>
            <a:ext cx="2971800" cy="228600"/>
          </a:xfrm>
          <a:prstGeom prst="rect">
            <a:avLst/>
          </a:prstGeom>
          <a:noFill/>
          <a:ln/>
        </p:spPr>
        <p:txBody>
          <a:bodyPr wrap="square" lIns="381" tIns="381" rIns="381" bIns="381" rtlCol="0" anchor="ctr">
            <a:normAutofit/>
          </a:bodyPr>
          <a:lstStyle/>
          <a:p>
            <a:pPr marL="0" indent="0" algn="l">
              <a:buNone/>
            </a:pPr>
            <a:r>
              <a:rPr lang="en-US" sz="850" dirty="0">
                <a:solidFill>
                  <a:srgbClr val="070707"/>
                </a:solidFill>
                <a:latin typeface="Inter" pitchFamily="34" charset="0"/>
                <a:ea typeface="Aptos" pitchFamily="34" charset="-122"/>
                <a:cs typeface="Aptos" pitchFamily="34" charset="-120"/>
              </a:rPr>
              <a:t>Nhận diện · điểm nhấn cao cấp</a:t>
            </a:r>
            <a:endParaRPr lang="en-US" sz="850" dirty="0"/>
          </a:p>
        </p:txBody>
      </p:sp>
      <p:sp>
        <p:nvSpPr>
          <p:cNvPr id="20" name="Shape 18"/>
          <p:cNvSpPr/>
          <p:nvPr/>
        </p:nvSpPr>
        <p:spPr>
          <a:xfrm>
            <a:off x="822960" y="3566160"/>
            <a:ext cx="3063240" cy="868680"/>
          </a:xfrm>
          <a:prstGeom prst="rect">
            <a:avLst/>
          </a:prstGeom>
          <a:solidFill>
            <a:srgbClr val="E8CF8B"/>
          </a:solidFill>
          <a:ln w="5080">
            <a:solidFill>
              <a:srgbClr val="D7D7D7"/>
            </a:solidFill>
            <a:prstDash val="solid"/>
          </a:ln>
        </p:spPr>
        <p:txBody>
          <a:bodyPr/>
          <a:lstStyle/>
          <a:p>
            <a:endParaRPr/>
          </a:p>
        </p:txBody>
      </p:sp>
      <p:sp>
        <p:nvSpPr>
          <p:cNvPr id="21" name="Text 19"/>
          <p:cNvSpPr/>
          <p:nvPr/>
        </p:nvSpPr>
        <p:spPr>
          <a:xfrm>
            <a:off x="822960" y="4535424"/>
            <a:ext cx="2011680" cy="201168"/>
          </a:xfrm>
          <a:prstGeom prst="rect">
            <a:avLst/>
          </a:prstGeom>
          <a:noFill/>
          <a:ln/>
        </p:spPr>
        <p:txBody>
          <a:bodyPr wrap="square" lIns="381" tIns="381" rIns="381" bIns="381" rtlCol="0" anchor="ctr">
            <a:normAutofit/>
          </a:bodyPr>
          <a:lstStyle/>
          <a:p>
            <a:pPr marL="0" indent="0" algn="l">
              <a:buNone/>
            </a:pPr>
            <a:r>
              <a:rPr lang="en-US" sz="1050" b="1" dirty="0">
                <a:solidFill>
                  <a:srgbClr val="071521"/>
                </a:solidFill>
                <a:latin typeface="Inter" pitchFamily="34" charset="0"/>
                <a:ea typeface="Aptos" pitchFamily="34" charset="-122"/>
                <a:cs typeface="Aptos" pitchFamily="34" charset="-120"/>
              </a:rPr>
              <a:t>Champagne Gold</a:t>
            </a:r>
            <a:endParaRPr lang="en-US" sz="1050" dirty="0"/>
          </a:p>
        </p:txBody>
      </p:sp>
      <p:sp>
        <p:nvSpPr>
          <p:cNvPr id="22" name="Text 20"/>
          <p:cNvSpPr/>
          <p:nvPr/>
        </p:nvSpPr>
        <p:spPr>
          <a:xfrm>
            <a:off x="2834640" y="4535424"/>
            <a:ext cx="1005840" cy="201168"/>
          </a:xfrm>
          <a:prstGeom prst="rect">
            <a:avLst/>
          </a:prstGeom>
          <a:noFill/>
          <a:ln/>
        </p:spPr>
        <p:txBody>
          <a:bodyPr wrap="square" lIns="381" tIns="381" rIns="381" bIns="381" rtlCol="0" anchor="ctr">
            <a:normAutofit/>
          </a:bodyPr>
          <a:lstStyle/>
          <a:p>
            <a:pPr marL="0" indent="0" algn="r">
              <a:buNone/>
            </a:pPr>
            <a:r>
              <a:rPr lang="en-US" sz="850" dirty="0">
                <a:solidFill>
                  <a:srgbClr val="66717A"/>
                </a:solidFill>
                <a:latin typeface="Inter" pitchFamily="34" charset="0"/>
                <a:ea typeface="Aptos" pitchFamily="34" charset="-122"/>
                <a:cs typeface="Aptos" pitchFamily="34" charset="-120"/>
              </a:rPr>
              <a:t>#E8CF8B</a:t>
            </a:r>
            <a:endParaRPr lang="en-US" sz="850" dirty="0"/>
          </a:p>
        </p:txBody>
      </p:sp>
      <p:sp>
        <p:nvSpPr>
          <p:cNvPr id="23" name="Text 21"/>
          <p:cNvSpPr/>
          <p:nvPr/>
        </p:nvSpPr>
        <p:spPr>
          <a:xfrm>
            <a:off x="822960" y="4809744"/>
            <a:ext cx="2971800" cy="228600"/>
          </a:xfrm>
          <a:prstGeom prst="rect">
            <a:avLst/>
          </a:prstGeom>
          <a:noFill/>
          <a:ln/>
        </p:spPr>
        <p:txBody>
          <a:bodyPr wrap="square" lIns="381" tIns="381" rIns="381" bIns="381" rtlCol="0" anchor="ctr">
            <a:normAutofit/>
          </a:bodyPr>
          <a:lstStyle/>
          <a:p>
            <a:pPr marL="0" indent="0" algn="l">
              <a:buNone/>
            </a:pPr>
            <a:r>
              <a:rPr lang="en-US" sz="850" dirty="0">
                <a:solidFill>
                  <a:srgbClr val="070707"/>
                </a:solidFill>
                <a:latin typeface="Inter" pitchFamily="34" charset="0"/>
                <a:ea typeface="Aptos" pitchFamily="34" charset="-122"/>
                <a:cs typeface="Aptos" pitchFamily="34" charset="-120"/>
              </a:rPr>
              <a:t>Ánh sáng · quote · chi tiết mềm</a:t>
            </a:r>
            <a:endParaRPr lang="en-US" sz="850" dirty="0"/>
          </a:p>
        </p:txBody>
      </p:sp>
      <p:sp>
        <p:nvSpPr>
          <p:cNvPr id="24" name="Shape 22"/>
          <p:cNvSpPr/>
          <p:nvPr/>
        </p:nvSpPr>
        <p:spPr>
          <a:xfrm>
            <a:off x="4526280" y="3566160"/>
            <a:ext cx="3063240" cy="868680"/>
          </a:xfrm>
          <a:prstGeom prst="rect">
            <a:avLst/>
          </a:prstGeom>
          <a:solidFill>
            <a:srgbClr val="F4F0E8"/>
          </a:solidFill>
          <a:ln w="5080">
            <a:solidFill>
              <a:srgbClr val="D7D7D7"/>
            </a:solidFill>
            <a:prstDash val="solid"/>
          </a:ln>
        </p:spPr>
        <p:txBody>
          <a:bodyPr/>
          <a:lstStyle/>
          <a:p>
            <a:endParaRPr/>
          </a:p>
        </p:txBody>
      </p:sp>
      <p:sp>
        <p:nvSpPr>
          <p:cNvPr id="25" name="Text 23"/>
          <p:cNvSpPr/>
          <p:nvPr/>
        </p:nvSpPr>
        <p:spPr>
          <a:xfrm>
            <a:off x="4526280" y="4535424"/>
            <a:ext cx="2011680" cy="201168"/>
          </a:xfrm>
          <a:prstGeom prst="rect">
            <a:avLst/>
          </a:prstGeom>
          <a:noFill/>
          <a:ln/>
        </p:spPr>
        <p:txBody>
          <a:bodyPr wrap="square" lIns="381" tIns="381" rIns="381" bIns="381" rtlCol="0" anchor="ctr">
            <a:normAutofit/>
          </a:bodyPr>
          <a:lstStyle/>
          <a:p>
            <a:pPr marL="0" indent="0" algn="l">
              <a:buNone/>
            </a:pPr>
            <a:r>
              <a:rPr lang="en-US" sz="1050" b="1" dirty="0">
                <a:solidFill>
                  <a:srgbClr val="071521"/>
                </a:solidFill>
                <a:latin typeface="Inter" pitchFamily="34" charset="0"/>
                <a:ea typeface="Aptos" pitchFamily="34" charset="-122"/>
                <a:cs typeface="Aptos" pitchFamily="34" charset="-120"/>
              </a:rPr>
              <a:t>Ivory</a:t>
            </a:r>
            <a:endParaRPr lang="en-US" sz="1050" dirty="0"/>
          </a:p>
        </p:txBody>
      </p:sp>
      <p:sp>
        <p:nvSpPr>
          <p:cNvPr id="26" name="Text 24"/>
          <p:cNvSpPr/>
          <p:nvPr/>
        </p:nvSpPr>
        <p:spPr>
          <a:xfrm>
            <a:off x="6537960" y="4535424"/>
            <a:ext cx="1005840" cy="201168"/>
          </a:xfrm>
          <a:prstGeom prst="rect">
            <a:avLst/>
          </a:prstGeom>
          <a:noFill/>
          <a:ln/>
        </p:spPr>
        <p:txBody>
          <a:bodyPr wrap="square" lIns="381" tIns="381" rIns="381" bIns="381" rtlCol="0" anchor="ctr">
            <a:normAutofit/>
          </a:bodyPr>
          <a:lstStyle/>
          <a:p>
            <a:pPr marL="0" indent="0" algn="r">
              <a:buNone/>
            </a:pPr>
            <a:r>
              <a:rPr lang="en-US" sz="850" dirty="0">
                <a:solidFill>
                  <a:srgbClr val="66717A"/>
                </a:solidFill>
                <a:latin typeface="Inter" pitchFamily="34" charset="0"/>
                <a:ea typeface="Aptos" pitchFamily="34" charset="-122"/>
                <a:cs typeface="Aptos" pitchFamily="34" charset="-120"/>
              </a:rPr>
              <a:t>#F4F0E8</a:t>
            </a:r>
            <a:endParaRPr lang="en-US" sz="850" dirty="0"/>
          </a:p>
        </p:txBody>
      </p:sp>
      <p:sp>
        <p:nvSpPr>
          <p:cNvPr id="27" name="Text 25"/>
          <p:cNvSpPr/>
          <p:nvPr/>
        </p:nvSpPr>
        <p:spPr>
          <a:xfrm>
            <a:off x="4526280" y="4809744"/>
            <a:ext cx="2971800" cy="228600"/>
          </a:xfrm>
          <a:prstGeom prst="rect">
            <a:avLst/>
          </a:prstGeom>
          <a:noFill/>
          <a:ln/>
        </p:spPr>
        <p:txBody>
          <a:bodyPr wrap="square" lIns="381" tIns="381" rIns="381" bIns="381" rtlCol="0" anchor="ctr">
            <a:normAutofit/>
          </a:bodyPr>
          <a:lstStyle/>
          <a:p>
            <a:pPr marL="0" indent="0" algn="l">
              <a:buNone/>
            </a:pPr>
            <a:r>
              <a:rPr lang="en-US" sz="850" dirty="0">
                <a:solidFill>
                  <a:srgbClr val="070707"/>
                </a:solidFill>
                <a:latin typeface="Inter" pitchFamily="34" charset="0"/>
                <a:ea typeface="Aptos" pitchFamily="34" charset="-122"/>
                <a:cs typeface="Aptos" pitchFamily="34" charset="-120"/>
              </a:rPr>
              <a:t>Nền đọc · cân bằng · minh bạch</a:t>
            </a:r>
            <a:endParaRPr lang="en-US" sz="850" dirty="0"/>
          </a:p>
        </p:txBody>
      </p:sp>
      <p:sp>
        <p:nvSpPr>
          <p:cNvPr id="28" name="Shape 26"/>
          <p:cNvSpPr/>
          <p:nvPr/>
        </p:nvSpPr>
        <p:spPr>
          <a:xfrm>
            <a:off x="8229600" y="3566160"/>
            <a:ext cx="3063240" cy="868680"/>
          </a:xfrm>
          <a:prstGeom prst="rect">
            <a:avLst/>
          </a:prstGeom>
          <a:solidFill>
            <a:srgbClr val="66717A"/>
          </a:solidFill>
          <a:ln w="5080">
            <a:solidFill>
              <a:srgbClr val="D7D7D7"/>
            </a:solidFill>
            <a:prstDash val="solid"/>
          </a:ln>
        </p:spPr>
        <p:txBody>
          <a:bodyPr/>
          <a:lstStyle/>
          <a:p>
            <a:endParaRPr/>
          </a:p>
        </p:txBody>
      </p:sp>
      <p:sp>
        <p:nvSpPr>
          <p:cNvPr id="29" name="Text 27"/>
          <p:cNvSpPr/>
          <p:nvPr/>
        </p:nvSpPr>
        <p:spPr>
          <a:xfrm>
            <a:off x="8229600" y="4535424"/>
            <a:ext cx="2011680" cy="201168"/>
          </a:xfrm>
          <a:prstGeom prst="rect">
            <a:avLst/>
          </a:prstGeom>
          <a:noFill/>
          <a:ln/>
        </p:spPr>
        <p:txBody>
          <a:bodyPr wrap="square" lIns="381" tIns="381" rIns="381" bIns="381" rtlCol="0" anchor="ctr">
            <a:normAutofit/>
          </a:bodyPr>
          <a:lstStyle/>
          <a:p>
            <a:pPr marL="0" indent="0" algn="l">
              <a:buNone/>
            </a:pPr>
            <a:r>
              <a:rPr lang="en-US" sz="1050" b="1" dirty="0">
                <a:solidFill>
                  <a:srgbClr val="071521"/>
                </a:solidFill>
                <a:latin typeface="Inter" pitchFamily="34" charset="0"/>
                <a:ea typeface="Aptos" pitchFamily="34" charset="-122"/>
                <a:cs typeface="Aptos" pitchFamily="34" charset="-120"/>
              </a:rPr>
              <a:t>Slate Gray</a:t>
            </a:r>
            <a:endParaRPr lang="en-US" sz="1050" dirty="0"/>
          </a:p>
        </p:txBody>
      </p:sp>
      <p:sp>
        <p:nvSpPr>
          <p:cNvPr id="30" name="Text 28"/>
          <p:cNvSpPr/>
          <p:nvPr/>
        </p:nvSpPr>
        <p:spPr>
          <a:xfrm>
            <a:off x="10241280" y="4535424"/>
            <a:ext cx="1005840" cy="201168"/>
          </a:xfrm>
          <a:prstGeom prst="rect">
            <a:avLst/>
          </a:prstGeom>
          <a:noFill/>
          <a:ln/>
        </p:spPr>
        <p:txBody>
          <a:bodyPr wrap="square" lIns="381" tIns="381" rIns="381" bIns="381" rtlCol="0" anchor="ctr">
            <a:normAutofit/>
          </a:bodyPr>
          <a:lstStyle/>
          <a:p>
            <a:pPr marL="0" indent="0" algn="r">
              <a:buNone/>
            </a:pPr>
            <a:r>
              <a:rPr lang="en-US" sz="850" dirty="0">
                <a:solidFill>
                  <a:srgbClr val="66717A"/>
                </a:solidFill>
                <a:latin typeface="Inter" pitchFamily="34" charset="0"/>
                <a:ea typeface="Aptos" pitchFamily="34" charset="-122"/>
                <a:cs typeface="Aptos" pitchFamily="34" charset="-120"/>
              </a:rPr>
              <a:t>#66717A</a:t>
            </a:r>
            <a:endParaRPr lang="en-US" sz="850" dirty="0"/>
          </a:p>
        </p:txBody>
      </p:sp>
      <p:sp>
        <p:nvSpPr>
          <p:cNvPr id="31" name="Text 29"/>
          <p:cNvSpPr/>
          <p:nvPr/>
        </p:nvSpPr>
        <p:spPr>
          <a:xfrm>
            <a:off x="8229600" y="4809744"/>
            <a:ext cx="2971800" cy="228600"/>
          </a:xfrm>
          <a:prstGeom prst="rect">
            <a:avLst/>
          </a:prstGeom>
          <a:noFill/>
          <a:ln/>
        </p:spPr>
        <p:txBody>
          <a:bodyPr wrap="square" lIns="381" tIns="381" rIns="381" bIns="381" rtlCol="0" anchor="ctr">
            <a:normAutofit/>
          </a:bodyPr>
          <a:lstStyle/>
          <a:p>
            <a:pPr marL="0" indent="0" algn="l">
              <a:buNone/>
            </a:pPr>
            <a:r>
              <a:rPr lang="en-US" sz="850" dirty="0">
                <a:solidFill>
                  <a:srgbClr val="070707"/>
                </a:solidFill>
                <a:latin typeface="Inter" pitchFamily="34" charset="0"/>
                <a:ea typeface="Aptos" pitchFamily="34" charset="-122"/>
                <a:cs typeface="Aptos" pitchFamily="34" charset="-120"/>
              </a:rPr>
              <a:t>Chữ phụ · dữ liệu thứ cấp</a:t>
            </a:r>
            <a:endParaRPr lang="en-US" sz="850" dirty="0"/>
          </a:p>
        </p:txBody>
      </p:sp>
      <p:sp>
        <p:nvSpPr>
          <p:cNvPr id="32" name="Text 30"/>
          <p:cNvSpPr/>
          <p:nvPr/>
        </p:nvSpPr>
        <p:spPr>
          <a:xfrm>
            <a:off x="822960" y="6080760"/>
            <a:ext cx="10515600" cy="228600"/>
          </a:xfrm>
          <a:prstGeom prst="rect">
            <a:avLst/>
          </a:prstGeom>
          <a:noFill/>
          <a:ln/>
        </p:spPr>
        <p:txBody>
          <a:bodyPr wrap="square" lIns="381" tIns="381" rIns="381" bIns="381" rtlCol="0" anchor="ctr">
            <a:normAutofit/>
          </a:bodyPr>
          <a:lstStyle/>
          <a:p>
            <a:pPr marL="0" indent="0" algn="ctr">
              <a:buNone/>
            </a:pPr>
            <a:r>
              <a:rPr lang="en-US" sz="1050" b="1" dirty="0">
                <a:solidFill>
                  <a:srgbClr val="D4A83F"/>
                </a:solidFill>
                <a:latin typeface="Inter" pitchFamily="34" charset="0"/>
                <a:ea typeface="Aptos" pitchFamily="34" charset="-122"/>
                <a:cs typeface="Aptos" pitchFamily="34" charset="-120"/>
              </a:rPr>
              <a:t>Tỷ lệ sử dụng đề xuất: 60% đen/navy · 25% ivory · 10% gold · 5% màu chức năng.</a:t>
            </a:r>
            <a:endParaRPr lang="en-US" sz="1050" dirty="0"/>
          </a:p>
        </p:txBody>
      </p:sp>
      <p:sp>
        <p:nvSpPr>
          <p:cNvPr id="33" name="Text 31"/>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34" name="Text 32"/>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E8CF8B"/>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D7D7D7"/>
                </a:solidFill>
                <a:latin typeface="Inter" pitchFamily="34" charset="0"/>
                <a:ea typeface="Aptos" pitchFamily="34" charset="-122"/>
                <a:cs typeface="Aptos" pitchFamily="34" charset="-120"/>
              </a:rPr>
              <a:t>03 Visual Identity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D4A83F"/>
                </a:solidFill>
                <a:latin typeface="Inter" pitchFamily="34" charset="0"/>
                <a:ea typeface="Aptos" pitchFamily="34" charset="-122"/>
                <a:cs typeface="Aptos" pitchFamily="34" charset="-120"/>
              </a:rPr>
              <a:t>18</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E8CF8B"/>
                </a:solidFill>
                <a:latin typeface="Inter" pitchFamily="34" charset="0"/>
                <a:ea typeface="Aptos" pitchFamily="34" charset="-122"/>
                <a:cs typeface="Aptos" pitchFamily="34" charset="-120"/>
              </a:rPr>
              <a:t>TYPOGRAPHY SYSTEM</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FFFFFF"/>
                </a:solidFill>
                <a:latin typeface="SVN-Georgia" pitchFamily="34" charset="0"/>
                <a:ea typeface="Aptos Display" pitchFamily="34" charset="-122"/>
                <a:cs typeface="Aptos Display" pitchFamily="34" charset="-120"/>
              </a:rPr>
              <a:t>Bộ font chuẩn theo website Moneyfest</a:t>
            </a:r>
            <a:endParaRPr lang="en-US" sz="2300" dirty="0"/>
          </a:p>
        </p:txBody>
      </p:sp>
      <p:sp>
        <p:nvSpPr>
          <p:cNvPr id="8" name="Text 6"/>
          <p:cNvSpPr/>
          <p:nvPr/>
        </p:nvSpPr>
        <p:spPr>
          <a:xfrm>
            <a:off x="822960" y="1874520"/>
            <a:ext cx="5120640" cy="365760"/>
          </a:xfrm>
          <a:prstGeom prst="rect">
            <a:avLst/>
          </a:prstGeom>
          <a:noFill/>
          <a:ln/>
        </p:spPr>
        <p:txBody>
          <a:bodyPr wrap="square" lIns="381" tIns="381" rIns="381" bIns="381" rtlCol="0" anchor="ctr">
            <a:normAutofit/>
          </a:bodyPr>
          <a:lstStyle/>
          <a:p>
            <a:pPr marL="0" indent="0" algn="l">
              <a:buNone/>
            </a:pPr>
            <a:r>
              <a:rPr lang="en-US" sz="2000" b="1" dirty="0" smtClean="0">
                <a:solidFill>
                  <a:srgbClr val="D4A83F"/>
                </a:solidFill>
                <a:latin typeface="SVN-Georgia" panose="02040502050405020303" pitchFamily="18" charset="0"/>
                <a:ea typeface="SVN-Georgia" pitchFamily="34" charset="-122"/>
                <a:cs typeface="SVN-Georgia" pitchFamily="34" charset="-120"/>
              </a:rPr>
              <a:t>SVN-Georgia</a:t>
            </a:r>
            <a:endParaRPr lang="en-US" sz="2000" dirty="0">
              <a:latin typeface="SVN-Georgia" panose="02040502050405020303" pitchFamily="18" charset="0"/>
            </a:endParaRPr>
          </a:p>
        </p:txBody>
      </p:sp>
      <p:sp>
        <p:nvSpPr>
          <p:cNvPr id="9" name="Text 7"/>
          <p:cNvSpPr/>
          <p:nvPr/>
        </p:nvSpPr>
        <p:spPr>
          <a:xfrm>
            <a:off x="868680" y="2395728"/>
            <a:ext cx="4846320" cy="320040"/>
          </a:xfrm>
          <a:prstGeom prst="rect">
            <a:avLst/>
          </a:prstGeom>
          <a:noFill/>
          <a:ln/>
        </p:spPr>
        <p:txBody>
          <a:bodyPr wrap="square" lIns="381" tIns="381" rIns="381" bIns="381" rtlCol="0" anchor="ctr">
            <a:normAutofit/>
          </a:bodyPr>
          <a:lstStyle/>
          <a:p>
            <a:pPr marL="0" indent="0" algn="l">
              <a:buNone/>
            </a:pPr>
            <a:r>
              <a:rPr lang="en-US" sz="1050" dirty="0">
                <a:solidFill>
                  <a:srgbClr val="F4F0E8"/>
                </a:solidFill>
                <a:latin typeface="Inter" pitchFamily="34" charset="0"/>
                <a:ea typeface="Aptos" pitchFamily="34" charset="-122"/>
                <a:cs typeface="Aptos" pitchFamily="34" charset="-120"/>
              </a:rPr>
              <a:t>Dùng cho tiêu đề lớn, quote, triết lý thương hiệu và ấn phẩm premium.</a:t>
            </a:r>
            <a:endParaRPr lang="en-US" sz="1050" dirty="0"/>
          </a:p>
        </p:txBody>
      </p:sp>
      <p:sp>
        <p:nvSpPr>
          <p:cNvPr id="10" name="Text 8"/>
          <p:cNvSpPr/>
          <p:nvPr/>
        </p:nvSpPr>
        <p:spPr>
          <a:xfrm>
            <a:off x="822960" y="3246120"/>
            <a:ext cx="5669280" cy="365760"/>
          </a:xfrm>
          <a:prstGeom prst="rect">
            <a:avLst/>
          </a:prstGeom>
          <a:noFill/>
          <a:ln/>
        </p:spPr>
        <p:txBody>
          <a:bodyPr wrap="square" lIns="381" tIns="381" rIns="381" bIns="381" rtlCol="0" anchor="ctr">
            <a:normAutofit/>
          </a:bodyPr>
          <a:lstStyle/>
          <a:p>
            <a:r>
              <a:rPr lang="en-GB" sz="2000" b="1" dirty="0" smtClean="0">
                <a:solidFill>
                  <a:srgbClr val="FFFFFF"/>
                </a:solidFill>
                <a:latin typeface="Inter" pitchFamily="34" charset="0"/>
                <a:ea typeface="Aptos Display" pitchFamily="34" charset="-122"/>
              </a:rPr>
              <a:t>SVN-Georgia/ I</a:t>
            </a:r>
            <a:r>
              <a:rPr lang="en-GB" sz="2000" b="1" dirty="0" smtClean="0">
                <a:solidFill>
                  <a:srgbClr val="FFFFFF"/>
                </a:solidFill>
                <a:latin typeface="Inter" pitchFamily="34" charset="0"/>
                <a:ea typeface="Aptos Display" pitchFamily="34" charset="-122"/>
              </a:rPr>
              <a:t>nter</a:t>
            </a:r>
            <a:endParaRPr lang="en-US" sz="2000" dirty="0"/>
          </a:p>
        </p:txBody>
      </p:sp>
      <p:sp>
        <p:nvSpPr>
          <p:cNvPr id="11" name="Text 9"/>
          <p:cNvSpPr/>
          <p:nvPr/>
        </p:nvSpPr>
        <p:spPr>
          <a:xfrm>
            <a:off x="868680" y="3767328"/>
            <a:ext cx="4846320" cy="320040"/>
          </a:xfrm>
          <a:prstGeom prst="rect">
            <a:avLst/>
          </a:prstGeom>
          <a:noFill/>
          <a:ln/>
        </p:spPr>
        <p:txBody>
          <a:bodyPr wrap="square" lIns="381" tIns="381" rIns="381" bIns="381" rtlCol="0" anchor="ctr">
            <a:normAutofit/>
          </a:bodyPr>
          <a:lstStyle/>
          <a:p>
            <a:pPr marL="0" indent="0" algn="l">
              <a:buNone/>
            </a:pPr>
            <a:r>
              <a:rPr lang="en-US" sz="1050" dirty="0">
                <a:solidFill>
                  <a:srgbClr val="F4F0E8"/>
                </a:solidFill>
                <a:latin typeface="Inter" pitchFamily="34" charset="0"/>
                <a:ea typeface="Aptos" pitchFamily="34" charset="-122"/>
                <a:cs typeface="Aptos" pitchFamily="34" charset="-120"/>
              </a:rPr>
              <a:t>Dùng cho tiêu đề hiện đại, slide, social post và tài liệu tư vấn.</a:t>
            </a:r>
            <a:endParaRPr lang="en-US" sz="1050" dirty="0"/>
          </a:p>
        </p:txBody>
      </p:sp>
      <p:sp>
        <p:nvSpPr>
          <p:cNvPr id="12" name="Text 10"/>
          <p:cNvSpPr/>
          <p:nvPr/>
        </p:nvSpPr>
        <p:spPr>
          <a:xfrm>
            <a:off x="822960" y="4617720"/>
            <a:ext cx="5120640" cy="365760"/>
          </a:xfrm>
          <a:prstGeom prst="rect">
            <a:avLst/>
          </a:prstGeom>
          <a:noFill/>
          <a:ln/>
        </p:spPr>
        <p:txBody>
          <a:bodyPr wrap="square" lIns="381" tIns="381" rIns="381" bIns="381" rtlCol="0" anchor="ctr">
            <a:normAutofit/>
          </a:bodyPr>
          <a:lstStyle/>
          <a:p>
            <a:r>
              <a:rPr lang="en-US" sz="2000" b="1" dirty="0" smtClean="0">
                <a:solidFill>
                  <a:srgbClr val="E8CF8B"/>
                </a:solidFill>
                <a:latin typeface="Inter" pitchFamily="34" charset="0"/>
                <a:ea typeface="Aptos" pitchFamily="34" charset="-122"/>
                <a:cs typeface="Aptos" pitchFamily="34" charset="-120"/>
              </a:rPr>
              <a:t>Inter </a:t>
            </a:r>
            <a:r>
              <a:rPr lang="en-US" sz="2000" b="1" dirty="0">
                <a:solidFill>
                  <a:srgbClr val="E8CF8B"/>
                </a:solidFill>
                <a:latin typeface="Inter" pitchFamily="34" charset="0"/>
                <a:ea typeface="Aptos" pitchFamily="34" charset="-122"/>
                <a:cs typeface="Aptos" pitchFamily="34" charset="-120"/>
              </a:rPr>
              <a:t>/ Source Sans </a:t>
            </a:r>
            <a:r>
              <a:rPr lang="en-US" sz="2000" b="1" dirty="0" smtClean="0">
                <a:solidFill>
                  <a:srgbClr val="E8CF8B"/>
                </a:solidFill>
                <a:latin typeface="Inter" pitchFamily="34" charset="0"/>
                <a:ea typeface="Aptos" pitchFamily="34" charset="-122"/>
                <a:cs typeface="Aptos" pitchFamily="34" charset="-120"/>
              </a:rPr>
              <a:t>3/ Aptos</a:t>
            </a:r>
            <a:endParaRPr lang="en-US" sz="2000" dirty="0"/>
          </a:p>
        </p:txBody>
      </p:sp>
      <p:sp>
        <p:nvSpPr>
          <p:cNvPr id="13" name="Text 11"/>
          <p:cNvSpPr/>
          <p:nvPr/>
        </p:nvSpPr>
        <p:spPr>
          <a:xfrm>
            <a:off x="868680" y="5138928"/>
            <a:ext cx="4846320" cy="320040"/>
          </a:xfrm>
          <a:prstGeom prst="rect">
            <a:avLst/>
          </a:prstGeom>
          <a:noFill/>
          <a:ln/>
        </p:spPr>
        <p:txBody>
          <a:bodyPr wrap="square" lIns="381" tIns="381" rIns="381" bIns="381" rtlCol="0" anchor="ctr">
            <a:normAutofit/>
          </a:bodyPr>
          <a:lstStyle/>
          <a:p>
            <a:pPr marL="0" indent="0" algn="l">
              <a:buNone/>
            </a:pPr>
            <a:r>
              <a:rPr lang="en-US" sz="1050" dirty="0">
                <a:solidFill>
                  <a:srgbClr val="F4F0E8"/>
                </a:solidFill>
                <a:latin typeface="Inter" pitchFamily="34" charset="0"/>
                <a:ea typeface="Aptos" pitchFamily="34" charset="-122"/>
                <a:cs typeface="Aptos" pitchFamily="34" charset="-120"/>
              </a:rPr>
              <a:t>Dùng cho nội dung dài, bảng dữ liệu, checklist và email.</a:t>
            </a:r>
            <a:endParaRPr lang="en-US" sz="1050" dirty="0"/>
          </a:p>
        </p:txBody>
      </p:sp>
      <p:sp>
        <p:nvSpPr>
          <p:cNvPr id="14" name="Shape 12"/>
          <p:cNvSpPr/>
          <p:nvPr/>
        </p:nvSpPr>
        <p:spPr>
          <a:xfrm>
            <a:off x="6995160" y="1783080"/>
            <a:ext cx="3840480" cy="3611880"/>
          </a:xfrm>
          <a:prstGeom prst="rect">
            <a:avLst/>
          </a:prstGeom>
          <a:solidFill>
            <a:srgbClr val="F4F0E8"/>
          </a:solidFill>
          <a:ln w="10160">
            <a:solidFill>
              <a:srgbClr val="D4A83F"/>
            </a:solidFill>
            <a:prstDash val="solid"/>
          </a:ln>
        </p:spPr>
        <p:txBody>
          <a:bodyPr/>
          <a:lstStyle/>
          <a:p>
            <a:endParaRPr/>
          </a:p>
        </p:txBody>
      </p:sp>
      <p:sp>
        <p:nvSpPr>
          <p:cNvPr id="15" name="Text 13"/>
          <p:cNvSpPr/>
          <p:nvPr/>
        </p:nvSpPr>
        <p:spPr>
          <a:xfrm>
            <a:off x="7269480" y="2148840"/>
            <a:ext cx="3291840" cy="502920"/>
          </a:xfrm>
          <a:prstGeom prst="rect">
            <a:avLst/>
          </a:prstGeom>
          <a:noFill/>
          <a:ln/>
        </p:spPr>
        <p:txBody>
          <a:bodyPr wrap="square" lIns="381" tIns="381" rIns="381" bIns="381" rtlCol="0" anchor="ctr">
            <a:normAutofit/>
          </a:bodyPr>
          <a:lstStyle/>
          <a:p>
            <a:pPr marL="0" indent="0" algn="ctr">
              <a:buNone/>
            </a:pPr>
            <a:r>
              <a:rPr lang="en-US" sz="2300" b="1" dirty="0">
                <a:solidFill>
                  <a:srgbClr val="071521"/>
                </a:solidFill>
                <a:latin typeface="SVN-Georgia" pitchFamily="34" charset="0"/>
                <a:ea typeface="SVN-Georgia" pitchFamily="34" charset="-122"/>
                <a:cs typeface="SVN-Georgia" pitchFamily="34" charset="-120"/>
              </a:rPr>
              <a:t>HIỂU LUẬT CHƠI</a:t>
            </a:r>
            <a:endParaRPr lang="en-US" sz="2300" dirty="0"/>
          </a:p>
        </p:txBody>
      </p:sp>
      <p:sp>
        <p:nvSpPr>
          <p:cNvPr id="16" name="Text 14"/>
          <p:cNvSpPr/>
          <p:nvPr/>
        </p:nvSpPr>
        <p:spPr>
          <a:xfrm>
            <a:off x="7360920" y="2907792"/>
            <a:ext cx="3108960" cy="914400"/>
          </a:xfrm>
          <a:prstGeom prst="rect">
            <a:avLst/>
          </a:prstGeom>
          <a:noFill/>
          <a:ln/>
        </p:spPr>
        <p:txBody>
          <a:bodyPr wrap="square" lIns="381" tIns="381" rIns="381" bIns="381" rtlCol="0" anchor="ctr">
            <a:normAutofit/>
          </a:bodyPr>
          <a:lstStyle/>
          <a:p>
            <a:pPr marL="0" indent="0" algn="ctr">
              <a:buNone/>
            </a:pPr>
            <a:r>
              <a:rPr lang="en-US" sz="1150" dirty="0">
                <a:solidFill>
                  <a:srgbClr val="070707"/>
                </a:solidFill>
                <a:latin typeface="Inter" pitchFamily="34" charset="0"/>
                <a:ea typeface="Aptos" pitchFamily="34" charset="-122"/>
                <a:cs typeface="Aptos" pitchFamily="34" charset="-120"/>
              </a:rPr>
              <a:t>Không phải ai có tiền cũng hiểu tiền. Người hiểu hệ thống sẽ ra quyết định bình tĩnh hơn khi thị trường biến động.</a:t>
            </a:r>
            <a:endParaRPr lang="en-US" sz="1150" dirty="0"/>
          </a:p>
        </p:txBody>
      </p:sp>
      <p:sp>
        <p:nvSpPr>
          <p:cNvPr id="17" name="Text 15"/>
          <p:cNvSpPr/>
          <p:nvPr/>
        </p:nvSpPr>
        <p:spPr>
          <a:xfrm>
            <a:off x="7360920" y="4279392"/>
            <a:ext cx="3108960" cy="256032"/>
          </a:xfrm>
          <a:prstGeom prst="rect">
            <a:avLst/>
          </a:prstGeom>
          <a:noFill/>
          <a:ln/>
        </p:spPr>
        <p:txBody>
          <a:bodyPr wrap="square" lIns="381" tIns="381" rIns="381" bIns="381" rtlCol="0" anchor="ctr">
            <a:normAutofit/>
          </a:bodyPr>
          <a:lstStyle/>
          <a:p>
            <a:pPr marL="0" indent="0" algn="ctr">
              <a:buNone/>
            </a:pPr>
            <a:r>
              <a:rPr lang="en-US" sz="920" b="1" dirty="0">
                <a:solidFill>
                  <a:srgbClr val="D4A83F"/>
                </a:solidFill>
                <a:latin typeface="Inter" pitchFamily="34" charset="0"/>
                <a:ea typeface="Aptos" pitchFamily="34" charset="-122"/>
                <a:cs typeface="Aptos" pitchFamily="34" charset="-120"/>
              </a:rPr>
              <a:t>CTA: Tải Bản đồ phân bổ tiền nhàn rỗi</a:t>
            </a:r>
            <a:endParaRPr lang="en-US" sz="920" dirty="0"/>
          </a:p>
        </p:txBody>
      </p:sp>
      <p:sp>
        <p:nvSpPr>
          <p:cNvPr id="18" name="Text 16"/>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19" name="Text 17"/>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03 Visual Identity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19</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GRAPHIC ELEMENTS</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Motif &amp; pattern</a:t>
            </a:r>
            <a:endParaRPr lang="en-US" sz="2300" dirty="0"/>
          </a:p>
        </p:txBody>
      </p:sp>
      <p:sp>
        <p:nvSpPr>
          <p:cNvPr id="8" name="Shape 6"/>
          <p:cNvSpPr/>
          <p:nvPr/>
        </p:nvSpPr>
        <p:spPr>
          <a:xfrm>
            <a:off x="868680" y="1874520"/>
            <a:ext cx="2971800" cy="960120"/>
          </a:xfrm>
          <a:prstGeom prst="rect">
            <a:avLst/>
          </a:prstGeom>
          <a:solidFill>
            <a:srgbClr val="071521"/>
          </a:solidFill>
          <a:ln w="7620">
            <a:solidFill>
              <a:srgbClr val="D4A83F"/>
            </a:solidFill>
            <a:prstDash val="solid"/>
          </a:ln>
        </p:spPr>
        <p:txBody>
          <a:bodyPr/>
          <a:lstStyle/>
          <a:p>
            <a:endParaRPr/>
          </a:p>
        </p:txBody>
      </p:sp>
      <p:sp>
        <p:nvSpPr>
          <p:cNvPr id="9" name="Text 7"/>
          <p:cNvSpPr/>
          <p:nvPr/>
        </p:nvSpPr>
        <p:spPr>
          <a:xfrm>
            <a:off x="1097280" y="2103120"/>
            <a:ext cx="2514600" cy="274320"/>
          </a:xfrm>
          <a:prstGeom prst="rect">
            <a:avLst/>
          </a:prstGeom>
          <a:noFill/>
          <a:ln/>
        </p:spPr>
        <p:txBody>
          <a:bodyPr wrap="square" lIns="381" tIns="381" rIns="381" bIns="381" rtlCol="0" anchor="ctr">
            <a:normAutofit/>
          </a:bodyPr>
          <a:lstStyle/>
          <a:p>
            <a:pPr marL="0" indent="0" algn="ctr">
              <a:buNone/>
            </a:pPr>
            <a:r>
              <a:rPr lang="en-US" sz="1500" b="1" dirty="0">
                <a:solidFill>
                  <a:srgbClr val="D4A83F"/>
                </a:solidFill>
                <a:latin typeface="Inter" pitchFamily="34" charset="0"/>
                <a:ea typeface="Aptos" pitchFamily="34" charset="-122"/>
                <a:cs typeface="Aptos" pitchFamily="34" charset="-120"/>
              </a:rPr>
              <a:t>North Star</a:t>
            </a:r>
            <a:endParaRPr lang="en-US" sz="1500" dirty="0"/>
          </a:p>
        </p:txBody>
      </p:sp>
      <p:sp>
        <p:nvSpPr>
          <p:cNvPr id="10" name="Text 8"/>
          <p:cNvSpPr/>
          <p:nvPr/>
        </p:nvSpPr>
        <p:spPr>
          <a:xfrm>
            <a:off x="1097280" y="2459736"/>
            <a:ext cx="2514600" cy="182880"/>
          </a:xfrm>
          <a:prstGeom prst="rect">
            <a:avLst/>
          </a:prstGeom>
          <a:noFill/>
          <a:ln/>
        </p:spPr>
        <p:txBody>
          <a:bodyPr wrap="square" lIns="381" tIns="381" rIns="381" bIns="381" rtlCol="0" anchor="ctr">
            <a:normAutofit/>
          </a:bodyPr>
          <a:lstStyle/>
          <a:p>
            <a:pPr marL="0" indent="0" algn="ctr">
              <a:buNone/>
            </a:pPr>
            <a:r>
              <a:rPr lang="en-US" sz="850" dirty="0">
                <a:solidFill>
                  <a:srgbClr val="F4F0E8"/>
                </a:solidFill>
                <a:latin typeface="Inter" pitchFamily="34" charset="0"/>
                <a:ea typeface="Aptos" pitchFamily="34" charset="-122"/>
                <a:cs typeface="Aptos" pitchFamily="34" charset="-120"/>
              </a:rPr>
              <a:t>Định hướng</a:t>
            </a:r>
            <a:endParaRPr lang="en-US" sz="850" dirty="0"/>
          </a:p>
        </p:txBody>
      </p:sp>
      <p:sp>
        <p:nvSpPr>
          <p:cNvPr id="11" name="Shape 9"/>
          <p:cNvSpPr/>
          <p:nvPr/>
        </p:nvSpPr>
        <p:spPr>
          <a:xfrm>
            <a:off x="4572000" y="1874520"/>
            <a:ext cx="2971800" cy="960120"/>
          </a:xfrm>
          <a:prstGeom prst="rect">
            <a:avLst/>
          </a:prstGeom>
          <a:solidFill>
            <a:srgbClr val="F4F0E8"/>
          </a:solidFill>
          <a:ln w="7620">
            <a:solidFill>
              <a:srgbClr val="D4A83F"/>
            </a:solidFill>
            <a:prstDash val="solid"/>
          </a:ln>
        </p:spPr>
        <p:txBody>
          <a:bodyPr/>
          <a:lstStyle/>
          <a:p>
            <a:endParaRPr/>
          </a:p>
        </p:txBody>
      </p:sp>
      <p:sp>
        <p:nvSpPr>
          <p:cNvPr id="12" name="Text 10"/>
          <p:cNvSpPr/>
          <p:nvPr/>
        </p:nvSpPr>
        <p:spPr>
          <a:xfrm>
            <a:off x="4800600" y="2103120"/>
            <a:ext cx="2514600" cy="274320"/>
          </a:xfrm>
          <a:prstGeom prst="rect">
            <a:avLst/>
          </a:prstGeom>
          <a:noFill/>
          <a:ln/>
        </p:spPr>
        <p:txBody>
          <a:bodyPr wrap="square" lIns="381" tIns="381" rIns="381" bIns="381" rtlCol="0" anchor="ctr">
            <a:normAutofit/>
          </a:bodyPr>
          <a:lstStyle/>
          <a:p>
            <a:pPr marL="0" indent="0" algn="ctr">
              <a:buNone/>
            </a:pPr>
            <a:r>
              <a:rPr lang="en-US" sz="1500" b="1" dirty="0">
                <a:solidFill>
                  <a:srgbClr val="071521"/>
                </a:solidFill>
                <a:latin typeface="Inter" pitchFamily="34" charset="0"/>
                <a:ea typeface="Aptos" pitchFamily="34" charset="-122"/>
                <a:cs typeface="Aptos" pitchFamily="34" charset="-120"/>
              </a:rPr>
              <a:t>Compass</a:t>
            </a:r>
            <a:endParaRPr lang="en-US" sz="1500" dirty="0"/>
          </a:p>
        </p:txBody>
      </p:sp>
      <p:sp>
        <p:nvSpPr>
          <p:cNvPr id="13" name="Text 11"/>
          <p:cNvSpPr/>
          <p:nvPr/>
        </p:nvSpPr>
        <p:spPr>
          <a:xfrm>
            <a:off x="4800600" y="2459736"/>
            <a:ext cx="2514600" cy="182880"/>
          </a:xfrm>
          <a:prstGeom prst="rect">
            <a:avLst/>
          </a:prstGeom>
          <a:noFill/>
          <a:ln/>
        </p:spPr>
        <p:txBody>
          <a:bodyPr wrap="square" lIns="381" tIns="381" rIns="381" bIns="381" rtlCol="0" anchor="ctr">
            <a:normAutofit/>
          </a:bodyPr>
          <a:lstStyle/>
          <a:p>
            <a:pPr marL="0" indent="0" algn="ctr">
              <a:buNone/>
            </a:pPr>
            <a:r>
              <a:rPr lang="en-US" sz="850" dirty="0">
                <a:solidFill>
                  <a:srgbClr val="070707"/>
                </a:solidFill>
                <a:latin typeface="Inter" pitchFamily="34" charset="0"/>
                <a:ea typeface="Aptos" pitchFamily="34" charset="-122"/>
                <a:cs typeface="Aptos" pitchFamily="34" charset="-120"/>
              </a:rPr>
              <a:t>Dẫn đường</a:t>
            </a:r>
            <a:endParaRPr lang="en-US" sz="850" dirty="0"/>
          </a:p>
        </p:txBody>
      </p:sp>
      <p:sp>
        <p:nvSpPr>
          <p:cNvPr id="14" name="Shape 12"/>
          <p:cNvSpPr/>
          <p:nvPr/>
        </p:nvSpPr>
        <p:spPr>
          <a:xfrm>
            <a:off x="8275320" y="1874520"/>
            <a:ext cx="2971800" cy="960120"/>
          </a:xfrm>
          <a:prstGeom prst="rect">
            <a:avLst/>
          </a:prstGeom>
          <a:solidFill>
            <a:srgbClr val="071521"/>
          </a:solidFill>
          <a:ln w="7620">
            <a:solidFill>
              <a:srgbClr val="D4A83F"/>
            </a:solidFill>
            <a:prstDash val="solid"/>
          </a:ln>
        </p:spPr>
        <p:txBody>
          <a:bodyPr/>
          <a:lstStyle/>
          <a:p>
            <a:endParaRPr/>
          </a:p>
        </p:txBody>
      </p:sp>
      <p:sp>
        <p:nvSpPr>
          <p:cNvPr id="15" name="Text 13"/>
          <p:cNvSpPr/>
          <p:nvPr/>
        </p:nvSpPr>
        <p:spPr>
          <a:xfrm>
            <a:off x="8503920" y="2103120"/>
            <a:ext cx="2514600" cy="274320"/>
          </a:xfrm>
          <a:prstGeom prst="rect">
            <a:avLst/>
          </a:prstGeom>
          <a:noFill/>
          <a:ln/>
        </p:spPr>
        <p:txBody>
          <a:bodyPr wrap="square" lIns="381" tIns="381" rIns="381" bIns="381" rtlCol="0" anchor="ctr">
            <a:normAutofit/>
          </a:bodyPr>
          <a:lstStyle/>
          <a:p>
            <a:pPr marL="0" indent="0" algn="ctr">
              <a:buNone/>
            </a:pPr>
            <a:r>
              <a:rPr lang="en-US" sz="1500" b="1" dirty="0">
                <a:solidFill>
                  <a:srgbClr val="D4A83F"/>
                </a:solidFill>
                <a:latin typeface="Inter" pitchFamily="34" charset="0"/>
                <a:ea typeface="Aptos" pitchFamily="34" charset="-122"/>
                <a:cs typeface="Aptos" pitchFamily="34" charset="-120"/>
              </a:rPr>
              <a:t>Map/Grid</a:t>
            </a:r>
            <a:endParaRPr lang="en-US" sz="1500" dirty="0"/>
          </a:p>
        </p:txBody>
      </p:sp>
      <p:sp>
        <p:nvSpPr>
          <p:cNvPr id="16" name="Text 14"/>
          <p:cNvSpPr/>
          <p:nvPr/>
        </p:nvSpPr>
        <p:spPr>
          <a:xfrm>
            <a:off x="8503920" y="2459736"/>
            <a:ext cx="2514600" cy="182880"/>
          </a:xfrm>
          <a:prstGeom prst="rect">
            <a:avLst/>
          </a:prstGeom>
          <a:noFill/>
          <a:ln/>
        </p:spPr>
        <p:txBody>
          <a:bodyPr wrap="square" lIns="381" tIns="381" rIns="381" bIns="381" rtlCol="0" anchor="ctr">
            <a:normAutofit/>
          </a:bodyPr>
          <a:lstStyle/>
          <a:p>
            <a:pPr marL="0" indent="0" algn="ctr">
              <a:buNone/>
            </a:pPr>
            <a:r>
              <a:rPr lang="en-US" sz="850" dirty="0">
                <a:solidFill>
                  <a:srgbClr val="F4F0E8"/>
                </a:solidFill>
                <a:latin typeface="Inter" pitchFamily="34" charset="0"/>
                <a:ea typeface="Aptos" pitchFamily="34" charset="-122"/>
                <a:cs typeface="Aptos" pitchFamily="34" charset="-120"/>
              </a:rPr>
              <a:t>Hệ thống</a:t>
            </a:r>
            <a:endParaRPr lang="en-US" sz="850" dirty="0"/>
          </a:p>
        </p:txBody>
      </p:sp>
      <p:sp>
        <p:nvSpPr>
          <p:cNvPr id="17" name="Shape 15"/>
          <p:cNvSpPr/>
          <p:nvPr/>
        </p:nvSpPr>
        <p:spPr>
          <a:xfrm>
            <a:off x="868680" y="3566160"/>
            <a:ext cx="2971800" cy="960120"/>
          </a:xfrm>
          <a:prstGeom prst="rect">
            <a:avLst/>
          </a:prstGeom>
          <a:solidFill>
            <a:srgbClr val="F4F0E8"/>
          </a:solidFill>
          <a:ln w="7620">
            <a:solidFill>
              <a:srgbClr val="D4A83F"/>
            </a:solidFill>
            <a:prstDash val="solid"/>
          </a:ln>
        </p:spPr>
        <p:txBody>
          <a:bodyPr/>
          <a:lstStyle/>
          <a:p>
            <a:endParaRPr/>
          </a:p>
        </p:txBody>
      </p:sp>
      <p:sp>
        <p:nvSpPr>
          <p:cNvPr id="18" name="Text 16"/>
          <p:cNvSpPr/>
          <p:nvPr/>
        </p:nvSpPr>
        <p:spPr>
          <a:xfrm>
            <a:off x="1097280" y="3794760"/>
            <a:ext cx="2514600" cy="274320"/>
          </a:xfrm>
          <a:prstGeom prst="rect">
            <a:avLst/>
          </a:prstGeom>
          <a:noFill/>
          <a:ln/>
        </p:spPr>
        <p:txBody>
          <a:bodyPr wrap="square" lIns="381" tIns="381" rIns="381" bIns="381" rtlCol="0" anchor="ctr">
            <a:normAutofit/>
          </a:bodyPr>
          <a:lstStyle/>
          <a:p>
            <a:pPr marL="0" indent="0" algn="ctr">
              <a:buNone/>
            </a:pPr>
            <a:r>
              <a:rPr lang="en-US" sz="1500" b="1" dirty="0">
                <a:solidFill>
                  <a:srgbClr val="071521"/>
                </a:solidFill>
                <a:latin typeface="Inter" pitchFamily="34" charset="0"/>
                <a:ea typeface="Aptos" pitchFamily="34" charset="-122"/>
                <a:cs typeface="Aptos" pitchFamily="34" charset="-120"/>
              </a:rPr>
              <a:t>Coin/Circle</a:t>
            </a:r>
            <a:endParaRPr lang="en-US" sz="1500" dirty="0"/>
          </a:p>
        </p:txBody>
      </p:sp>
      <p:sp>
        <p:nvSpPr>
          <p:cNvPr id="19" name="Text 17"/>
          <p:cNvSpPr/>
          <p:nvPr/>
        </p:nvSpPr>
        <p:spPr>
          <a:xfrm>
            <a:off x="1097280" y="4151376"/>
            <a:ext cx="2514600" cy="182880"/>
          </a:xfrm>
          <a:prstGeom prst="rect">
            <a:avLst/>
          </a:prstGeom>
          <a:noFill/>
          <a:ln/>
        </p:spPr>
        <p:txBody>
          <a:bodyPr wrap="square" lIns="381" tIns="381" rIns="381" bIns="381" rtlCol="0" anchor="ctr">
            <a:normAutofit/>
          </a:bodyPr>
          <a:lstStyle/>
          <a:p>
            <a:pPr marL="0" indent="0" algn="ctr">
              <a:buNone/>
            </a:pPr>
            <a:r>
              <a:rPr lang="en-US" sz="850" dirty="0">
                <a:solidFill>
                  <a:srgbClr val="070707"/>
                </a:solidFill>
                <a:latin typeface="Inter" pitchFamily="34" charset="0"/>
                <a:ea typeface="Aptos" pitchFamily="34" charset="-122"/>
                <a:cs typeface="Aptos" pitchFamily="34" charset="-120"/>
              </a:rPr>
              <a:t>Tài sản</a:t>
            </a:r>
            <a:endParaRPr lang="en-US" sz="850" dirty="0"/>
          </a:p>
        </p:txBody>
      </p:sp>
      <p:sp>
        <p:nvSpPr>
          <p:cNvPr id="20" name="Shape 18"/>
          <p:cNvSpPr/>
          <p:nvPr/>
        </p:nvSpPr>
        <p:spPr>
          <a:xfrm>
            <a:off x="4572000" y="3566160"/>
            <a:ext cx="2971800" cy="960120"/>
          </a:xfrm>
          <a:prstGeom prst="rect">
            <a:avLst/>
          </a:prstGeom>
          <a:solidFill>
            <a:srgbClr val="071521"/>
          </a:solidFill>
          <a:ln w="7620">
            <a:solidFill>
              <a:srgbClr val="D4A83F"/>
            </a:solidFill>
            <a:prstDash val="solid"/>
          </a:ln>
        </p:spPr>
        <p:txBody>
          <a:bodyPr/>
          <a:lstStyle/>
          <a:p>
            <a:endParaRPr/>
          </a:p>
        </p:txBody>
      </p:sp>
      <p:sp>
        <p:nvSpPr>
          <p:cNvPr id="21" name="Text 19"/>
          <p:cNvSpPr/>
          <p:nvPr/>
        </p:nvSpPr>
        <p:spPr>
          <a:xfrm>
            <a:off x="4800600" y="3794760"/>
            <a:ext cx="2514600" cy="274320"/>
          </a:xfrm>
          <a:prstGeom prst="rect">
            <a:avLst/>
          </a:prstGeom>
          <a:noFill/>
          <a:ln/>
        </p:spPr>
        <p:txBody>
          <a:bodyPr wrap="square" lIns="381" tIns="381" rIns="381" bIns="381" rtlCol="0" anchor="ctr">
            <a:normAutofit/>
          </a:bodyPr>
          <a:lstStyle/>
          <a:p>
            <a:pPr marL="0" indent="0" algn="ctr">
              <a:buNone/>
            </a:pPr>
            <a:r>
              <a:rPr lang="en-US" sz="1500" b="1" dirty="0">
                <a:solidFill>
                  <a:srgbClr val="D4A83F"/>
                </a:solidFill>
                <a:latin typeface="Inter" pitchFamily="34" charset="0"/>
                <a:ea typeface="Aptos" pitchFamily="34" charset="-122"/>
                <a:cs typeface="Aptos" pitchFamily="34" charset="-120"/>
              </a:rPr>
              <a:t>Chess</a:t>
            </a:r>
            <a:endParaRPr lang="en-US" sz="1500" dirty="0"/>
          </a:p>
        </p:txBody>
      </p:sp>
      <p:sp>
        <p:nvSpPr>
          <p:cNvPr id="22" name="Text 20"/>
          <p:cNvSpPr/>
          <p:nvPr/>
        </p:nvSpPr>
        <p:spPr>
          <a:xfrm>
            <a:off x="4800600" y="4151376"/>
            <a:ext cx="2514600" cy="182880"/>
          </a:xfrm>
          <a:prstGeom prst="rect">
            <a:avLst/>
          </a:prstGeom>
          <a:noFill/>
          <a:ln/>
        </p:spPr>
        <p:txBody>
          <a:bodyPr wrap="square" lIns="381" tIns="381" rIns="381" bIns="381" rtlCol="0" anchor="ctr">
            <a:normAutofit/>
          </a:bodyPr>
          <a:lstStyle/>
          <a:p>
            <a:pPr marL="0" indent="0" algn="ctr">
              <a:buNone/>
            </a:pPr>
            <a:r>
              <a:rPr lang="en-US" sz="850" dirty="0">
                <a:solidFill>
                  <a:srgbClr val="F4F0E8"/>
                </a:solidFill>
                <a:latin typeface="Inter" pitchFamily="34" charset="0"/>
                <a:ea typeface="Aptos" pitchFamily="34" charset="-122"/>
                <a:cs typeface="Aptos" pitchFamily="34" charset="-120"/>
              </a:rPr>
              <a:t>Chiến lược</a:t>
            </a:r>
            <a:endParaRPr lang="en-US" sz="850" dirty="0"/>
          </a:p>
        </p:txBody>
      </p:sp>
      <p:sp>
        <p:nvSpPr>
          <p:cNvPr id="23" name="Shape 21"/>
          <p:cNvSpPr/>
          <p:nvPr/>
        </p:nvSpPr>
        <p:spPr>
          <a:xfrm>
            <a:off x="8275320" y="3566160"/>
            <a:ext cx="2971800" cy="960120"/>
          </a:xfrm>
          <a:prstGeom prst="rect">
            <a:avLst/>
          </a:prstGeom>
          <a:solidFill>
            <a:srgbClr val="F4F0E8"/>
          </a:solidFill>
          <a:ln w="7620">
            <a:solidFill>
              <a:srgbClr val="D4A83F"/>
            </a:solidFill>
            <a:prstDash val="solid"/>
          </a:ln>
        </p:spPr>
        <p:txBody>
          <a:bodyPr/>
          <a:lstStyle/>
          <a:p>
            <a:endParaRPr/>
          </a:p>
        </p:txBody>
      </p:sp>
      <p:sp>
        <p:nvSpPr>
          <p:cNvPr id="24" name="Text 22"/>
          <p:cNvSpPr/>
          <p:nvPr/>
        </p:nvSpPr>
        <p:spPr>
          <a:xfrm>
            <a:off x="8503920" y="3794760"/>
            <a:ext cx="2514600" cy="274320"/>
          </a:xfrm>
          <a:prstGeom prst="rect">
            <a:avLst/>
          </a:prstGeom>
          <a:noFill/>
          <a:ln/>
        </p:spPr>
        <p:txBody>
          <a:bodyPr wrap="square" lIns="381" tIns="381" rIns="381" bIns="381" rtlCol="0" anchor="ctr">
            <a:normAutofit/>
          </a:bodyPr>
          <a:lstStyle/>
          <a:p>
            <a:pPr marL="0" indent="0" algn="ctr">
              <a:buNone/>
            </a:pPr>
            <a:r>
              <a:rPr lang="en-US" sz="1500" b="1" dirty="0">
                <a:solidFill>
                  <a:srgbClr val="071521"/>
                </a:solidFill>
                <a:latin typeface="Inter" pitchFamily="34" charset="0"/>
                <a:ea typeface="Aptos" pitchFamily="34" charset="-122"/>
                <a:cs typeface="Aptos" pitchFamily="34" charset="-120"/>
              </a:rPr>
              <a:t>Data Line</a:t>
            </a:r>
            <a:endParaRPr lang="en-US" sz="1500" dirty="0"/>
          </a:p>
        </p:txBody>
      </p:sp>
      <p:sp>
        <p:nvSpPr>
          <p:cNvPr id="25" name="Text 23"/>
          <p:cNvSpPr/>
          <p:nvPr/>
        </p:nvSpPr>
        <p:spPr>
          <a:xfrm>
            <a:off x="8503920" y="4151376"/>
            <a:ext cx="2514600" cy="182880"/>
          </a:xfrm>
          <a:prstGeom prst="rect">
            <a:avLst/>
          </a:prstGeom>
          <a:noFill/>
          <a:ln/>
        </p:spPr>
        <p:txBody>
          <a:bodyPr wrap="square" lIns="381" tIns="381" rIns="381" bIns="381" rtlCol="0" anchor="ctr">
            <a:normAutofit/>
          </a:bodyPr>
          <a:lstStyle/>
          <a:p>
            <a:pPr marL="0" indent="0" algn="ctr">
              <a:buNone/>
            </a:pPr>
            <a:r>
              <a:rPr lang="en-US" sz="850" dirty="0">
                <a:solidFill>
                  <a:srgbClr val="070707"/>
                </a:solidFill>
                <a:latin typeface="Inter" pitchFamily="34" charset="0"/>
                <a:ea typeface="Aptos" pitchFamily="34" charset="-122"/>
                <a:cs typeface="Aptos" pitchFamily="34" charset="-120"/>
              </a:rPr>
              <a:t>Logic</a:t>
            </a:r>
            <a:endParaRPr lang="en-US" sz="850" dirty="0"/>
          </a:p>
        </p:txBody>
      </p:sp>
      <p:sp>
        <p:nvSpPr>
          <p:cNvPr id="26" name="Text 24"/>
          <p:cNvSpPr/>
          <p:nvPr/>
        </p:nvSpPr>
        <p:spPr>
          <a:xfrm>
            <a:off x="822960" y="5577840"/>
            <a:ext cx="10515600" cy="411480"/>
          </a:xfrm>
          <a:prstGeom prst="rect">
            <a:avLst/>
          </a:prstGeom>
          <a:noFill/>
          <a:ln/>
        </p:spPr>
        <p:txBody>
          <a:bodyPr wrap="square" lIns="381" tIns="381" rIns="381" bIns="381" rtlCol="0" anchor="ctr">
            <a:normAutofit/>
          </a:bodyPr>
          <a:lstStyle/>
          <a:p>
            <a:pPr marL="0" indent="0" algn="ctr">
              <a:buNone/>
            </a:pPr>
            <a:r>
              <a:rPr lang="en-US" sz="1200" b="1" dirty="0">
                <a:solidFill>
                  <a:srgbClr val="071521"/>
                </a:solidFill>
                <a:latin typeface="Inter" pitchFamily="34" charset="0"/>
                <a:ea typeface="Aptos" pitchFamily="34" charset="-122"/>
                <a:cs typeface="Aptos" pitchFamily="34" charset="-120"/>
              </a:rPr>
              <a:t>Nguyên tắc: dùng motif như tín hiệu định hướng, không trang trí dày đặc. Mỗi ấn phẩm chỉ nên có 1 motif chính.</a:t>
            </a:r>
            <a:endParaRPr lang="en-US" sz="1200" dirty="0"/>
          </a:p>
        </p:txBody>
      </p:sp>
      <p:sp>
        <p:nvSpPr>
          <p:cNvPr id="27" name="Text 25"/>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28" name="Text 26"/>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E8CF8B"/>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D7D7D7"/>
                </a:solidFill>
                <a:latin typeface="Inter" pitchFamily="34" charset="0"/>
                <a:ea typeface="Aptos" pitchFamily="34" charset="-122"/>
                <a:cs typeface="Aptos" pitchFamily="34" charset="-120"/>
              </a:rPr>
              <a:t>03 Visual Identity</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D4A83F"/>
                </a:solidFill>
                <a:latin typeface="Inter" pitchFamily="34" charset="0"/>
                <a:ea typeface="Aptos" pitchFamily="34" charset="-122"/>
                <a:cs typeface="Aptos" pitchFamily="34" charset="-120"/>
              </a:rPr>
              <a:t>20</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E8CF8B"/>
                </a:solidFill>
                <a:latin typeface="Inter" pitchFamily="34" charset="0"/>
                <a:ea typeface="Aptos" pitchFamily="34" charset="-122"/>
                <a:cs typeface="Aptos" pitchFamily="34" charset="-120"/>
              </a:rPr>
              <a:t>PHOTOGRAPHY &amp; AI VISUAL</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FFFFFF"/>
                </a:solidFill>
                <a:latin typeface="SVN-Georgia" pitchFamily="34" charset="0"/>
                <a:ea typeface="Aptos Display" pitchFamily="34" charset="-122"/>
                <a:cs typeface="Aptos Display" pitchFamily="34" charset="-120"/>
              </a:rPr>
              <a:t>Phong cách hình ảnh</a:t>
            </a:r>
            <a:endParaRPr lang="en-US" sz="2300" dirty="0"/>
          </a:p>
        </p:txBody>
      </p:sp>
      <p:sp>
        <p:nvSpPr>
          <p:cNvPr id="8" name="Shape 6"/>
          <p:cNvSpPr/>
          <p:nvPr/>
        </p:nvSpPr>
        <p:spPr>
          <a:xfrm>
            <a:off x="777240" y="1874520"/>
            <a:ext cx="5166360" cy="3154680"/>
          </a:xfrm>
          <a:prstGeom prst="rect">
            <a:avLst/>
          </a:prstGeom>
          <a:solidFill>
            <a:srgbClr val="071521"/>
          </a:solidFill>
          <a:ln w="8890">
            <a:solidFill>
              <a:srgbClr val="D4A83F"/>
            </a:solidFill>
            <a:prstDash val="solid"/>
          </a:ln>
        </p:spPr>
        <p:txBody>
          <a:bodyPr/>
          <a:lstStyle/>
          <a:p>
            <a:endParaRPr/>
          </a:p>
        </p:txBody>
      </p:sp>
      <p:sp>
        <p:nvSpPr>
          <p:cNvPr id="9" name="Text 7"/>
          <p:cNvSpPr/>
          <p:nvPr/>
        </p:nvSpPr>
        <p:spPr>
          <a:xfrm>
            <a:off x="1051560" y="2148840"/>
            <a:ext cx="4572000" cy="274320"/>
          </a:xfrm>
          <a:prstGeom prst="rect">
            <a:avLst/>
          </a:prstGeom>
          <a:noFill/>
          <a:ln/>
        </p:spPr>
        <p:txBody>
          <a:bodyPr wrap="square" lIns="381" tIns="381" rIns="381" bIns="381" rtlCol="0" anchor="ctr">
            <a:normAutofit/>
          </a:bodyPr>
          <a:lstStyle/>
          <a:p>
            <a:pPr marL="0" indent="0" algn="ctr">
              <a:buNone/>
            </a:pPr>
            <a:r>
              <a:rPr lang="en-US" sz="1400" b="1" dirty="0">
                <a:solidFill>
                  <a:srgbClr val="D4A83F"/>
                </a:solidFill>
                <a:latin typeface="SVN-Georgia" pitchFamily="34" charset="0"/>
                <a:ea typeface="Aptos" pitchFamily="34" charset="-122"/>
                <a:cs typeface="Aptos" pitchFamily="34" charset="-120"/>
              </a:rPr>
              <a:t>MONEYFEST IMAGE</a:t>
            </a:r>
            <a:endParaRPr lang="en-US" sz="1400" dirty="0"/>
          </a:p>
        </p:txBody>
      </p:sp>
      <p:sp>
        <p:nvSpPr>
          <p:cNvPr id="10" name="Text 8"/>
          <p:cNvSpPr/>
          <p:nvPr/>
        </p:nvSpPr>
        <p:spPr>
          <a:xfrm>
            <a:off x="1051560" y="2743200"/>
            <a:ext cx="4572000" cy="1234440"/>
          </a:xfrm>
          <a:prstGeom prst="rect">
            <a:avLst/>
          </a:prstGeom>
          <a:noFill/>
          <a:ln/>
        </p:spPr>
        <p:txBody>
          <a:bodyPr wrap="square" lIns="635" tIns="635" rIns="635" bIns="635" rtlCol="0" anchor="ctr">
            <a:normAutofit/>
          </a:bodyPr>
          <a:lstStyle/>
          <a:p>
            <a:pPr marL="0" indent="0">
              <a:buNone/>
            </a:pPr>
            <a:r>
              <a:rPr lang="en-US" sz="1110" dirty="0">
                <a:solidFill>
                  <a:srgbClr val="F4F0E8"/>
                </a:solidFill>
                <a:latin typeface="Inter" pitchFamily="34" charset="0"/>
                <a:ea typeface="Aptos" pitchFamily="34" charset="-122"/>
                <a:cs typeface="Aptos" pitchFamily="34" charset="-120"/>
              </a:rPr>
              <a:t>• Thư viện, bản đồ, la bàn, bàn cờ, kiến trúc, dữ liệu tối </a:t>
            </a:r>
            <a:r>
              <a:rPr lang="en-US" sz="1110" dirty="0" err="1">
                <a:solidFill>
                  <a:srgbClr val="F4F0E8"/>
                </a:solidFill>
                <a:latin typeface="Inter" pitchFamily="34" charset="0"/>
                <a:ea typeface="Aptos" pitchFamily="34" charset="-122"/>
                <a:cs typeface="Aptos" pitchFamily="34" charset="-120"/>
              </a:rPr>
              <a:t>giản</a:t>
            </a:r>
            <a:r>
              <a:rPr lang="en-US" sz="1110" dirty="0" smtClean="0">
                <a:solidFill>
                  <a:srgbClr val="F4F0E8"/>
                </a:solidFill>
                <a:latin typeface="Inter" pitchFamily="34" charset="0"/>
                <a:ea typeface="Aptos" pitchFamily="34" charset="-122"/>
                <a:cs typeface="Aptos" pitchFamily="34" charset="-120"/>
              </a:rPr>
              <a:t>.</a:t>
            </a:r>
          </a:p>
          <a:p>
            <a:pPr marL="0" indent="0">
              <a:buNone/>
            </a:pPr>
            <a:r>
              <a:rPr lang="en-US" sz="1110" dirty="0" smtClean="0">
                <a:solidFill>
                  <a:srgbClr val="F4F0E8"/>
                </a:solidFill>
                <a:latin typeface="Inter" pitchFamily="34" charset="0"/>
                <a:ea typeface="Aptos" pitchFamily="34" charset="-122"/>
                <a:cs typeface="Aptos" pitchFamily="34" charset="-120"/>
              </a:rPr>
              <a:t>• </a:t>
            </a:r>
            <a:r>
              <a:rPr lang="en-US" sz="1110" dirty="0">
                <a:solidFill>
                  <a:srgbClr val="F4F0E8"/>
                </a:solidFill>
                <a:latin typeface="Inter" pitchFamily="34" charset="0"/>
                <a:ea typeface="Aptos" pitchFamily="34" charset="-122"/>
                <a:cs typeface="Aptos" pitchFamily="34" charset="-120"/>
              </a:rPr>
              <a:t>Chuyên gia điềm tĩnh, ánh sáng điện ảnh, không gian làm việc cao </a:t>
            </a:r>
            <a:r>
              <a:rPr lang="en-US" sz="1110" dirty="0" err="1">
                <a:solidFill>
                  <a:srgbClr val="F4F0E8"/>
                </a:solidFill>
                <a:latin typeface="Inter" pitchFamily="34" charset="0"/>
                <a:ea typeface="Aptos" pitchFamily="34" charset="-122"/>
                <a:cs typeface="Aptos" pitchFamily="34" charset="-120"/>
              </a:rPr>
              <a:t>cấp</a:t>
            </a:r>
            <a:r>
              <a:rPr lang="en-US" sz="1110" dirty="0" smtClean="0">
                <a:solidFill>
                  <a:srgbClr val="F4F0E8"/>
                </a:solidFill>
                <a:latin typeface="Inter" pitchFamily="34" charset="0"/>
                <a:ea typeface="Aptos" pitchFamily="34" charset="-122"/>
                <a:cs typeface="Aptos" pitchFamily="34" charset="-120"/>
              </a:rPr>
              <a:t>.</a:t>
            </a:r>
          </a:p>
          <a:p>
            <a:pPr marL="0" indent="0">
              <a:buNone/>
            </a:pPr>
            <a:r>
              <a:rPr lang="en-US" sz="1110" dirty="0" smtClean="0">
                <a:solidFill>
                  <a:srgbClr val="F4F0E8"/>
                </a:solidFill>
                <a:latin typeface="Inter" pitchFamily="34" charset="0"/>
                <a:ea typeface="Aptos" pitchFamily="34" charset="-122"/>
                <a:cs typeface="Aptos" pitchFamily="34" charset="-120"/>
              </a:rPr>
              <a:t>• </a:t>
            </a:r>
            <a:r>
              <a:rPr lang="en-US" sz="1110" dirty="0">
                <a:solidFill>
                  <a:srgbClr val="F4F0E8"/>
                </a:solidFill>
                <a:latin typeface="Inter" pitchFamily="34" charset="0"/>
                <a:ea typeface="Aptos" pitchFamily="34" charset="-122"/>
                <a:cs typeface="Aptos" pitchFamily="34" charset="-120"/>
              </a:rPr>
              <a:t>Chất liệu đá đen, kim loại, giấy cổ, kính, ánh vàng điểm nhấn.</a:t>
            </a:r>
            <a:endParaRPr lang="en-US" sz="1110" dirty="0"/>
          </a:p>
        </p:txBody>
      </p:sp>
      <p:sp>
        <p:nvSpPr>
          <p:cNvPr id="11" name="Shape 9"/>
          <p:cNvSpPr/>
          <p:nvPr/>
        </p:nvSpPr>
        <p:spPr>
          <a:xfrm>
            <a:off x="6309360" y="1874520"/>
            <a:ext cx="5166360" cy="3154680"/>
          </a:xfrm>
          <a:prstGeom prst="rect">
            <a:avLst/>
          </a:prstGeom>
          <a:solidFill>
            <a:srgbClr val="FFFFFF"/>
          </a:solidFill>
          <a:ln w="8890">
            <a:solidFill>
              <a:srgbClr val="B00020"/>
            </a:solidFill>
            <a:prstDash val="solid"/>
          </a:ln>
        </p:spPr>
        <p:txBody>
          <a:bodyPr/>
          <a:lstStyle/>
          <a:p>
            <a:endParaRPr/>
          </a:p>
        </p:txBody>
      </p:sp>
      <p:sp>
        <p:nvSpPr>
          <p:cNvPr id="12" name="Text 10"/>
          <p:cNvSpPr/>
          <p:nvPr/>
        </p:nvSpPr>
        <p:spPr>
          <a:xfrm>
            <a:off x="6583680" y="2148840"/>
            <a:ext cx="4572000" cy="274320"/>
          </a:xfrm>
          <a:prstGeom prst="rect">
            <a:avLst/>
          </a:prstGeom>
          <a:noFill/>
          <a:ln/>
        </p:spPr>
        <p:txBody>
          <a:bodyPr wrap="square" lIns="381" tIns="381" rIns="381" bIns="381" rtlCol="0" anchor="ctr">
            <a:normAutofit/>
          </a:bodyPr>
          <a:lstStyle/>
          <a:p>
            <a:pPr marL="0" indent="0" algn="ctr">
              <a:buNone/>
            </a:pPr>
            <a:r>
              <a:rPr lang="en-US" sz="1400" b="1" dirty="0">
                <a:solidFill>
                  <a:srgbClr val="B00020"/>
                </a:solidFill>
                <a:latin typeface="SVN-Georgia" pitchFamily="34" charset="0"/>
                <a:ea typeface="Aptos" pitchFamily="34" charset="-122"/>
                <a:cs typeface="Aptos" pitchFamily="34" charset="-120"/>
              </a:rPr>
              <a:t>NOT MONEYFEST IMAGE</a:t>
            </a:r>
            <a:endParaRPr lang="en-US" sz="1400" dirty="0"/>
          </a:p>
        </p:txBody>
      </p:sp>
      <p:sp>
        <p:nvSpPr>
          <p:cNvPr id="13" name="Text 11"/>
          <p:cNvSpPr/>
          <p:nvPr/>
        </p:nvSpPr>
        <p:spPr>
          <a:xfrm>
            <a:off x="6583680" y="2743200"/>
            <a:ext cx="4572000" cy="1234440"/>
          </a:xfrm>
          <a:prstGeom prst="rect">
            <a:avLst/>
          </a:prstGeom>
          <a:noFill/>
          <a:ln/>
        </p:spPr>
        <p:txBody>
          <a:bodyPr wrap="square" lIns="635" tIns="635" rIns="635" bIns="635" rtlCol="0" anchor="ctr">
            <a:normAutofit/>
          </a:bodyPr>
          <a:lstStyle/>
          <a:p>
            <a:pPr marL="0" indent="0">
              <a:buNone/>
            </a:pPr>
            <a:r>
              <a:rPr lang="en-US" sz="1110" dirty="0">
                <a:solidFill>
                  <a:srgbClr val="070707"/>
                </a:solidFill>
                <a:latin typeface="Inter" pitchFamily="34" charset="0"/>
                <a:ea typeface="Aptos" pitchFamily="34" charset="-122"/>
                <a:cs typeface="Aptos" pitchFamily="34" charset="-120"/>
              </a:rPr>
              <a:t>• Siêu xe, biệt thự, tiền mặt, khoe lợi </a:t>
            </a:r>
            <a:r>
              <a:rPr lang="en-US" sz="1110" dirty="0" err="1">
                <a:solidFill>
                  <a:srgbClr val="070707"/>
                </a:solidFill>
                <a:latin typeface="Inter" pitchFamily="34" charset="0"/>
                <a:ea typeface="Aptos" pitchFamily="34" charset="-122"/>
                <a:cs typeface="Aptos" pitchFamily="34" charset="-120"/>
              </a:rPr>
              <a:t>nhuận</a:t>
            </a:r>
            <a:r>
              <a:rPr lang="en-US" sz="1110" dirty="0" smtClean="0">
                <a:solidFill>
                  <a:srgbClr val="070707"/>
                </a:solidFill>
                <a:latin typeface="Inter" pitchFamily="34" charset="0"/>
                <a:ea typeface="Aptos" pitchFamily="34" charset="-122"/>
                <a:cs typeface="Aptos" pitchFamily="34" charset="-120"/>
              </a:rPr>
              <a:t>.</a:t>
            </a: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Biểu đồ xanh đỏ dày đặc, hình ảnh trading kích </a:t>
            </a:r>
            <a:r>
              <a:rPr lang="en-US" sz="1110" dirty="0" err="1">
                <a:solidFill>
                  <a:srgbClr val="070707"/>
                </a:solidFill>
                <a:latin typeface="Inter" pitchFamily="34" charset="0"/>
                <a:ea typeface="Aptos" pitchFamily="34" charset="-122"/>
                <a:cs typeface="Aptos" pitchFamily="34" charset="-120"/>
              </a:rPr>
              <a:t>động</a:t>
            </a:r>
            <a:r>
              <a:rPr lang="en-US" sz="1110" dirty="0" smtClean="0">
                <a:solidFill>
                  <a:srgbClr val="070707"/>
                </a:solidFill>
                <a:latin typeface="Inter" pitchFamily="34" charset="0"/>
                <a:ea typeface="Aptos" pitchFamily="34" charset="-122"/>
                <a:cs typeface="Aptos" pitchFamily="34" charset="-120"/>
              </a:rPr>
              <a:t>.</a:t>
            </a:r>
          </a:p>
          <a:p>
            <a:pPr marL="0" indent="0">
              <a:buNone/>
            </a:pPr>
            <a:r>
              <a:rPr lang="en-US" sz="1110" dirty="0" smtClean="0">
                <a:solidFill>
                  <a:srgbClr val="070707"/>
                </a:solidFill>
                <a:latin typeface="Inter" pitchFamily="34" charset="0"/>
                <a:ea typeface="Aptos" pitchFamily="34" charset="-122"/>
                <a:cs typeface="Aptos" pitchFamily="34" charset="-120"/>
              </a:rPr>
              <a:t>• </a:t>
            </a:r>
            <a:r>
              <a:rPr lang="en-US" sz="1110" dirty="0">
                <a:solidFill>
                  <a:srgbClr val="070707"/>
                </a:solidFill>
                <a:latin typeface="Inter" pitchFamily="34" charset="0"/>
                <a:ea typeface="Aptos" pitchFamily="34" charset="-122"/>
                <a:cs typeface="Aptos" pitchFamily="34" charset="-120"/>
              </a:rPr>
              <a:t>Visual tạo FOMO, sợ hãi hoặc cam kết làm giàu.</a:t>
            </a:r>
            <a:endParaRPr lang="en-US" sz="1110" dirty="0"/>
          </a:p>
        </p:txBody>
      </p:sp>
      <p:sp>
        <p:nvSpPr>
          <p:cNvPr id="14" name="Text 12"/>
          <p:cNvSpPr/>
          <p:nvPr/>
        </p:nvSpPr>
        <p:spPr>
          <a:xfrm>
            <a:off x="868680" y="5532120"/>
            <a:ext cx="10515600" cy="502920"/>
          </a:xfrm>
          <a:prstGeom prst="rect">
            <a:avLst/>
          </a:prstGeom>
          <a:noFill/>
          <a:ln/>
        </p:spPr>
        <p:txBody>
          <a:bodyPr wrap="square" lIns="381" tIns="381" rIns="381" bIns="381" rtlCol="0" anchor="ctr">
            <a:normAutofit/>
          </a:bodyPr>
          <a:lstStyle/>
          <a:p>
            <a:pPr marL="0" indent="0" algn="ctr">
              <a:buNone/>
            </a:pPr>
            <a:r>
              <a:rPr lang="en-US" sz="1050" dirty="0">
                <a:solidFill>
                  <a:srgbClr val="E8CF8B"/>
                </a:solidFill>
                <a:latin typeface="Inter" pitchFamily="34" charset="0"/>
                <a:ea typeface="Aptos" pitchFamily="34" charset="-122"/>
                <a:cs typeface="Aptos" pitchFamily="34" charset="-120"/>
              </a:rPr>
              <a:t>AI visual prompt: premium financial wisdom editorial, obsidian black and midnight navy, heritage gold compass, north star motif, cinematic library lighting, subtle financial charts, minimal, high contrast.</a:t>
            </a:r>
            <a:endParaRPr lang="en-US" sz="1050" dirty="0"/>
          </a:p>
        </p:txBody>
      </p:sp>
      <p:sp>
        <p:nvSpPr>
          <p:cNvPr id="15" name="Text 1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16" name="Text 1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1"/>
          </a:solidFill>
          <a:ln w="12700">
            <a:solidFill>
              <a:srgbClr val="071521">
                <a:alpha val="0"/>
              </a:srgbClr>
            </a:solidFill>
            <a:prstDash val="solid"/>
          </a:ln>
        </p:spPr>
        <p:txBody>
          <a:bodyPr/>
          <a:lstStyle/>
          <a:p>
            <a:endParaRPr/>
          </a:p>
        </p:txBody>
      </p:sp>
      <p:sp>
        <p:nvSpPr>
          <p:cNvPr id="3" name="Text 1"/>
          <p:cNvSpPr/>
          <p:nvPr/>
        </p:nvSpPr>
        <p:spPr>
          <a:xfrm>
            <a:off x="731520" y="685800"/>
            <a:ext cx="1097280" cy="640080"/>
          </a:xfrm>
          <a:prstGeom prst="rect">
            <a:avLst/>
          </a:prstGeom>
          <a:noFill/>
          <a:ln/>
        </p:spPr>
        <p:txBody>
          <a:bodyPr wrap="square" lIns="381" tIns="381" rIns="381" bIns="381" rtlCol="0" anchor="ctr">
            <a:normAutofit/>
          </a:bodyPr>
          <a:lstStyle/>
          <a:p>
            <a:pPr marL="0" indent="0" algn="l">
              <a:buNone/>
            </a:pPr>
            <a:r>
              <a:rPr lang="en-US" sz="3400" b="1" dirty="0">
                <a:solidFill>
                  <a:srgbClr val="D4A83F"/>
                </a:solidFill>
                <a:latin typeface="SVN-Georgia" pitchFamily="34" charset="0"/>
                <a:ea typeface="SVN-Georgia" pitchFamily="34" charset="-122"/>
                <a:cs typeface="SVN-Georgia" pitchFamily="34" charset="-120"/>
              </a:rPr>
              <a:t>04</a:t>
            </a:r>
            <a:endParaRPr lang="en-US" sz="3400" dirty="0"/>
          </a:p>
        </p:txBody>
      </p:sp>
      <p:sp>
        <p:nvSpPr>
          <p:cNvPr id="4" name="Text 2"/>
          <p:cNvSpPr/>
          <p:nvPr/>
        </p:nvSpPr>
        <p:spPr>
          <a:xfrm>
            <a:off x="731520" y="1828800"/>
            <a:ext cx="6858000" cy="822960"/>
          </a:xfrm>
          <a:prstGeom prst="rect">
            <a:avLst/>
          </a:prstGeom>
          <a:noFill/>
          <a:ln/>
        </p:spPr>
        <p:txBody>
          <a:bodyPr wrap="square" lIns="381" tIns="381" rIns="381" bIns="381" rtlCol="0" anchor="ctr">
            <a:normAutofit/>
          </a:bodyPr>
          <a:lstStyle/>
          <a:p>
            <a:pPr marL="0" indent="0" algn="l">
              <a:buNone/>
            </a:pPr>
            <a:r>
              <a:rPr lang="en-US" sz="3000" b="1" dirty="0">
                <a:solidFill>
                  <a:srgbClr val="FFFFFF"/>
                </a:solidFill>
                <a:latin typeface="SVN-Georgia" pitchFamily="34" charset="0"/>
                <a:ea typeface="Aptos Display" pitchFamily="34" charset="-122"/>
                <a:cs typeface="Aptos Display" pitchFamily="34" charset="-120"/>
              </a:rPr>
              <a:t>COMMUNICATION SYSTEM</a:t>
            </a:r>
            <a:endParaRPr lang="en-US" sz="3000" dirty="0"/>
          </a:p>
        </p:txBody>
      </p:sp>
      <p:sp>
        <p:nvSpPr>
          <p:cNvPr id="5" name="Text 3"/>
          <p:cNvSpPr/>
          <p:nvPr/>
        </p:nvSpPr>
        <p:spPr>
          <a:xfrm>
            <a:off x="777240" y="2743200"/>
            <a:ext cx="6583680" cy="640080"/>
          </a:xfrm>
          <a:prstGeom prst="rect">
            <a:avLst/>
          </a:prstGeom>
          <a:noFill/>
          <a:ln/>
        </p:spPr>
        <p:txBody>
          <a:bodyPr wrap="square" lIns="381" tIns="381" rIns="381" bIns="381" rtlCol="0" anchor="ctr">
            <a:normAutofit/>
          </a:bodyPr>
          <a:lstStyle/>
          <a:p>
            <a:pPr marL="0" indent="0" algn="l">
              <a:buNone/>
            </a:pPr>
            <a:r>
              <a:rPr lang="en-US" sz="1400" dirty="0">
                <a:solidFill>
                  <a:srgbClr val="E8CF8B"/>
                </a:solidFill>
                <a:latin typeface="Inter" pitchFamily="34" charset="0"/>
                <a:ea typeface="Aptos" pitchFamily="34" charset="-122"/>
                <a:cs typeface="Aptos" pitchFamily="34" charset="-120"/>
              </a:rPr>
              <a:t>Tone of voice, social guideline, content pillars, video style và chuyển đổi lead.</a:t>
            </a:r>
            <a:endParaRPr lang="en-US" sz="1400" dirty="0"/>
          </a:p>
        </p:txBody>
      </p:sp>
      <p:sp>
        <p:nvSpPr>
          <p:cNvPr id="7" name="Text 4"/>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8" name="Text 5"/>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pic>
        <p:nvPicPr>
          <p:cNvPr id="9" name="Picture 8" descr="moneyfest_logo_gold_transparent.png"/>
          <p:cNvPicPr>
            <a:picLocks noChangeAspect="1"/>
          </p:cNvPicPr>
          <p:nvPr/>
        </p:nvPicPr>
        <p:blipFill>
          <a:blip r:embed="rId3"/>
          <a:stretch>
            <a:fillRect/>
          </a:stretch>
        </p:blipFill>
        <p:spPr>
          <a:xfrm>
            <a:off x="8915400" y="1801405"/>
            <a:ext cx="2331720" cy="160926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04 Communication</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22</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TONE OF VOICE</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Chuyên gia nhưng không hàn lâm</a:t>
            </a:r>
            <a:endParaRPr lang="en-US" sz="2300" dirty="0"/>
          </a:p>
        </p:txBody>
      </p:sp>
      <p:sp>
        <p:nvSpPr>
          <p:cNvPr id="8" name="Text 6"/>
          <p:cNvSpPr/>
          <p:nvPr/>
        </p:nvSpPr>
        <p:spPr>
          <a:xfrm>
            <a:off x="2877559" y="1783080"/>
            <a:ext cx="1828800" cy="228600"/>
          </a:xfrm>
          <a:prstGeom prst="rect">
            <a:avLst/>
          </a:prstGeom>
          <a:noFill/>
          <a:ln/>
        </p:spPr>
        <p:txBody>
          <a:bodyPr wrap="square" lIns="381" tIns="381" rIns="381" bIns="381" rtlCol="0" anchor="ctr">
            <a:noAutofit/>
          </a:bodyPr>
          <a:lstStyle/>
          <a:p>
            <a:pPr marL="0" indent="0" algn="ctr">
              <a:buNone/>
            </a:pPr>
            <a:r>
              <a:rPr lang="en-US" b="1" dirty="0">
                <a:solidFill>
                  <a:srgbClr val="D4A83F"/>
                </a:solidFill>
                <a:latin typeface="Inter" pitchFamily="34" charset="0"/>
                <a:ea typeface="Aptos" pitchFamily="34" charset="-122"/>
                <a:cs typeface="Aptos" pitchFamily="34" charset="-120"/>
              </a:rPr>
              <a:t>NÊN</a:t>
            </a:r>
            <a:endParaRPr lang="en-US" dirty="0"/>
          </a:p>
        </p:txBody>
      </p:sp>
      <p:sp>
        <p:nvSpPr>
          <p:cNvPr id="9" name="Text 7"/>
          <p:cNvSpPr/>
          <p:nvPr/>
        </p:nvSpPr>
        <p:spPr>
          <a:xfrm>
            <a:off x="6819745" y="1783080"/>
            <a:ext cx="1828800" cy="228600"/>
          </a:xfrm>
          <a:prstGeom prst="rect">
            <a:avLst/>
          </a:prstGeom>
          <a:noFill/>
          <a:ln/>
        </p:spPr>
        <p:txBody>
          <a:bodyPr wrap="square" lIns="381" tIns="381" rIns="381" bIns="381" rtlCol="0" anchor="ctr">
            <a:noAutofit/>
          </a:bodyPr>
          <a:lstStyle/>
          <a:p>
            <a:pPr marL="0" indent="0" algn="ctr">
              <a:buNone/>
            </a:pPr>
            <a:r>
              <a:rPr lang="en-US" b="1" dirty="0">
                <a:solidFill>
                  <a:srgbClr val="B00020"/>
                </a:solidFill>
                <a:latin typeface="Inter" pitchFamily="34" charset="0"/>
                <a:ea typeface="Aptos" pitchFamily="34" charset="-122"/>
                <a:cs typeface="Aptos" pitchFamily="34" charset="-120"/>
              </a:rPr>
              <a:t>KHÔNG NÊN</a:t>
            </a:r>
            <a:endParaRPr lang="en-US" dirty="0"/>
          </a:p>
        </p:txBody>
      </p:sp>
      <p:sp>
        <p:nvSpPr>
          <p:cNvPr id="10" name="Text 8"/>
          <p:cNvSpPr/>
          <p:nvPr/>
        </p:nvSpPr>
        <p:spPr>
          <a:xfrm>
            <a:off x="841248" y="2335457"/>
            <a:ext cx="1828800" cy="256032"/>
          </a:xfrm>
          <a:prstGeom prst="rect">
            <a:avLst/>
          </a:prstGeom>
          <a:noFill/>
          <a:ln/>
        </p:spPr>
        <p:txBody>
          <a:bodyPr wrap="square" lIns="381" tIns="381" rIns="381" bIns="381" rtlCol="0" anchor="ctr">
            <a:normAutofit/>
          </a:bodyPr>
          <a:lstStyle/>
          <a:p>
            <a:pPr marL="0" indent="0" algn="l">
              <a:buNone/>
            </a:pPr>
            <a:r>
              <a:rPr lang="en-US" sz="1060" b="1" dirty="0">
                <a:solidFill>
                  <a:srgbClr val="071521"/>
                </a:solidFill>
                <a:latin typeface="Inter" pitchFamily="34" charset="0"/>
                <a:ea typeface="Aptos" pitchFamily="34" charset="-122"/>
                <a:cs typeface="Aptos" pitchFamily="34" charset="-120"/>
              </a:rPr>
              <a:t>Chuyên gia</a:t>
            </a:r>
            <a:endParaRPr lang="en-US" sz="1060" dirty="0"/>
          </a:p>
        </p:txBody>
      </p:sp>
      <p:sp>
        <p:nvSpPr>
          <p:cNvPr id="11" name="Text 9"/>
          <p:cNvSpPr/>
          <p:nvPr/>
        </p:nvSpPr>
        <p:spPr>
          <a:xfrm>
            <a:off x="2788920" y="2335457"/>
            <a:ext cx="3657600" cy="301752"/>
          </a:xfrm>
          <a:prstGeom prst="rect">
            <a:avLst/>
          </a:prstGeom>
          <a:noFill/>
          <a:ln/>
        </p:spPr>
        <p:txBody>
          <a:bodyPr wrap="square" lIns="381" tIns="381" rIns="381" bIns="381" rtlCol="0" anchor="ctr">
            <a:normAutofit/>
          </a:bodyPr>
          <a:lstStyle/>
          <a:p>
            <a:pPr marL="0" indent="0" algn="l">
              <a:buNone/>
            </a:pPr>
            <a:r>
              <a:rPr lang="en-US" sz="940" dirty="0">
                <a:solidFill>
                  <a:srgbClr val="070707"/>
                </a:solidFill>
                <a:latin typeface="Inter" pitchFamily="34" charset="0"/>
                <a:ea typeface="Aptos" pitchFamily="34" charset="-122"/>
                <a:cs typeface="Aptos" pitchFamily="34" charset="-120"/>
              </a:rPr>
              <a:t>Giải thích bằng logic, ví dụ và framework</a:t>
            </a:r>
            <a:endParaRPr lang="en-US" sz="940" dirty="0"/>
          </a:p>
        </p:txBody>
      </p:sp>
      <p:sp>
        <p:nvSpPr>
          <p:cNvPr id="12" name="Text 10"/>
          <p:cNvSpPr/>
          <p:nvPr/>
        </p:nvSpPr>
        <p:spPr>
          <a:xfrm>
            <a:off x="6995160" y="2335457"/>
            <a:ext cx="3931920" cy="301752"/>
          </a:xfrm>
          <a:prstGeom prst="rect">
            <a:avLst/>
          </a:prstGeom>
          <a:noFill/>
          <a:ln/>
        </p:spPr>
        <p:txBody>
          <a:bodyPr wrap="square" lIns="381" tIns="381" rIns="381" bIns="381" rtlCol="0" anchor="ctr">
            <a:normAutofit/>
          </a:bodyPr>
          <a:lstStyle/>
          <a:p>
            <a:pPr marL="0" indent="0" algn="l">
              <a:buNone/>
            </a:pPr>
            <a:r>
              <a:rPr lang="en-US" sz="940" dirty="0">
                <a:solidFill>
                  <a:srgbClr val="070707"/>
                </a:solidFill>
                <a:latin typeface="Inter" pitchFamily="34" charset="0"/>
                <a:ea typeface="Aptos" pitchFamily="34" charset="-122"/>
                <a:cs typeface="Aptos" pitchFamily="34" charset="-120"/>
              </a:rPr>
              <a:t>Dùng thuật ngữ để gây choáng</a:t>
            </a:r>
            <a:endParaRPr lang="en-US" sz="940" dirty="0"/>
          </a:p>
        </p:txBody>
      </p:sp>
      <p:sp>
        <p:nvSpPr>
          <p:cNvPr id="13" name="Text 11"/>
          <p:cNvSpPr/>
          <p:nvPr/>
        </p:nvSpPr>
        <p:spPr>
          <a:xfrm>
            <a:off x="841248" y="2993825"/>
            <a:ext cx="1828800" cy="256032"/>
          </a:xfrm>
          <a:prstGeom prst="rect">
            <a:avLst/>
          </a:prstGeom>
          <a:noFill/>
          <a:ln/>
        </p:spPr>
        <p:txBody>
          <a:bodyPr wrap="square" lIns="381" tIns="381" rIns="381" bIns="381" rtlCol="0" anchor="ctr">
            <a:normAutofit/>
          </a:bodyPr>
          <a:lstStyle/>
          <a:p>
            <a:pPr marL="0" indent="0" algn="l">
              <a:buNone/>
            </a:pPr>
            <a:r>
              <a:rPr lang="en-US" sz="1060" b="1" dirty="0">
                <a:solidFill>
                  <a:srgbClr val="071521"/>
                </a:solidFill>
                <a:latin typeface="Inter" pitchFamily="34" charset="0"/>
                <a:ea typeface="Aptos" pitchFamily="34" charset="-122"/>
                <a:cs typeface="Aptos" pitchFamily="34" charset="-120"/>
              </a:rPr>
              <a:t>Điềm tĩnh</a:t>
            </a:r>
            <a:endParaRPr lang="en-US" sz="1060" dirty="0"/>
          </a:p>
        </p:txBody>
      </p:sp>
      <p:sp>
        <p:nvSpPr>
          <p:cNvPr id="14" name="Text 12"/>
          <p:cNvSpPr/>
          <p:nvPr/>
        </p:nvSpPr>
        <p:spPr>
          <a:xfrm>
            <a:off x="2788920" y="2993825"/>
            <a:ext cx="3657600" cy="301752"/>
          </a:xfrm>
          <a:prstGeom prst="rect">
            <a:avLst/>
          </a:prstGeom>
          <a:noFill/>
          <a:ln/>
        </p:spPr>
        <p:txBody>
          <a:bodyPr wrap="square" lIns="381" tIns="381" rIns="381" bIns="381" rtlCol="0" anchor="ctr">
            <a:normAutofit/>
          </a:bodyPr>
          <a:lstStyle/>
          <a:p>
            <a:pPr marL="0" indent="0" algn="l">
              <a:buNone/>
            </a:pPr>
            <a:r>
              <a:rPr lang="en-US" sz="940" dirty="0">
                <a:solidFill>
                  <a:srgbClr val="070707"/>
                </a:solidFill>
                <a:latin typeface="Inter" pitchFamily="34" charset="0"/>
                <a:ea typeface="Aptos" pitchFamily="34" charset="-122"/>
                <a:cs typeface="Aptos" pitchFamily="34" charset="-120"/>
              </a:rPr>
              <a:t>Nêu cả lợi ích, rủi ro và điều kiện</a:t>
            </a:r>
            <a:endParaRPr lang="en-US" sz="940" dirty="0"/>
          </a:p>
        </p:txBody>
      </p:sp>
      <p:sp>
        <p:nvSpPr>
          <p:cNvPr id="15" name="Text 13"/>
          <p:cNvSpPr/>
          <p:nvPr/>
        </p:nvSpPr>
        <p:spPr>
          <a:xfrm>
            <a:off x="6995160" y="2993825"/>
            <a:ext cx="3931920" cy="301752"/>
          </a:xfrm>
          <a:prstGeom prst="rect">
            <a:avLst/>
          </a:prstGeom>
          <a:noFill/>
          <a:ln/>
        </p:spPr>
        <p:txBody>
          <a:bodyPr wrap="square" lIns="381" tIns="381" rIns="381" bIns="381" rtlCol="0" anchor="ctr">
            <a:normAutofit/>
          </a:bodyPr>
          <a:lstStyle/>
          <a:p>
            <a:pPr marL="0" indent="0" algn="l">
              <a:buNone/>
            </a:pPr>
            <a:r>
              <a:rPr lang="en-US" sz="940" dirty="0">
                <a:solidFill>
                  <a:srgbClr val="070707"/>
                </a:solidFill>
                <a:latin typeface="Inter" pitchFamily="34" charset="0"/>
                <a:ea typeface="Aptos" pitchFamily="34" charset="-122"/>
                <a:cs typeface="Aptos" pitchFamily="34" charset="-120"/>
              </a:rPr>
              <a:t>Hô hào, giật gân, cam kết lợi nhuận</a:t>
            </a:r>
            <a:endParaRPr lang="en-US" sz="940" dirty="0"/>
          </a:p>
        </p:txBody>
      </p:sp>
      <p:sp>
        <p:nvSpPr>
          <p:cNvPr id="16" name="Text 14"/>
          <p:cNvSpPr/>
          <p:nvPr/>
        </p:nvSpPr>
        <p:spPr>
          <a:xfrm>
            <a:off x="841248" y="3652193"/>
            <a:ext cx="1828800" cy="256032"/>
          </a:xfrm>
          <a:prstGeom prst="rect">
            <a:avLst/>
          </a:prstGeom>
          <a:noFill/>
          <a:ln/>
        </p:spPr>
        <p:txBody>
          <a:bodyPr wrap="square" lIns="381" tIns="381" rIns="381" bIns="381" rtlCol="0" anchor="ctr">
            <a:normAutofit/>
          </a:bodyPr>
          <a:lstStyle/>
          <a:p>
            <a:pPr marL="0" indent="0" algn="l">
              <a:buNone/>
            </a:pPr>
            <a:r>
              <a:rPr lang="en-US" sz="1060" b="1" dirty="0">
                <a:solidFill>
                  <a:srgbClr val="071521"/>
                </a:solidFill>
                <a:latin typeface="Inter" pitchFamily="34" charset="0"/>
                <a:ea typeface="Aptos" pitchFamily="34" charset="-122"/>
                <a:cs typeface="Aptos" pitchFamily="34" charset="-120"/>
              </a:rPr>
              <a:t>Khách quan</a:t>
            </a:r>
            <a:endParaRPr lang="en-US" sz="1060" dirty="0"/>
          </a:p>
        </p:txBody>
      </p:sp>
      <p:sp>
        <p:nvSpPr>
          <p:cNvPr id="17" name="Text 15"/>
          <p:cNvSpPr/>
          <p:nvPr/>
        </p:nvSpPr>
        <p:spPr>
          <a:xfrm>
            <a:off x="2788920" y="3652193"/>
            <a:ext cx="3657600" cy="301752"/>
          </a:xfrm>
          <a:prstGeom prst="rect">
            <a:avLst/>
          </a:prstGeom>
          <a:noFill/>
          <a:ln/>
        </p:spPr>
        <p:txBody>
          <a:bodyPr wrap="square" lIns="381" tIns="381" rIns="381" bIns="381" rtlCol="0" anchor="ctr">
            <a:normAutofit/>
          </a:bodyPr>
          <a:lstStyle/>
          <a:p>
            <a:pPr marL="0" indent="0" algn="l">
              <a:buNone/>
            </a:pPr>
            <a:r>
              <a:rPr lang="en-US" sz="940" dirty="0">
                <a:solidFill>
                  <a:srgbClr val="070707"/>
                </a:solidFill>
                <a:latin typeface="Inter" pitchFamily="34" charset="0"/>
                <a:ea typeface="Aptos" pitchFamily="34" charset="-122"/>
                <a:cs typeface="Aptos" pitchFamily="34" charset="-120"/>
              </a:rPr>
              <a:t>So sánh nhiều phương án</a:t>
            </a:r>
            <a:endParaRPr lang="en-US" sz="940" dirty="0"/>
          </a:p>
        </p:txBody>
      </p:sp>
      <p:sp>
        <p:nvSpPr>
          <p:cNvPr id="18" name="Text 16"/>
          <p:cNvSpPr/>
          <p:nvPr/>
        </p:nvSpPr>
        <p:spPr>
          <a:xfrm>
            <a:off x="6995160" y="3652193"/>
            <a:ext cx="3931920" cy="301752"/>
          </a:xfrm>
          <a:prstGeom prst="rect">
            <a:avLst/>
          </a:prstGeom>
          <a:noFill/>
          <a:ln/>
        </p:spPr>
        <p:txBody>
          <a:bodyPr wrap="square" lIns="381" tIns="381" rIns="381" bIns="381" rtlCol="0" anchor="ctr">
            <a:normAutofit/>
          </a:bodyPr>
          <a:lstStyle/>
          <a:p>
            <a:pPr marL="0" indent="0" algn="l">
              <a:buNone/>
            </a:pPr>
            <a:r>
              <a:rPr lang="en-US" sz="940" dirty="0">
                <a:solidFill>
                  <a:srgbClr val="070707"/>
                </a:solidFill>
                <a:latin typeface="Inter" pitchFamily="34" charset="0"/>
                <a:ea typeface="Aptos" pitchFamily="34" charset="-122"/>
                <a:cs typeface="Aptos" pitchFamily="34" charset="-120"/>
              </a:rPr>
              <a:t>Dẫn dắt một chiều theo sản phẩm</a:t>
            </a:r>
            <a:endParaRPr lang="en-US" sz="940" dirty="0"/>
          </a:p>
        </p:txBody>
      </p:sp>
      <p:sp>
        <p:nvSpPr>
          <p:cNvPr id="19" name="Text 17"/>
          <p:cNvSpPr/>
          <p:nvPr/>
        </p:nvSpPr>
        <p:spPr>
          <a:xfrm>
            <a:off x="841248" y="4310561"/>
            <a:ext cx="1828800" cy="256032"/>
          </a:xfrm>
          <a:prstGeom prst="rect">
            <a:avLst/>
          </a:prstGeom>
          <a:noFill/>
          <a:ln/>
        </p:spPr>
        <p:txBody>
          <a:bodyPr wrap="square" lIns="381" tIns="381" rIns="381" bIns="381" rtlCol="0" anchor="ctr">
            <a:normAutofit/>
          </a:bodyPr>
          <a:lstStyle/>
          <a:p>
            <a:pPr marL="0" indent="0" algn="l">
              <a:buNone/>
            </a:pPr>
            <a:r>
              <a:rPr lang="en-US" sz="1060" b="1" dirty="0">
                <a:solidFill>
                  <a:srgbClr val="071521"/>
                </a:solidFill>
                <a:latin typeface="Inter" pitchFamily="34" charset="0"/>
                <a:ea typeface="Aptos" pitchFamily="34" charset="-122"/>
                <a:cs typeface="Aptos" pitchFamily="34" charset="-120"/>
              </a:rPr>
              <a:t>Thực tế</a:t>
            </a:r>
            <a:endParaRPr lang="en-US" sz="1060" dirty="0"/>
          </a:p>
        </p:txBody>
      </p:sp>
      <p:sp>
        <p:nvSpPr>
          <p:cNvPr id="20" name="Text 18"/>
          <p:cNvSpPr/>
          <p:nvPr/>
        </p:nvSpPr>
        <p:spPr>
          <a:xfrm>
            <a:off x="2788920" y="4310561"/>
            <a:ext cx="3657600" cy="301752"/>
          </a:xfrm>
          <a:prstGeom prst="rect">
            <a:avLst/>
          </a:prstGeom>
          <a:noFill/>
          <a:ln/>
        </p:spPr>
        <p:txBody>
          <a:bodyPr wrap="square" lIns="381" tIns="381" rIns="381" bIns="381" rtlCol="0" anchor="ctr">
            <a:normAutofit/>
          </a:bodyPr>
          <a:lstStyle/>
          <a:p>
            <a:pPr marL="0" indent="0" algn="l">
              <a:buNone/>
            </a:pPr>
            <a:r>
              <a:rPr lang="en-US" sz="940" dirty="0">
                <a:solidFill>
                  <a:srgbClr val="070707"/>
                </a:solidFill>
                <a:latin typeface="Inter" pitchFamily="34" charset="0"/>
                <a:ea typeface="Aptos" pitchFamily="34" charset="-122"/>
                <a:cs typeface="Aptos" pitchFamily="34" charset="-120"/>
              </a:rPr>
              <a:t>Đưa checklist và bước tiếp theo</a:t>
            </a:r>
            <a:endParaRPr lang="en-US" sz="940" dirty="0"/>
          </a:p>
        </p:txBody>
      </p:sp>
      <p:sp>
        <p:nvSpPr>
          <p:cNvPr id="21" name="Text 19"/>
          <p:cNvSpPr/>
          <p:nvPr/>
        </p:nvSpPr>
        <p:spPr>
          <a:xfrm>
            <a:off x="6995160" y="4310561"/>
            <a:ext cx="3931920" cy="301752"/>
          </a:xfrm>
          <a:prstGeom prst="rect">
            <a:avLst/>
          </a:prstGeom>
          <a:noFill/>
          <a:ln/>
        </p:spPr>
        <p:txBody>
          <a:bodyPr wrap="square" lIns="381" tIns="381" rIns="381" bIns="381" rtlCol="0" anchor="ctr">
            <a:normAutofit/>
          </a:bodyPr>
          <a:lstStyle/>
          <a:p>
            <a:pPr marL="0" indent="0" algn="l">
              <a:buNone/>
            </a:pPr>
            <a:r>
              <a:rPr lang="en-US" sz="940" dirty="0">
                <a:solidFill>
                  <a:srgbClr val="070707"/>
                </a:solidFill>
                <a:latin typeface="Inter" pitchFamily="34" charset="0"/>
                <a:ea typeface="Aptos" pitchFamily="34" charset="-122"/>
                <a:cs typeface="Aptos" pitchFamily="34" charset="-120"/>
              </a:rPr>
              <a:t>Lý thuyết dài nhưng thiếu hành động</a:t>
            </a:r>
            <a:endParaRPr lang="en-US" sz="940" dirty="0"/>
          </a:p>
        </p:txBody>
      </p:sp>
      <p:sp>
        <p:nvSpPr>
          <p:cNvPr id="22" name="Text 20"/>
          <p:cNvSpPr/>
          <p:nvPr/>
        </p:nvSpPr>
        <p:spPr>
          <a:xfrm>
            <a:off x="841248" y="4968929"/>
            <a:ext cx="1828800" cy="256032"/>
          </a:xfrm>
          <a:prstGeom prst="rect">
            <a:avLst/>
          </a:prstGeom>
          <a:noFill/>
          <a:ln/>
        </p:spPr>
        <p:txBody>
          <a:bodyPr wrap="square" lIns="381" tIns="381" rIns="381" bIns="381" rtlCol="0" anchor="ctr">
            <a:normAutofit/>
          </a:bodyPr>
          <a:lstStyle/>
          <a:p>
            <a:pPr marL="0" indent="0" algn="l">
              <a:buNone/>
            </a:pPr>
            <a:r>
              <a:rPr lang="en-US" sz="1060" b="1" dirty="0">
                <a:solidFill>
                  <a:srgbClr val="071521"/>
                </a:solidFill>
                <a:latin typeface="Inter" pitchFamily="34" charset="0"/>
                <a:ea typeface="Aptos" pitchFamily="34" charset="-122"/>
                <a:cs typeface="Aptos" pitchFamily="34" charset="-120"/>
              </a:rPr>
              <a:t>Tôn trọng</a:t>
            </a:r>
            <a:endParaRPr lang="en-US" sz="1060" dirty="0"/>
          </a:p>
        </p:txBody>
      </p:sp>
      <p:sp>
        <p:nvSpPr>
          <p:cNvPr id="23" name="Text 21"/>
          <p:cNvSpPr/>
          <p:nvPr/>
        </p:nvSpPr>
        <p:spPr>
          <a:xfrm>
            <a:off x="2788920" y="4968929"/>
            <a:ext cx="3657600" cy="301752"/>
          </a:xfrm>
          <a:prstGeom prst="rect">
            <a:avLst/>
          </a:prstGeom>
          <a:noFill/>
          <a:ln/>
        </p:spPr>
        <p:txBody>
          <a:bodyPr wrap="square" lIns="381" tIns="381" rIns="381" bIns="381" rtlCol="0" anchor="ctr">
            <a:normAutofit/>
          </a:bodyPr>
          <a:lstStyle/>
          <a:p>
            <a:pPr marL="0" indent="0" algn="l">
              <a:buNone/>
            </a:pPr>
            <a:r>
              <a:rPr lang="en-US" sz="940" dirty="0">
                <a:solidFill>
                  <a:srgbClr val="070707"/>
                </a:solidFill>
                <a:latin typeface="Inter" pitchFamily="34" charset="0"/>
                <a:ea typeface="Aptos" pitchFamily="34" charset="-122"/>
                <a:cs typeface="Aptos" pitchFamily="34" charset="-120"/>
              </a:rPr>
              <a:t>Trao quyền lựa chọn cho khách hàng</a:t>
            </a:r>
            <a:endParaRPr lang="en-US" sz="940" dirty="0"/>
          </a:p>
        </p:txBody>
      </p:sp>
      <p:sp>
        <p:nvSpPr>
          <p:cNvPr id="24" name="Text 22"/>
          <p:cNvSpPr/>
          <p:nvPr/>
        </p:nvSpPr>
        <p:spPr>
          <a:xfrm>
            <a:off x="6995160" y="4968929"/>
            <a:ext cx="3931920" cy="301752"/>
          </a:xfrm>
          <a:prstGeom prst="rect">
            <a:avLst/>
          </a:prstGeom>
          <a:noFill/>
          <a:ln/>
        </p:spPr>
        <p:txBody>
          <a:bodyPr wrap="square" lIns="381" tIns="381" rIns="381" bIns="381" rtlCol="0" anchor="ctr">
            <a:normAutofit/>
          </a:bodyPr>
          <a:lstStyle/>
          <a:p>
            <a:pPr marL="0" indent="0" algn="l">
              <a:buNone/>
            </a:pPr>
            <a:r>
              <a:rPr lang="en-US" sz="940" dirty="0">
                <a:solidFill>
                  <a:srgbClr val="070707"/>
                </a:solidFill>
                <a:latin typeface="Inter" pitchFamily="34" charset="0"/>
                <a:ea typeface="Aptos" pitchFamily="34" charset="-122"/>
                <a:cs typeface="Aptos" pitchFamily="34" charset="-120"/>
              </a:rPr>
              <a:t>Gây áp lực hoặc phán xét</a:t>
            </a:r>
            <a:endParaRPr lang="en-US" sz="940" dirty="0"/>
          </a:p>
        </p:txBody>
      </p:sp>
      <p:sp>
        <p:nvSpPr>
          <p:cNvPr id="25" name="Text 2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26" name="Text 2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E8CF8B"/>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D7D7D7"/>
                </a:solidFill>
                <a:latin typeface="Inter" pitchFamily="34" charset="0"/>
                <a:ea typeface="Aptos" pitchFamily="34" charset="-122"/>
                <a:cs typeface="Aptos" pitchFamily="34" charset="-120"/>
              </a:rPr>
              <a:t>04 Communication</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D4A83F"/>
                </a:solidFill>
                <a:latin typeface="Inter" pitchFamily="34" charset="0"/>
                <a:ea typeface="Aptos" pitchFamily="34" charset="-122"/>
                <a:cs typeface="Aptos" pitchFamily="34" charset="-120"/>
              </a:rPr>
              <a:t>23</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E8CF8B"/>
                </a:solidFill>
                <a:latin typeface="Inter" pitchFamily="34" charset="0"/>
                <a:ea typeface="Aptos" pitchFamily="34" charset="-122"/>
                <a:cs typeface="Aptos" pitchFamily="34" charset="-120"/>
              </a:rPr>
              <a:t>CONTENT PILLARS</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FFFFFF"/>
                </a:solidFill>
                <a:latin typeface="SVN-Georgia" pitchFamily="34" charset="0"/>
                <a:ea typeface="Aptos Display" pitchFamily="34" charset="-122"/>
                <a:cs typeface="Aptos Display" pitchFamily="34" charset="-120"/>
              </a:rPr>
              <a:t>6 trụ cột nội dung</a:t>
            </a:r>
            <a:endParaRPr lang="en-US" sz="2300" dirty="0"/>
          </a:p>
        </p:txBody>
      </p:sp>
      <p:sp>
        <p:nvSpPr>
          <p:cNvPr id="8" name="Shape 6"/>
          <p:cNvSpPr/>
          <p:nvPr/>
        </p:nvSpPr>
        <p:spPr>
          <a:xfrm>
            <a:off x="822960" y="1828800"/>
            <a:ext cx="2971800" cy="960120"/>
          </a:xfrm>
          <a:prstGeom prst="rect">
            <a:avLst/>
          </a:prstGeom>
          <a:solidFill>
            <a:srgbClr val="1A1A1A"/>
          </a:solidFill>
          <a:ln w="7620">
            <a:solidFill>
              <a:srgbClr val="D4A83F"/>
            </a:solidFill>
            <a:prstDash val="solid"/>
          </a:ln>
        </p:spPr>
        <p:txBody>
          <a:bodyPr/>
          <a:lstStyle/>
          <a:p>
            <a:endParaRPr/>
          </a:p>
        </p:txBody>
      </p:sp>
      <p:sp>
        <p:nvSpPr>
          <p:cNvPr id="9" name="Text 7"/>
          <p:cNvSpPr/>
          <p:nvPr/>
        </p:nvSpPr>
        <p:spPr>
          <a:xfrm>
            <a:off x="1005840" y="2029968"/>
            <a:ext cx="2606040" cy="228600"/>
          </a:xfrm>
          <a:prstGeom prst="rect">
            <a:avLst/>
          </a:prstGeom>
          <a:noFill/>
          <a:ln/>
        </p:spPr>
        <p:txBody>
          <a:bodyPr wrap="square" lIns="381" tIns="381" rIns="381" bIns="381" rtlCol="0" anchor="ctr">
            <a:normAutofit/>
          </a:bodyPr>
          <a:lstStyle/>
          <a:p>
            <a:pPr marL="0" indent="0" algn="ctr">
              <a:buNone/>
            </a:pPr>
            <a:r>
              <a:rPr lang="en-US" sz="1300" b="1" dirty="0">
                <a:solidFill>
                  <a:srgbClr val="D4A83F"/>
                </a:solidFill>
                <a:latin typeface="Inter" pitchFamily="34" charset="0"/>
                <a:ea typeface="Aptos" pitchFamily="34" charset="-122"/>
                <a:cs typeface="Aptos" pitchFamily="34" charset="-120"/>
              </a:rPr>
              <a:t>Hiểu tiền</a:t>
            </a:r>
            <a:endParaRPr lang="en-US" sz="1300" dirty="0"/>
          </a:p>
        </p:txBody>
      </p:sp>
      <p:sp>
        <p:nvSpPr>
          <p:cNvPr id="10" name="Text 8"/>
          <p:cNvSpPr/>
          <p:nvPr/>
        </p:nvSpPr>
        <p:spPr>
          <a:xfrm>
            <a:off x="1033272" y="2359152"/>
            <a:ext cx="2560320" cy="274320"/>
          </a:xfrm>
          <a:prstGeom prst="rect">
            <a:avLst/>
          </a:prstGeom>
          <a:noFill/>
          <a:ln/>
        </p:spPr>
        <p:txBody>
          <a:bodyPr wrap="square" lIns="381" tIns="381" rIns="381" bIns="381" rtlCol="0" anchor="ctr">
            <a:normAutofit/>
          </a:bodyPr>
          <a:lstStyle/>
          <a:p>
            <a:pPr marL="0" indent="0" algn="ctr">
              <a:buNone/>
            </a:pPr>
            <a:r>
              <a:rPr lang="en-US" sz="840" dirty="0">
                <a:solidFill>
                  <a:srgbClr val="F4F0E8"/>
                </a:solidFill>
                <a:latin typeface="Inter" pitchFamily="34" charset="0"/>
                <a:ea typeface="Aptos" pitchFamily="34" charset="-122"/>
                <a:cs typeface="Aptos" pitchFamily="34" charset="-120"/>
              </a:rPr>
              <a:t>Dòng tiền, lãi suất, lạm phát, nợ</a:t>
            </a:r>
            <a:endParaRPr lang="en-US" sz="840" dirty="0"/>
          </a:p>
        </p:txBody>
      </p:sp>
      <p:sp>
        <p:nvSpPr>
          <p:cNvPr id="11" name="Shape 9"/>
          <p:cNvSpPr/>
          <p:nvPr/>
        </p:nvSpPr>
        <p:spPr>
          <a:xfrm>
            <a:off x="4526280" y="1828800"/>
            <a:ext cx="2971800" cy="960120"/>
          </a:xfrm>
          <a:prstGeom prst="rect">
            <a:avLst/>
          </a:prstGeom>
          <a:solidFill>
            <a:srgbClr val="071521"/>
          </a:solidFill>
          <a:ln w="7620">
            <a:solidFill>
              <a:srgbClr val="D4A83F"/>
            </a:solidFill>
            <a:prstDash val="solid"/>
          </a:ln>
        </p:spPr>
        <p:txBody>
          <a:bodyPr/>
          <a:lstStyle/>
          <a:p>
            <a:endParaRPr/>
          </a:p>
        </p:txBody>
      </p:sp>
      <p:sp>
        <p:nvSpPr>
          <p:cNvPr id="12" name="Text 10"/>
          <p:cNvSpPr/>
          <p:nvPr/>
        </p:nvSpPr>
        <p:spPr>
          <a:xfrm>
            <a:off x="4709160" y="2029968"/>
            <a:ext cx="2606040" cy="228600"/>
          </a:xfrm>
          <a:prstGeom prst="rect">
            <a:avLst/>
          </a:prstGeom>
          <a:noFill/>
          <a:ln/>
        </p:spPr>
        <p:txBody>
          <a:bodyPr wrap="square" lIns="381" tIns="381" rIns="381" bIns="381" rtlCol="0" anchor="ctr">
            <a:normAutofit/>
          </a:bodyPr>
          <a:lstStyle/>
          <a:p>
            <a:pPr marL="0" indent="0" algn="ctr">
              <a:buNone/>
            </a:pPr>
            <a:r>
              <a:rPr lang="en-US" sz="1300" b="1" dirty="0">
                <a:solidFill>
                  <a:srgbClr val="D4A83F"/>
                </a:solidFill>
                <a:latin typeface="Inter" pitchFamily="34" charset="0"/>
                <a:ea typeface="Aptos" pitchFamily="34" charset="-122"/>
                <a:cs typeface="Aptos" pitchFamily="34" charset="-120"/>
              </a:rPr>
              <a:t>Hiểu sản phẩm</a:t>
            </a:r>
            <a:endParaRPr lang="en-US" sz="1300" dirty="0"/>
          </a:p>
        </p:txBody>
      </p:sp>
      <p:sp>
        <p:nvSpPr>
          <p:cNvPr id="13" name="Text 11"/>
          <p:cNvSpPr/>
          <p:nvPr/>
        </p:nvSpPr>
        <p:spPr>
          <a:xfrm>
            <a:off x="4736592" y="2359152"/>
            <a:ext cx="2560320" cy="274320"/>
          </a:xfrm>
          <a:prstGeom prst="rect">
            <a:avLst/>
          </a:prstGeom>
          <a:noFill/>
          <a:ln/>
        </p:spPr>
        <p:txBody>
          <a:bodyPr wrap="square" lIns="381" tIns="381" rIns="381" bIns="381" rtlCol="0" anchor="ctr">
            <a:normAutofit/>
          </a:bodyPr>
          <a:lstStyle/>
          <a:p>
            <a:pPr marL="0" indent="0" algn="ctr">
              <a:buNone/>
            </a:pPr>
            <a:r>
              <a:rPr lang="en-US" sz="840" dirty="0">
                <a:solidFill>
                  <a:srgbClr val="F4F0E8"/>
                </a:solidFill>
                <a:latin typeface="Inter" pitchFamily="34" charset="0"/>
                <a:ea typeface="Aptos" pitchFamily="34" charset="-122"/>
                <a:cs typeface="Aptos" pitchFamily="34" charset="-120"/>
              </a:rPr>
              <a:t>Tiết kiệm, bảo hiểm, quỹ, BĐS, vay</a:t>
            </a:r>
            <a:endParaRPr lang="en-US" sz="840" dirty="0"/>
          </a:p>
        </p:txBody>
      </p:sp>
      <p:sp>
        <p:nvSpPr>
          <p:cNvPr id="14" name="Shape 12"/>
          <p:cNvSpPr/>
          <p:nvPr/>
        </p:nvSpPr>
        <p:spPr>
          <a:xfrm>
            <a:off x="8229600" y="1828800"/>
            <a:ext cx="2971800" cy="960120"/>
          </a:xfrm>
          <a:prstGeom prst="rect">
            <a:avLst/>
          </a:prstGeom>
          <a:solidFill>
            <a:srgbClr val="1A1A1A"/>
          </a:solidFill>
          <a:ln w="7620">
            <a:solidFill>
              <a:srgbClr val="D4A83F"/>
            </a:solidFill>
            <a:prstDash val="solid"/>
          </a:ln>
        </p:spPr>
        <p:txBody>
          <a:bodyPr/>
          <a:lstStyle/>
          <a:p>
            <a:endParaRPr/>
          </a:p>
        </p:txBody>
      </p:sp>
      <p:sp>
        <p:nvSpPr>
          <p:cNvPr id="15" name="Text 13"/>
          <p:cNvSpPr/>
          <p:nvPr/>
        </p:nvSpPr>
        <p:spPr>
          <a:xfrm>
            <a:off x="8412480" y="2029968"/>
            <a:ext cx="2606040" cy="228600"/>
          </a:xfrm>
          <a:prstGeom prst="rect">
            <a:avLst/>
          </a:prstGeom>
          <a:noFill/>
          <a:ln/>
        </p:spPr>
        <p:txBody>
          <a:bodyPr wrap="square" lIns="381" tIns="381" rIns="381" bIns="381" rtlCol="0" anchor="ctr">
            <a:normAutofit/>
          </a:bodyPr>
          <a:lstStyle/>
          <a:p>
            <a:pPr marL="0" indent="0" algn="ctr">
              <a:buNone/>
            </a:pPr>
            <a:r>
              <a:rPr lang="en-US" sz="1300" b="1" dirty="0">
                <a:solidFill>
                  <a:srgbClr val="D4A83F"/>
                </a:solidFill>
                <a:latin typeface="Inter" pitchFamily="34" charset="0"/>
                <a:ea typeface="Aptos" pitchFamily="34" charset="-122"/>
                <a:cs typeface="Aptos" pitchFamily="34" charset="-120"/>
              </a:rPr>
              <a:t>Hiểu bản thân</a:t>
            </a:r>
            <a:endParaRPr lang="en-US" sz="1300" dirty="0"/>
          </a:p>
        </p:txBody>
      </p:sp>
      <p:sp>
        <p:nvSpPr>
          <p:cNvPr id="16" name="Text 14"/>
          <p:cNvSpPr/>
          <p:nvPr/>
        </p:nvSpPr>
        <p:spPr>
          <a:xfrm>
            <a:off x="8439912" y="2359152"/>
            <a:ext cx="2560320" cy="274320"/>
          </a:xfrm>
          <a:prstGeom prst="rect">
            <a:avLst/>
          </a:prstGeom>
          <a:noFill/>
          <a:ln/>
        </p:spPr>
        <p:txBody>
          <a:bodyPr wrap="square" lIns="381" tIns="381" rIns="381" bIns="381" rtlCol="0" anchor="ctr">
            <a:normAutofit/>
          </a:bodyPr>
          <a:lstStyle/>
          <a:p>
            <a:pPr marL="0" indent="0" algn="ctr">
              <a:buNone/>
            </a:pPr>
            <a:r>
              <a:rPr lang="en-US" sz="840" dirty="0">
                <a:solidFill>
                  <a:srgbClr val="F4F0E8"/>
                </a:solidFill>
                <a:latin typeface="Inter" pitchFamily="34" charset="0"/>
                <a:ea typeface="Aptos" pitchFamily="34" charset="-122"/>
                <a:cs typeface="Aptos" pitchFamily="34" charset="-120"/>
              </a:rPr>
              <a:t>Khẩu vị rủi ro, mục tiêu, hành vi</a:t>
            </a:r>
            <a:endParaRPr lang="en-US" sz="840" dirty="0"/>
          </a:p>
        </p:txBody>
      </p:sp>
      <p:sp>
        <p:nvSpPr>
          <p:cNvPr id="17" name="Shape 15"/>
          <p:cNvSpPr/>
          <p:nvPr/>
        </p:nvSpPr>
        <p:spPr>
          <a:xfrm>
            <a:off x="822960" y="3429000"/>
            <a:ext cx="2971800" cy="960120"/>
          </a:xfrm>
          <a:prstGeom prst="rect">
            <a:avLst/>
          </a:prstGeom>
          <a:solidFill>
            <a:srgbClr val="071521"/>
          </a:solidFill>
          <a:ln w="7620">
            <a:solidFill>
              <a:srgbClr val="D4A83F"/>
            </a:solidFill>
            <a:prstDash val="solid"/>
          </a:ln>
        </p:spPr>
        <p:txBody>
          <a:bodyPr/>
          <a:lstStyle/>
          <a:p>
            <a:endParaRPr/>
          </a:p>
        </p:txBody>
      </p:sp>
      <p:sp>
        <p:nvSpPr>
          <p:cNvPr id="18" name="Text 16"/>
          <p:cNvSpPr/>
          <p:nvPr/>
        </p:nvSpPr>
        <p:spPr>
          <a:xfrm>
            <a:off x="1005840" y="3630168"/>
            <a:ext cx="2606040" cy="228600"/>
          </a:xfrm>
          <a:prstGeom prst="rect">
            <a:avLst/>
          </a:prstGeom>
          <a:noFill/>
          <a:ln/>
        </p:spPr>
        <p:txBody>
          <a:bodyPr wrap="square" lIns="381" tIns="381" rIns="381" bIns="381" rtlCol="0" anchor="ctr">
            <a:normAutofit/>
          </a:bodyPr>
          <a:lstStyle/>
          <a:p>
            <a:pPr marL="0" indent="0" algn="ctr">
              <a:buNone/>
            </a:pPr>
            <a:r>
              <a:rPr lang="en-US" sz="1300" b="1" dirty="0">
                <a:solidFill>
                  <a:srgbClr val="D4A83F"/>
                </a:solidFill>
                <a:latin typeface="Inter" pitchFamily="34" charset="0"/>
                <a:ea typeface="Aptos" pitchFamily="34" charset="-122"/>
                <a:cs typeface="Aptos" pitchFamily="34" charset="-120"/>
              </a:rPr>
              <a:t>Hiểu luật chơi</a:t>
            </a:r>
            <a:endParaRPr lang="en-US" sz="1300" dirty="0"/>
          </a:p>
        </p:txBody>
      </p:sp>
      <p:sp>
        <p:nvSpPr>
          <p:cNvPr id="19" name="Text 17"/>
          <p:cNvSpPr/>
          <p:nvPr/>
        </p:nvSpPr>
        <p:spPr>
          <a:xfrm>
            <a:off x="1033272" y="3959352"/>
            <a:ext cx="2560320" cy="274320"/>
          </a:xfrm>
          <a:prstGeom prst="rect">
            <a:avLst/>
          </a:prstGeom>
          <a:noFill/>
          <a:ln/>
        </p:spPr>
        <p:txBody>
          <a:bodyPr wrap="square" lIns="381" tIns="381" rIns="381" bIns="381" rtlCol="0" anchor="ctr">
            <a:normAutofit/>
          </a:bodyPr>
          <a:lstStyle/>
          <a:p>
            <a:pPr marL="0" indent="0" algn="ctr">
              <a:buNone/>
            </a:pPr>
            <a:r>
              <a:rPr lang="en-US" sz="840" dirty="0">
                <a:solidFill>
                  <a:srgbClr val="F4F0E8"/>
                </a:solidFill>
                <a:latin typeface="Inter" pitchFamily="34" charset="0"/>
                <a:ea typeface="Aptos" pitchFamily="34" charset="-122"/>
                <a:cs typeface="Aptos" pitchFamily="34" charset="-120"/>
              </a:rPr>
              <a:t>Ngân hàng, chu kỳ kinh tế, đòn bẩy</a:t>
            </a:r>
            <a:endParaRPr lang="en-US" sz="840" dirty="0"/>
          </a:p>
        </p:txBody>
      </p:sp>
      <p:sp>
        <p:nvSpPr>
          <p:cNvPr id="20" name="Shape 18"/>
          <p:cNvSpPr/>
          <p:nvPr/>
        </p:nvSpPr>
        <p:spPr>
          <a:xfrm>
            <a:off x="4526280" y="3429000"/>
            <a:ext cx="2971800" cy="960120"/>
          </a:xfrm>
          <a:prstGeom prst="rect">
            <a:avLst/>
          </a:prstGeom>
          <a:solidFill>
            <a:srgbClr val="1A1A1A"/>
          </a:solidFill>
          <a:ln w="7620">
            <a:solidFill>
              <a:srgbClr val="D4A83F"/>
            </a:solidFill>
            <a:prstDash val="solid"/>
          </a:ln>
        </p:spPr>
        <p:txBody>
          <a:bodyPr/>
          <a:lstStyle/>
          <a:p>
            <a:endParaRPr/>
          </a:p>
        </p:txBody>
      </p:sp>
      <p:sp>
        <p:nvSpPr>
          <p:cNvPr id="21" name="Text 19"/>
          <p:cNvSpPr/>
          <p:nvPr/>
        </p:nvSpPr>
        <p:spPr>
          <a:xfrm>
            <a:off x="4709160" y="3630168"/>
            <a:ext cx="2606040" cy="228600"/>
          </a:xfrm>
          <a:prstGeom prst="rect">
            <a:avLst/>
          </a:prstGeom>
          <a:noFill/>
          <a:ln/>
        </p:spPr>
        <p:txBody>
          <a:bodyPr wrap="square" lIns="381" tIns="381" rIns="381" bIns="381" rtlCol="0" anchor="ctr">
            <a:normAutofit/>
          </a:bodyPr>
          <a:lstStyle/>
          <a:p>
            <a:pPr marL="0" indent="0" algn="ctr">
              <a:buNone/>
            </a:pPr>
            <a:r>
              <a:rPr lang="en-US" sz="1300" b="1" dirty="0">
                <a:solidFill>
                  <a:srgbClr val="D4A83F"/>
                </a:solidFill>
                <a:latin typeface="Inter" pitchFamily="34" charset="0"/>
                <a:ea typeface="Aptos" pitchFamily="34" charset="-122"/>
                <a:cs typeface="Aptos" pitchFamily="34" charset="-120"/>
              </a:rPr>
              <a:t>Case study</a:t>
            </a:r>
            <a:endParaRPr lang="en-US" sz="1300" dirty="0"/>
          </a:p>
        </p:txBody>
      </p:sp>
      <p:sp>
        <p:nvSpPr>
          <p:cNvPr id="22" name="Text 20"/>
          <p:cNvSpPr/>
          <p:nvPr/>
        </p:nvSpPr>
        <p:spPr>
          <a:xfrm>
            <a:off x="4736592" y="3959352"/>
            <a:ext cx="2560320" cy="274320"/>
          </a:xfrm>
          <a:prstGeom prst="rect">
            <a:avLst/>
          </a:prstGeom>
          <a:noFill/>
          <a:ln/>
        </p:spPr>
        <p:txBody>
          <a:bodyPr wrap="square" lIns="381" tIns="381" rIns="381" bIns="381" rtlCol="0" anchor="ctr">
            <a:normAutofit/>
          </a:bodyPr>
          <a:lstStyle/>
          <a:p>
            <a:pPr marL="0" indent="0" algn="ctr">
              <a:buNone/>
            </a:pPr>
            <a:r>
              <a:rPr lang="en-US" sz="840" dirty="0">
                <a:solidFill>
                  <a:srgbClr val="F4F0E8"/>
                </a:solidFill>
                <a:latin typeface="Inter" pitchFamily="34" charset="0"/>
                <a:ea typeface="Aptos" pitchFamily="34" charset="-122"/>
                <a:cs typeface="Aptos" pitchFamily="34" charset="-120"/>
              </a:rPr>
              <a:t>Gia đình trẻ, chủ SME, người nghỉ hưu</a:t>
            </a:r>
            <a:endParaRPr lang="en-US" sz="840" dirty="0"/>
          </a:p>
        </p:txBody>
      </p:sp>
      <p:sp>
        <p:nvSpPr>
          <p:cNvPr id="23" name="Shape 21"/>
          <p:cNvSpPr/>
          <p:nvPr/>
        </p:nvSpPr>
        <p:spPr>
          <a:xfrm>
            <a:off x="8229600" y="3429000"/>
            <a:ext cx="2971800" cy="960120"/>
          </a:xfrm>
          <a:prstGeom prst="rect">
            <a:avLst/>
          </a:prstGeom>
          <a:solidFill>
            <a:srgbClr val="071521"/>
          </a:solidFill>
          <a:ln w="7620">
            <a:solidFill>
              <a:srgbClr val="D4A83F"/>
            </a:solidFill>
            <a:prstDash val="solid"/>
          </a:ln>
        </p:spPr>
        <p:txBody>
          <a:bodyPr/>
          <a:lstStyle/>
          <a:p>
            <a:endParaRPr/>
          </a:p>
        </p:txBody>
      </p:sp>
      <p:sp>
        <p:nvSpPr>
          <p:cNvPr id="24" name="Text 22"/>
          <p:cNvSpPr/>
          <p:nvPr/>
        </p:nvSpPr>
        <p:spPr>
          <a:xfrm>
            <a:off x="8412480" y="3630168"/>
            <a:ext cx="2606040" cy="228600"/>
          </a:xfrm>
          <a:prstGeom prst="rect">
            <a:avLst/>
          </a:prstGeom>
          <a:noFill/>
          <a:ln/>
        </p:spPr>
        <p:txBody>
          <a:bodyPr wrap="square" lIns="381" tIns="381" rIns="381" bIns="381" rtlCol="0" anchor="ctr">
            <a:normAutofit/>
          </a:bodyPr>
          <a:lstStyle/>
          <a:p>
            <a:pPr marL="0" indent="0" algn="ctr">
              <a:buNone/>
            </a:pPr>
            <a:r>
              <a:rPr lang="en-US" sz="1300" b="1" dirty="0">
                <a:solidFill>
                  <a:srgbClr val="D4A83F"/>
                </a:solidFill>
                <a:latin typeface="Inter" pitchFamily="34" charset="0"/>
                <a:ea typeface="Aptos" pitchFamily="34" charset="-122"/>
                <a:cs typeface="Aptos" pitchFamily="34" charset="-120"/>
              </a:rPr>
              <a:t>Advisory</a:t>
            </a:r>
            <a:endParaRPr lang="en-US" sz="1300" dirty="0"/>
          </a:p>
        </p:txBody>
      </p:sp>
      <p:sp>
        <p:nvSpPr>
          <p:cNvPr id="25" name="Text 23"/>
          <p:cNvSpPr/>
          <p:nvPr/>
        </p:nvSpPr>
        <p:spPr>
          <a:xfrm>
            <a:off x="8439912" y="3959352"/>
            <a:ext cx="2560320" cy="274320"/>
          </a:xfrm>
          <a:prstGeom prst="rect">
            <a:avLst/>
          </a:prstGeom>
          <a:noFill/>
          <a:ln/>
        </p:spPr>
        <p:txBody>
          <a:bodyPr wrap="square" lIns="381" tIns="381" rIns="381" bIns="381" rtlCol="0" anchor="ctr">
            <a:normAutofit/>
          </a:bodyPr>
          <a:lstStyle/>
          <a:p>
            <a:pPr marL="0" indent="0" algn="ctr">
              <a:buNone/>
            </a:pPr>
            <a:r>
              <a:rPr lang="en-US" sz="840" dirty="0">
                <a:solidFill>
                  <a:srgbClr val="F4F0E8"/>
                </a:solidFill>
                <a:latin typeface="Inter" pitchFamily="34" charset="0"/>
                <a:ea typeface="Aptos" pitchFamily="34" charset="-122"/>
                <a:cs typeface="Aptos" pitchFamily="34" charset="-120"/>
              </a:rPr>
              <a:t>Quy trình, checklist, Q&amp;A, tư vấn</a:t>
            </a:r>
            <a:endParaRPr lang="en-US" sz="840" dirty="0"/>
          </a:p>
        </p:txBody>
      </p:sp>
      <p:sp>
        <p:nvSpPr>
          <p:cNvPr id="26" name="Text 24"/>
          <p:cNvSpPr/>
          <p:nvPr/>
        </p:nvSpPr>
        <p:spPr>
          <a:xfrm>
            <a:off x="868680" y="5577840"/>
            <a:ext cx="10515600" cy="320040"/>
          </a:xfrm>
          <a:prstGeom prst="rect">
            <a:avLst/>
          </a:prstGeom>
          <a:noFill/>
          <a:ln/>
        </p:spPr>
        <p:txBody>
          <a:bodyPr wrap="square" lIns="381" tIns="381" rIns="381" bIns="381" rtlCol="0" anchor="ctr">
            <a:normAutofit/>
          </a:bodyPr>
          <a:lstStyle/>
          <a:p>
            <a:pPr marL="0" indent="0" algn="ctr">
              <a:buNone/>
            </a:pPr>
            <a:r>
              <a:rPr lang="en-US" sz="1200" b="1" dirty="0">
                <a:solidFill>
                  <a:srgbClr val="E8CF8B"/>
                </a:solidFill>
                <a:latin typeface="Inter" pitchFamily="34" charset="0"/>
                <a:ea typeface="Aptos" pitchFamily="34" charset="-122"/>
                <a:cs typeface="Aptos" pitchFamily="34" charset="-120"/>
              </a:rPr>
              <a:t>Tỷ lệ nội dung: 70% giáo dục · 20% case/cộng đồng · 10% dịch vụ và CTA.</a:t>
            </a:r>
            <a:endParaRPr lang="en-US" sz="1200" dirty="0"/>
          </a:p>
        </p:txBody>
      </p:sp>
      <p:sp>
        <p:nvSpPr>
          <p:cNvPr id="27" name="Text 25"/>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28" name="Text 26"/>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04 Communication</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24</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ONLINE COMMUNICATION</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Quy chuẩn theo kênh</a:t>
            </a:r>
            <a:endParaRPr lang="en-US" sz="2300" dirty="0"/>
          </a:p>
        </p:txBody>
      </p:sp>
      <p:sp>
        <p:nvSpPr>
          <p:cNvPr id="8" name="Text 6"/>
          <p:cNvSpPr/>
          <p:nvPr/>
        </p:nvSpPr>
        <p:spPr>
          <a:xfrm>
            <a:off x="868680" y="1828800"/>
            <a:ext cx="1463040" cy="256032"/>
          </a:xfrm>
          <a:prstGeom prst="rect">
            <a:avLst/>
          </a:prstGeom>
          <a:noFill/>
          <a:ln/>
        </p:spPr>
        <p:txBody>
          <a:bodyPr wrap="square" lIns="381" tIns="381" rIns="381" bIns="381" rtlCol="0" anchor="ctr">
            <a:normAutofit/>
          </a:bodyPr>
          <a:lstStyle/>
          <a:p>
            <a:pPr marL="0" indent="0" algn="l">
              <a:buNone/>
            </a:pPr>
            <a:r>
              <a:rPr lang="en-US" sz="1200" b="1" dirty="0">
                <a:solidFill>
                  <a:srgbClr val="D4A83F"/>
                </a:solidFill>
                <a:latin typeface="Inter" pitchFamily="34" charset="0"/>
                <a:ea typeface="Aptos" pitchFamily="34" charset="-122"/>
                <a:cs typeface="Aptos" pitchFamily="34" charset="-120"/>
              </a:rPr>
              <a:t>Facebook</a:t>
            </a:r>
            <a:endParaRPr lang="en-US" sz="1200" dirty="0"/>
          </a:p>
        </p:txBody>
      </p:sp>
      <p:sp>
        <p:nvSpPr>
          <p:cNvPr id="9" name="Text 7"/>
          <p:cNvSpPr/>
          <p:nvPr/>
        </p:nvSpPr>
        <p:spPr>
          <a:xfrm>
            <a:off x="2514600" y="1828800"/>
            <a:ext cx="7955280" cy="256032"/>
          </a:xfrm>
          <a:prstGeom prst="rect">
            <a:avLst/>
          </a:prstGeom>
          <a:noFill/>
          <a:ln/>
        </p:spPr>
        <p:txBody>
          <a:bodyPr wrap="square" lIns="381" tIns="381" rIns="381" bIns="381" rtlCol="0" anchor="ctr">
            <a:normAutofit/>
          </a:bodyPr>
          <a:lstStyle/>
          <a:p>
            <a:pPr marL="0" indent="0" algn="l">
              <a:buNone/>
            </a:pPr>
            <a:r>
              <a:rPr lang="en-US" sz="1050" dirty="0">
                <a:solidFill>
                  <a:srgbClr val="070707"/>
                </a:solidFill>
                <a:latin typeface="Inter" pitchFamily="34" charset="0"/>
                <a:ea typeface="Aptos" pitchFamily="34" charset="-122"/>
                <a:cs typeface="Aptos" pitchFamily="34" charset="-120"/>
              </a:rPr>
              <a:t>Cộng đồng, thảo luận, livestream, carousel, bài dài</a:t>
            </a:r>
            <a:endParaRPr lang="en-US" sz="1050" dirty="0"/>
          </a:p>
        </p:txBody>
      </p:sp>
      <p:sp>
        <p:nvSpPr>
          <p:cNvPr id="10" name="Text 8"/>
          <p:cNvSpPr/>
          <p:nvPr/>
        </p:nvSpPr>
        <p:spPr>
          <a:xfrm>
            <a:off x="868680" y="2542032"/>
            <a:ext cx="1463040" cy="256032"/>
          </a:xfrm>
          <a:prstGeom prst="rect">
            <a:avLst/>
          </a:prstGeom>
          <a:noFill/>
          <a:ln/>
        </p:spPr>
        <p:txBody>
          <a:bodyPr wrap="square" lIns="381" tIns="381" rIns="381" bIns="381" rtlCol="0" anchor="ctr">
            <a:normAutofit/>
          </a:bodyPr>
          <a:lstStyle/>
          <a:p>
            <a:pPr marL="0" indent="0" algn="l">
              <a:buNone/>
            </a:pPr>
            <a:r>
              <a:rPr lang="en-US" sz="1200" b="1" dirty="0">
                <a:solidFill>
                  <a:srgbClr val="D4A83F"/>
                </a:solidFill>
                <a:latin typeface="Inter" pitchFamily="34" charset="0"/>
                <a:ea typeface="Aptos" pitchFamily="34" charset="-122"/>
                <a:cs typeface="Aptos" pitchFamily="34" charset="-120"/>
              </a:rPr>
              <a:t>TikTok</a:t>
            </a:r>
            <a:endParaRPr lang="en-US" sz="1200" dirty="0"/>
          </a:p>
        </p:txBody>
      </p:sp>
      <p:sp>
        <p:nvSpPr>
          <p:cNvPr id="11" name="Text 9"/>
          <p:cNvSpPr/>
          <p:nvPr/>
        </p:nvSpPr>
        <p:spPr>
          <a:xfrm>
            <a:off x="2514600" y="2542032"/>
            <a:ext cx="7955280" cy="256032"/>
          </a:xfrm>
          <a:prstGeom prst="rect">
            <a:avLst/>
          </a:prstGeom>
          <a:noFill/>
          <a:ln/>
        </p:spPr>
        <p:txBody>
          <a:bodyPr wrap="square" lIns="381" tIns="381" rIns="381" bIns="381" rtlCol="0" anchor="ctr">
            <a:normAutofit/>
          </a:bodyPr>
          <a:lstStyle/>
          <a:p>
            <a:pPr marL="0" indent="0" algn="l">
              <a:buNone/>
            </a:pPr>
            <a:r>
              <a:rPr lang="en-US" sz="1050" dirty="0">
                <a:solidFill>
                  <a:srgbClr val="070707"/>
                </a:solidFill>
                <a:latin typeface="Inter" pitchFamily="34" charset="0"/>
                <a:ea typeface="Aptos" pitchFamily="34" charset="-122"/>
                <a:cs typeface="Aptos" pitchFamily="34" charset="-120"/>
              </a:rPr>
              <a:t>Video 30–90 giây, 1 insight/video, hook 3 giây đầu</a:t>
            </a:r>
            <a:endParaRPr lang="en-US" sz="1050" dirty="0"/>
          </a:p>
        </p:txBody>
      </p:sp>
      <p:sp>
        <p:nvSpPr>
          <p:cNvPr id="12" name="Text 10"/>
          <p:cNvSpPr/>
          <p:nvPr/>
        </p:nvSpPr>
        <p:spPr>
          <a:xfrm>
            <a:off x="868680" y="3255264"/>
            <a:ext cx="1463040" cy="256032"/>
          </a:xfrm>
          <a:prstGeom prst="rect">
            <a:avLst/>
          </a:prstGeom>
          <a:noFill/>
          <a:ln/>
        </p:spPr>
        <p:txBody>
          <a:bodyPr wrap="square" lIns="381" tIns="381" rIns="381" bIns="381" rtlCol="0" anchor="ctr">
            <a:normAutofit/>
          </a:bodyPr>
          <a:lstStyle/>
          <a:p>
            <a:pPr marL="0" indent="0" algn="l">
              <a:buNone/>
            </a:pPr>
            <a:r>
              <a:rPr lang="en-US" sz="1200" b="1" dirty="0">
                <a:solidFill>
                  <a:srgbClr val="D4A83F"/>
                </a:solidFill>
                <a:latin typeface="Inter" pitchFamily="34" charset="0"/>
                <a:ea typeface="Aptos" pitchFamily="34" charset="-122"/>
                <a:cs typeface="Aptos" pitchFamily="34" charset="-120"/>
              </a:rPr>
              <a:t>YouTube</a:t>
            </a:r>
            <a:endParaRPr lang="en-US" sz="1200" dirty="0"/>
          </a:p>
        </p:txBody>
      </p:sp>
      <p:sp>
        <p:nvSpPr>
          <p:cNvPr id="13" name="Text 11"/>
          <p:cNvSpPr/>
          <p:nvPr/>
        </p:nvSpPr>
        <p:spPr>
          <a:xfrm>
            <a:off x="2514600" y="3255264"/>
            <a:ext cx="7955280" cy="256032"/>
          </a:xfrm>
          <a:prstGeom prst="rect">
            <a:avLst/>
          </a:prstGeom>
          <a:noFill/>
          <a:ln/>
        </p:spPr>
        <p:txBody>
          <a:bodyPr wrap="square" lIns="381" tIns="381" rIns="381" bIns="381" rtlCol="0" anchor="ctr">
            <a:normAutofit/>
          </a:bodyPr>
          <a:lstStyle/>
          <a:p>
            <a:pPr marL="0" indent="0" algn="l">
              <a:buNone/>
            </a:pPr>
            <a:r>
              <a:rPr lang="en-US" sz="1050" dirty="0">
                <a:solidFill>
                  <a:srgbClr val="070707"/>
                </a:solidFill>
                <a:latin typeface="Inter" pitchFamily="34" charset="0"/>
                <a:ea typeface="Aptos" pitchFamily="34" charset="-122"/>
                <a:cs typeface="Aptos" pitchFamily="34" charset="-120"/>
              </a:rPr>
              <a:t>Series phân tích 6–15 phút, case study, phỏng vấn</a:t>
            </a:r>
            <a:endParaRPr lang="en-US" sz="1050" dirty="0"/>
          </a:p>
        </p:txBody>
      </p:sp>
      <p:sp>
        <p:nvSpPr>
          <p:cNvPr id="14" name="Text 12"/>
          <p:cNvSpPr/>
          <p:nvPr/>
        </p:nvSpPr>
        <p:spPr>
          <a:xfrm>
            <a:off x="868680" y="3968496"/>
            <a:ext cx="1463040" cy="256032"/>
          </a:xfrm>
          <a:prstGeom prst="rect">
            <a:avLst/>
          </a:prstGeom>
          <a:noFill/>
          <a:ln/>
        </p:spPr>
        <p:txBody>
          <a:bodyPr wrap="square" lIns="381" tIns="381" rIns="381" bIns="381" rtlCol="0" anchor="ctr">
            <a:normAutofit/>
          </a:bodyPr>
          <a:lstStyle/>
          <a:p>
            <a:pPr marL="0" indent="0" algn="l">
              <a:buNone/>
            </a:pPr>
            <a:r>
              <a:rPr lang="en-US" sz="1200" b="1" dirty="0">
                <a:solidFill>
                  <a:srgbClr val="D4A83F"/>
                </a:solidFill>
                <a:latin typeface="Inter" pitchFamily="34" charset="0"/>
                <a:ea typeface="Aptos" pitchFamily="34" charset="-122"/>
                <a:cs typeface="Aptos" pitchFamily="34" charset="-120"/>
              </a:rPr>
              <a:t>Website</a:t>
            </a:r>
            <a:endParaRPr lang="en-US" sz="1200" dirty="0"/>
          </a:p>
        </p:txBody>
      </p:sp>
      <p:sp>
        <p:nvSpPr>
          <p:cNvPr id="15" name="Text 13"/>
          <p:cNvSpPr/>
          <p:nvPr/>
        </p:nvSpPr>
        <p:spPr>
          <a:xfrm>
            <a:off x="2514600" y="3968496"/>
            <a:ext cx="7955280" cy="256032"/>
          </a:xfrm>
          <a:prstGeom prst="rect">
            <a:avLst/>
          </a:prstGeom>
          <a:noFill/>
          <a:ln/>
        </p:spPr>
        <p:txBody>
          <a:bodyPr wrap="square" lIns="381" tIns="381" rIns="381" bIns="381" rtlCol="0" anchor="ctr">
            <a:normAutofit/>
          </a:bodyPr>
          <a:lstStyle/>
          <a:p>
            <a:pPr marL="0" indent="0" algn="l">
              <a:buNone/>
            </a:pPr>
            <a:r>
              <a:rPr lang="en-US" sz="1050" dirty="0">
                <a:solidFill>
                  <a:srgbClr val="070707"/>
                </a:solidFill>
                <a:latin typeface="Inter" pitchFamily="34" charset="0"/>
                <a:ea typeface="Aptos" pitchFamily="34" charset="-122"/>
                <a:cs typeface="Aptos" pitchFamily="34" charset="-120"/>
              </a:rPr>
              <a:t>Landing page, thư viện, dịch vụ, form đặt lịch</a:t>
            </a:r>
            <a:endParaRPr lang="en-US" sz="1050" dirty="0"/>
          </a:p>
        </p:txBody>
      </p:sp>
      <p:sp>
        <p:nvSpPr>
          <p:cNvPr id="16" name="Text 14"/>
          <p:cNvSpPr/>
          <p:nvPr/>
        </p:nvSpPr>
        <p:spPr>
          <a:xfrm>
            <a:off x="868680" y="4681728"/>
            <a:ext cx="1463040" cy="256032"/>
          </a:xfrm>
          <a:prstGeom prst="rect">
            <a:avLst/>
          </a:prstGeom>
          <a:noFill/>
          <a:ln/>
        </p:spPr>
        <p:txBody>
          <a:bodyPr wrap="square" lIns="381" tIns="381" rIns="381" bIns="381" rtlCol="0" anchor="ctr">
            <a:normAutofit/>
          </a:bodyPr>
          <a:lstStyle/>
          <a:p>
            <a:pPr marL="0" indent="0" algn="l">
              <a:buNone/>
            </a:pPr>
            <a:r>
              <a:rPr lang="en-US" sz="1200" b="1" dirty="0">
                <a:solidFill>
                  <a:srgbClr val="D4A83F"/>
                </a:solidFill>
                <a:latin typeface="Inter" pitchFamily="34" charset="0"/>
                <a:ea typeface="Aptos" pitchFamily="34" charset="-122"/>
                <a:cs typeface="Aptos" pitchFamily="34" charset="-120"/>
              </a:rPr>
              <a:t>Email</a:t>
            </a:r>
            <a:endParaRPr lang="en-US" sz="1200" dirty="0"/>
          </a:p>
        </p:txBody>
      </p:sp>
      <p:sp>
        <p:nvSpPr>
          <p:cNvPr id="17" name="Text 15"/>
          <p:cNvSpPr/>
          <p:nvPr/>
        </p:nvSpPr>
        <p:spPr>
          <a:xfrm>
            <a:off x="2514600" y="4681728"/>
            <a:ext cx="7955280" cy="256032"/>
          </a:xfrm>
          <a:prstGeom prst="rect">
            <a:avLst/>
          </a:prstGeom>
          <a:noFill/>
          <a:ln/>
        </p:spPr>
        <p:txBody>
          <a:bodyPr wrap="square" lIns="381" tIns="381" rIns="381" bIns="381" rtlCol="0" anchor="ctr">
            <a:normAutofit/>
          </a:bodyPr>
          <a:lstStyle/>
          <a:p>
            <a:pPr marL="0" indent="0" algn="l">
              <a:buNone/>
            </a:pPr>
            <a:r>
              <a:rPr lang="en-US" sz="1050" dirty="0">
                <a:solidFill>
                  <a:srgbClr val="070707"/>
                </a:solidFill>
                <a:latin typeface="Inter" pitchFamily="34" charset="0"/>
                <a:ea typeface="Aptos" pitchFamily="34" charset="-122"/>
                <a:cs typeface="Aptos" pitchFamily="34" charset="-120"/>
              </a:rPr>
              <a:t>Nuôi dưỡng, bản tin tuần, mời webinar, follow-up tư vấn</a:t>
            </a:r>
            <a:endParaRPr lang="en-US" sz="1050" dirty="0"/>
          </a:p>
        </p:txBody>
      </p:sp>
      <p:sp>
        <p:nvSpPr>
          <p:cNvPr id="18" name="Text 16"/>
          <p:cNvSpPr/>
          <p:nvPr/>
        </p:nvSpPr>
        <p:spPr>
          <a:xfrm>
            <a:off x="868680" y="5532120"/>
            <a:ext cx="10424160" cy="365760"/>
          </a:xfrm>
          <a:prstGeom prst="rect">
            <a:avLst/>
          </a:prstGeom>
          <a:noFill/>
          <a:ln/>
        </p:spPr>
        <p:txBody>
          <a:bodyPr wrap="square" lIns="381" tIns="381" rIns="381" bIns="381" rtlCol="0" anchor="ctr">
            <a:normAutofit/>
          </a:bodyPr>
          <a:lstStyle/>
          <a:p>
            <a:pPr marL="0" indent="0" algn="ctr">
              <a:buNone/>
            </a:pPr>
            <a:r>
              <a:rPr lang="en-US" sz="1200" b="1" dirty="0">
                <a:solidFill>
                  <a:srgbClr val="071521"/>
                </a:solidFill>
                <a:latin typeface="Inter" pitchFamily="34" charset="0"/>
                <a:ea typeface="Aptos" pitchFamily="34" charset="-122"/>
                <a:cs typeface="Aptos" pitchFamily="34" charset="-120"/>
              </a:rPr>
              <a:t>CTA ưu tiên: Tải bản đồ → Tham gia cộng đồng → Đặt lịch sàng lọc → Tư vấn 60 phút.</a:t>
            </a:r>
            <a:endParaRPr lang="en-US" sz="1200" dirty="0"/>
          </a:p>
        </p:txBody>
      </p:sp>
      <p:sp>
        <p:nvSpPr>
          <p:cNvPr id="19" name="Text 17"/>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20" name="Text 18"/>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E8CF8B"/>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D7D7D7"/>
                </a:solidFill>
                <a:latin typeface="Inter" pitchFamily="34" charset="0"/>
                <a:ea typeface="Aptos" pitchFamily="34" charset="-122"/>
                <a:cs typeface="Aptos" pitchFamily="34" charset="-120"/>
              </a:rPr>
              <a:t>04 Communication</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D4A83F"/>
                </a:solidFill>
                <a:latin typeface="Inter" pitchFamily="34" charset="0"/>
                <a:ea typeface="Aptos" pitchFamily="34" charset="-122"/>
                <a:cs typeface="Aptos" pitchFamily="34" charset="-120"/>
              </a:rPr>
              <a:t>25</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E8CF8B"/>
                </a:solidFill>
                <a:latin typeface="Inter" pitchFamily="34" charset="0"/>
                <a:ea typeface="Aptos" pitchFamily="34" charset="-122"/>
                <a:cs typeface="Aptos" pitchFamily="34" charset="-120"/>
              </a:rPr>
              <a:t>VIDEO &amp; THUMBNAIL</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FFFFFF"/>
                </a:solidFill>
                <a:latin typeface="SVN-Georgia" pitchFamily="34" charset="0"/>
                <a:ea typeface="Aptos Display" pitchFamily="34" charset="-122"/>
                <a:cs typeface="Aptos Display" pitchFamily="34" charset="-120"/>
              </a:rPr>
              <a:t>Chuẩn hóa nhận diện video</a:t>
            </a:r>
            <a:endParaRPr lang="en-US" sz="2300" dirty="0"/>
          </a:p>
        </p:txBody>
      </p:sp>
      <p:sp>
        <p:nvSpPr>
          <p:cNvPr id="8" name="Shape 6"/>
          <p:cNvSpPr/>
          <p:nvPr/>
        </p:nvSpPr>
        <p:spPr>
          <a:xfrm>
            <a:off x="841248" y="1828800"/>
            <a:ext cx="3657600" cy="2057400"/>
          </a:xfrm>
          <a:prstGeom prst="rect">
            <a:avLst/>
          </a:prstGeom>
          <a:solidFill>
            <a:srgbClr val="071521"/>
          </a:solidFill>
          <a:ln w="7620">
            <a:solidFill>
              <a:srgbClr val="D4A83F"/>
            </a:solidFill>
            <a:prstDash val="solid"/>
          </a:ln>
        </p:spPr>
        <p:txBody>
          <a:bodyPr/>
          <a:lstStyle/>
          <a:p>
            <a:endParaRPr/>
          </a:p>
        </p:txBody>
      </p:sp>
      <p:sp>
        <p:nvSpPr>
          <p:cNvPr id="9" name="Text 7"/>
          <p:cNvSpPr/>
          <p:nvPr/>
        </p:nvSpPr>
        <p:spPr>
          <a:xfrm>
            <a:off x="1143000" y="2304288"/>
            <a:ext cx="3063240" cy="594360"/>
          </a:xfrm>
          <a:prstGeom prst="rect">
            <a:avLst/>
          </a:prstGeom>
          <a:noFill/>
          <a:ln/>
        </p:spPr>
        <p:txBody>
          <a:bodyPr wrap="square" lIns="381" tIns="381" rIns="381" bIns="381" rtlCol="0" anchor="ctr">
            <a:normAutofit lnSpcReduction="10000"/>
          </a:bodyPr>
          <a:lstStyle/>
          <a:p>
            <a:pPr marL="0" indent="0" algn="ctr">
              <a:buNone/>
            </a:pPr>
            <a:r>
              <a:rPr lang="en-US" sz="2100" b="1" dirty="0">
                <a:solidFill>
                  <a:srgbClr val="FFFFFF"/>
                </a:solidFill>
                <a:latin typeface="SVN-Georgia" pitchFamily="34" charset="0"/>
                <a:ea typeface="Aptos" pitchFamily="34" charset="-122"/>
                <a:cs typeface="Aptos" pitchFamily="34" charset="-120"/>
              </a:rPr>
              <a:t>ĐỪNG ĐẦU TƯ</a:t>
            </a:r>
            <a:endParaRPr lang="en-US" sz="2100" dirty="0"/>
          </a:p>
          <a:p>
            <a:pPr marL="0" indent="0" algn="ctr">
              <a:buNone/>
            </a:pPr>
            <a:r>
              <a:rPr lang="en-US" sz="2100" b="1" dirty="0">
                <a:solidFill>
                  <a:srgbClr val="FFFFFF"/>
                </a:solidFill>
                <a:latin typeface="SVN-Georgia" pitchFamily="34" charset="0"/>
                <a:ea typeface="Aptos" pitchFamily="34" charset="-122"/>
                <a:cs typeface="Aptos" pitchFamily="34" charset="-120"/>
              </a:rPr>
              <a:t>TIỀN NHÀN RỖI</a:t>
            </a:r>
            <a:endParaRPr lang="en-US" sz="2100" dirty="0"/>
          </a:p>
        </p:txBody>
      </p:sp>
      <p:sp>
        <p:nvSpPr>
          <p:cNvPr id="10" name="Text 8"/>
          <p:cNvSpPr/>
          <p:nvPr/>
        </p:nvSpPr>
        <p:spPr>
          <a:xfrm>
            <a:off x="1143000" y="3063240"/>
            <a:ext cx="3063240" cy="219456"/>
          </a:xfrm>
          <a:prstGeom prst="rect">
            <a:avLst/>
          </a:prstGeom>
          <a:noFill/>
          <a:ln/>
        </p:spPr>
        <p:txBody>
          <a:bodyPr wrap="square" lIns="381" tIns="381" rIns="381" bIns="381" rtlCol="0" anchor="ctr">
            <a:normAutofit/>
          </a:bodyPr>
          <a:lstStyle/>
          <a:p>
            <a:pPr marL="0" indent="0" algn="ctr">
              <a:buNone/>
            </a:pPr>
            <a:r>
              <a:rPr lang="en-US" sz="850" b="1" dirty="0">
                <a:solidFill>
                  <a:srgbClr val="D4A83F"/>
                </a:solidFill>
                <a:latin typeface="Inter" pitchFamily="34" charset="0"/>
                <a:ea typeface="Aptos" pitchFamily="34" charset="-122"/>
                <a:cs typeface="Aptos" pitchFamily="34" charset="-120"/>
              </a:rPr>
              <a:t>TRƯỚC KHI BIẾT 4 LỚP AN TOÀN</a:t>
            </a:r>
            <a:endParaRPr lang="en-US" sz="850" dirty="0"/>
          </a:p>
        </p:txBody>
      </p:sp>
      <p:sp>
        <p:nvSpPr>
          <p:cNvPr id="11" name="Text 9"/>
          <p:cNvSpPr/>
          <p:nvPr/>
        </p:nvSpPr>
        <p:spPr>
          <a:xfrm>
            <a:off x="1143000" y="4096512"/>
            <a:ext cx="3063240" cy="201168"/>
          </a:xfrm>
          <a:prstGeom prst="rect">
            <a:avLst/>
          </a:prstGeom>
          <a:noFill/>
          <a:ln/>
        </p:spPr>
        <p:txBody>
          <a:bodyPr wrap="square" lIns="381" tIns="381" rIns="381" bIns="381" rtlCol="0" anchor="ctr">
            <a:normAutofit/>
          </a:bodyPr>
          <a:lstStyle/>
          <a:p>
            <a:pPr marL="0" indent="0" algn="ctr">
              <a:buNone/>
            </a:pPr>
            <a:r>
              <a:rPr lang="en-US" sz="800" dirty="0">
                <a:solidFill>
                  <a:srgbClr val="D7D7D7"/>
                </a:solidFill>
                <a:latin typeface="Inter" pitchFamily="34" charset="0"/>
                <a:ea typeface="Aptos" pitchFamily="34" charset="-122"/>
                <a:cs typeface="Aptos" pitchFamily="34" charset="-120"/>
              </a:rPr>
              <a:t>Thumbnail mẫu</a:t>
            </a:r>
            <a:endParaRPr lang="en-US" sz="800" dirty="0"/>
          </a:p>
        </p:txBody>
      </p:sp>
      <p:sp>
        <p:nvSpPr>
          <p:cNvPr id="12" name="Text 10"/>
          <p:cNvSpPr/>
          <p:nvPr/>
        </p:nvSpPr>
        <p:spPr>
          <a:xfrm>
            <a:off x="5577840" y="1828800"/>
            <a:ext cx="2743200" cy="274320"/>
          </a:xfrm>
          <a:prstGeom prst="rect">
            <a:avLst/>
          </a:prstGeom>
          <a:noFill/>
          <a:ln/>
        </p:spPr>
        <p:txBody>
          <a:bodyPr wrap="square" lIns="381" tIns="381" rIns="381" bIns="381" rtlCol="0" anchor="ctr">
            <a:normAutofit/>
          </a:bodyPr>
          <a:lstStyle/>
          <a:p>
            <a:pPr marL="0" indent="0" algn="l">
              <a:buNone/>
            </a:pPr>
            <a:r>
              <a:rPr lang="en-US" sz="1400" b="1" dirty="0">
                <a:solidFill>
                  <a:srgbClr val="D4A83F"/>
                </a:solidFill>
                <a:latin typeface="Inter" pitchFamily="34" charset="0"/>
                <a:ea typeface="Aptos" pitchFamily="34" charset="-122"/>
                <a:cs typeface="Aptos" pitchFamily="34" charset="-120"/>
              </a:rPr>
              <a:t>Video formula</a:t>
            </a:r>
            <a:endParaRPr lang="en-US" sz="1400" dirty="0"/>
          </a:p>
        </p:txBody>
      </p:sp>
      <p:sp>
        <p:nvSpPr>
          <p:cNvPr id="13" name="Text 11"/>
          <p:cNvSpPr/>
          <p:nvPr/>
        </p:nvSpPr>
        <p:spPr>
          <a:xfrm>
            <a:off x="5577840" y="2331720"/>
            <a:ext cx="4754880" cy="1874520"/>
          </a:xfrm>
          <a:prstGeom prst="rect">
            <a:avLst/>
          </a:prstGeom>
          <a:noFill/>
          <a:ln/>
        </p:spPr>
        <p:txBody>
          <a:bodyPr wrap="square" lIns="635" tIns="635" rIns="635" bIns="635" rtlCol="0" anchor="ctr">
            <a:normAutofit/>
          </a:bodyPr>
          <a:lstStyle/>
          <a:p>
            <a:pPr marL="0" indent="0">
              <a:buNone/>
            </a:pPr>
            <a:r>
              <a:rPr lang="en-US" sz="1110" dirty="0">
                <a:solidFill>
                  <a:srgbClr val="F4F0E8"/>
                </a:solidFill>
                <a:latin typeface="Inter" pitchFamily="34" charset="0"/>
                <a:ea typeface="Aptos" pitchFamily="34" charset="-122"/>
                <a:cs typeface="Aptos" pitchFamily="34" charset="-120"/>
              </a:rPr>
              <a:t>• Hook 0–3 giây• Bối cảnh hoặc vấn đề 3–12 giây• Giải thích quy luật 12–45 giây• Ví dụ/checklist 45–75 giây• CTA 5–10 giây cuối</a:t>
            </a:r>
            <a:endParaRPr lang="en-US" sz="1110" dirty="0"/>
          </a:p>
        </p:txBody>
      </p:sp>
      <p:sp>
        <p:nvSpPr>
          <p:cNvPr id="14" name="Text 12"/>
          <p:cNvSpPr/>
          <p:nvPr/>
        </p:nvSpPr>
        <p:spPr>
          <a:xfrm>
            <a:off x="5577840" y="4709160"/>
            <a:ext cx="4800600" cy="594360"/>
          </a:xfrm>
          <a:prstGeom prst="rect">
            <a:avLst/>
          </a:prstGeom>
          <a:noFill/>
          <a:ln/>
        </p:spPr>
        <p:txBody>
          <a:bodyPr wrap="square" lIns="381" tIns="381" rIns="381" bIns="381" rtlCol="0" anchor="ctr">
            <a:normAutofit/>
          </a:bodyPr>
          <a:lstStyle/>
          <a:p>
            <a:pPr marL="0" indent="0" algn="l">
              <a:buNone/>
            </a:pPr>
            <a:r>
              <a:rPr lang="en-US" sz="1150" b="1" dirty="0">
                <a:solidFill>
                  <a:srgbClr val="E8CF8B"/>
                </a:solidFill>
                <a:latin typeface="Inter" pitchFamily="34" charset="0"/>
                <a:ea typeface="Aptos" pitchFamily="34" charset="-122"/>
                <a:cs typeface="Aptos" pitchFamily="34" charset="-120"/>
              </a:rPr>
              <a:t>Nguyên tắc: một video chỉ giải thích một luật chơi. Không nhồi nhiều sản phẩm tài chính vào cùng một nội dung.</a:t>
            </a:r>
            <a:endParaRPr lang="en-US" sz="1150" dirty="0"/>
          </a:p>
        </p:txBody>
      </p:sp>
      <p:sp>
        <p:nvSpPr>
          <p:cNvPr id="15" name="Text 1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16" name="Text 1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04 Communication</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26</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LEAD MAGNET SYSTEM</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Bản đồ phân bổ tiền nhàn rỗi</a:t>
            </a:r>
            <a:endParaRPr lang="en-US" sz="2300" dirty="0"/>
          </a:p>
        </p:txBody>
      </p:sp>
      <p:sp>
        <p:nvSpPr>
          <p:cNvPr id="8" name="Shape 6"/>
          <p:cNvSpPr/>
          <p:nvPr/>
        </p:nvSpPr>
        <p:spPr>
          <a:xfrm>
            <a:off x="822960" y="1828800"/>
            <a:ext cx="3931920" cy="3291840"/>
          </a:xfrm>
          <a:prstGeom prst="rect">
            <a:avLst/>
          </a:prstGeom>
          <a:solidFill>
            <a:srgbClr val="070707"/>
          </a:solidFill>
          <a:ln w="10160">
            <a:solidFill>
              <a:srgbClr val="D4A83F"/>
            </a:solidFill>
            <a:prstDash val="solid"/>
          </a:ln>
        </p:spPr>
        <p:txBody>
          <a:bodyPr/>
          <a:lstStyle/>
          <a:p>
            <a:endParaRPr/>
          </a:p>
        </p:txBody>
      </p:sp>
      <p:sp>
        <p:nvSpPr>
          <p:cNvPr id="9" name="Text 7"/>
          <p:cNvSpPr/>
          <p:nvPr/>
        </p:nvSpPr>
        <p:spPr>
          <a:xfrm>
            <a:off x="1143000" y="2331720"/>
            <a:ext cx="3291840" cy="1143000"/>
          </a:xfrm>
          <a:prstGeom prst="rect">
            <a:avLst/>
          </a:prstGeom>
          <a:noFill/>
          <a:ln/>
        </p:spPr>
        <p:txBody>
          <a:bodyPr wrap="square" lIns="381" tIns="381" rIns="381" bIns="381" rtlCol="0" anchor="ctr">
            <a:normAutofit/>
          </a:bodyPr>
          <a:lstStyle/>
          <a:p>
            <a:pPr marL="0" indent="0" algn="ctr">
              <a:buNone/>
            </a:pPr>
            <a:r>
              <a:rPr lang="en-US" sz="2400" b="1" dirty="0">
                <a:solidFill>
                  <a:srgbClr val="D4A83F"/>
                </a:solidFill>
                <a:latin typeface="SVN-Georgia" pitchFamily="34" charset="0"/>
                <a:ea typeface="SVN-Georgia" pitchFamily="34" charset="-122"/>
                <a:cs typeface="SVN-Georgia" pitchFamily="34" charset="-120"/>
              </a:rPr>
              <a:t>BẢN ĐỒ</a:t>
            </a:r>
            <a:endParaRPr lang="en-US" sz="2400" dirty="0"/>
          </a:p>
          <a:p>
            <a:pPr marL="0" indent="0" algn="ctr">
              <a:buNone/>
            </a:pPr>
            <a:r>
              <a:rPr lang="en-US" sz="2400" b="1" dirty="0">
                <a:solidFill>
                  <a:srgbClr val="D4A83F"/>
                </a:solidFill>
                <a:latin typeface="SVN-Georgia" pitchFamily="34" charset="0"/>
                <a:ea typeface="SVN-Georgia" pitchFamily="34" charset="-122"/>
                <a:cs typeface="SVN-Georgia" pitchFamily="34" charset="-120"/>
              </a:rPr>
              <a:t>PHÂN BỔ TIỀN</a:t>
            </a:r>
            <a:endParaRPr lang="en-US" sz="2400" dirty="0"/>
          </a:p>
          <a:p>
            <a:pPr marL="0" indent="0" algn="ctr">
              <a:buNone/>
            </a:pPr>
            <a:r>
              <a:rPr lang="en-US" sz="2400" b="1" dirty="0">
                <a:solidFill>
                  <a:srgbClr val="D4A83F"/>
                </a:solidFill>
                <a:latin typeface="SVN-Georgia" pitchFamily="34" charset="0"/>
                <a:ea typeface="SVN-Georgia" pitchFamily="34" charset="-122"/>
                <a:cs typeface="SVN-Georgia" pitchFamily="34" charset="-120"/>
              </a:rPr>
              <a:t>NHÀN RỖI</a:t>
            </a:r>
            <a:endParaRPr lang="en-US" sz="2400" dirty="0"/>
          </a:p>
        </p:txBody>
      </p:sp>
      <p:sp>
        <p:nvSpPr>
          <p:cNvPr id="10" name="Text 8"/>
          <p:cNvSpPr/>
          <p:nvPr/>
        </p:nvSpPr>
        <p:spPr>
          <a:xfrm>
            <a:off x="1143000" y="3730752"/>
            <a:ext cx="3291840" cy="292608"/>
          </a:xfrm>
          <a:prstGeom prst="rect">
            <a:avLst/>
          </a:prstGeom>
          <a:noFill/>
          <a:ln/>
        </p:spPr>
        <p:txBody>
          <a:bodyPr wrap="square" lIns="381" tIns="381" rIns="381" bIns="381" rtlCol="0" anchor="ctr">
            <a:normAutofit/>
          </a:bodyPr>
          <a:lstStyle/>
          <a:p>
            <a:pPr marL="0" indent="0" algn="ctr">
              <a:buNone/>
            </a:pPr>
            <a:r>
              <a:rPr lang="en-US" sz="1200" b="1" dirty="0">
                <a:solidFill>
                  <a:srgbClr val="FFFFFF"/>
                </a:solidFill>
                <a:latin typeface="Inter" pitchFamily="34" charset="0"/>
                <a:ea typeface="Aptos" pitchFamily="34" charset="-122"/>
                <a:cs typeface="Aptos" pitchFamily="34" charset="-120"/>
              </a:rPr>
              <a:t>7 bước trước khi đầu tư</a:t>
            </a:r>
            <a:endParaRPr lang="en-US" sz="1200" dirty="0"/>
          </a:p>
        </p:txBody>
      </p:sp>
      <p:sp>
        <p:nvSpPr>
          <p:cNvPr id="11" name="Text 9"/>
          <p:cNvSpPr/>
          <p:nvPr/>
        </p:nvSpPr>
        <p:spPr>
          <a:xfrm>
            <a:off x="1143000" y="4297680"/>
            <a:ext cx="3291840" cy="228600"/>
          </a:xfrm>
          <a:prstGeom prst="rect">
            <a:avLst/>
          </a:prstGeom>
          <a:noFill/>
          <a:ln/>
        </p:spPr>
        <p:txBody>
          <a:bodyPr wrap="square" lIns="381" tIns="381" rIns="381" bIns="381" rtlCol="0" anchor="ctr">
            <a:normAutofit/>
          </a:bodyPr>
          <a:lstStyle/>
          <a:p>
            <a:pPr marL="0" indent="0" algn="ctr">
              <a:buNone/>
            </a:pPr>
            <a:r>
              <a:rPr lang="en-US" sz="850" dirty="0">
                <a:solidFill>
                  <a:srgbClr val="D7D7D7"/>
                </a:solidFill>
                <a:latin typeface="Inter" pitchFamily="34" charset="0"/>
                <a:ea typeface="Aptos" pitchFamily="34" charset="-122"/>
                <a:cs typeface="Aptos" pitchFamily="34" charset="-120"/>
              </a:rPr>
              <a:t>Ebook / Checklist thu lead</a:t>
            </a:r>
            <a:endParaRPr lang="en-US" sz="850" dirty="0"/>
          </a:p>
        </p:txBody>
      </p:sp>
      <p:sp>
        <p:nvSpPr>
          <p:cNvPr id="12" name="Text 10"/>
          <p:cNvSpPr/>
          <p:nvPr/>
        </p:nvSpPr>
        <p:spPr>
          <a:xfrm>
            <a:off x="5486400" y="1783080"/>
            <a:ext cx="411480" cy="237744"/>
          </a:xfrm>
          <a:prstGeom prst="rect">
            <a:avLst/>
          </a:prstGeom>
          <a:noFill/>
          <a:ln/>
        </p:spPr>
        <p:txBody>
          <a:bodyPr wrap="square" lIns="381" tIns="381" rIns="381" bIns="381" rtlCol="0" anchor="ctr">
            <a:normAutofit/>
          </a:bodyPr>
          <a:lstStyle/>
          <a:p>
            <a:pPr marL="0" indent="0" algn="l">
              <a:buNone/>
            </a:pPr>
            <a:r>
              <a:rPr lang="en-US" sz="900" b="1" dirty="0">
                <a:solidFill>
                  <a:srgbClr val="D4A83F"/>
                </a:solidFill>
                <a:latin typeface="Inter" pitchFamily="34" charset="0"/>
                <a:ea typeface="Aptos" pitchFamily="34" charset="-122"/>
                <a:cs typeface="Aptos" pitchFamily="34" charset="-120"/>
              </a:rPr>
              <a:t>01</a:t>
            </a:r>
            <a:endParaRPr lang="en-US" sz="900" dirty="0"/>
          </a:p>
        </p:txBody>
      </p:sp>
      <p:sp>
        <p:nvSpPr>
          <p:cNvPr id="13" name="Text 11"/>
          <p:cNvSpPr/>
          <p:nvPr/>
        </p:nvSpPr>
        <p:spPr>
          <a:xfrm>
            <a:off x="6080760" y="1783080"/>
            <a:ext cx="1920240" cy="237744"/>
          </a:xfrm>
          <a:prstGeom prst="rect">
            <a:avLst/>
          </a:prstGeom>
          <a:noFill/>
          <a:ln/>
        </p:spPr>
        <p:txBody>
          <a:bodyPr wrap="square" lIns="381" tIns="381" rIns="381" bIns="381" rtlCol="0" anchor="ctr">
            <a:normAutofit/>
          </a:bodyPr>
          <a:lstStyle/>
          <a:p>
            <a:pPr marL="0" indent="0" algn="l">
              <a:buNone/>
            </a:pPr>
            <a:r>
              <a:rPr lang="en-US" sz="1100" b="1" dirty="0">
                <a:solidFill>
                  <a:srgbClr val="071521"/>
                </a:solidFill>
                <a:latin typeface="Inter" pitchFamily="34" charset="0"/>
                <a:ea typeface="Aptos" pitchFamily="34" charset="-122"/>
                <a:cs typeface="Aptos" pitchFamily="34" charset="-120"/>
              </a:rPr>
              <a:t>Reach</a:t>
            </a:r>
            <a:endParaRPr lang="en-US" sz="1100" dirty="0"/>
          </a:p>
        </p:txBody>
      </p:sp>
      <p:sp>
        <p:nvSpPr>
          <p:cNvPr id="14" name="Text 12"/>
          <p:cNvSpPr/>
          <p:nvPr/>
        </p:nvSpPr>
        <p:spPr>
          <a:xfrm>
            <a:off x="5486400" y="2377440"/>
            <a:ext cx="411480" cy="237744"/>
          </a:xfrm>
          <a:prstGeom prst="rect">
            <a:avLst/>
          </a:prstGeom>
          <a:noFill/>
          <a:ln/>
        </p:spPr>
        <p:txBody>
          <a:bodyPr wrap="square" lIns="381" tIns="381" rIns="381" bIns="381" rtlCol="0" anchor="ctr">
            <a:normAutofit/>
          </a:bodyPr>
          <a:lstStyle/>
          <a:p>
            <a:pPr marL="0" indent="0" algn="l">
              <a:buNone/>
            </a:pPr>
            <a:r>
              <a:rPr lang="en-US" sz="900" b="1" dirty="0">
                <a:solidFill>
                  <a:srgbClr val="D4A83F"/>
                </a:solidFill>
                <a:latin typeface="Inter" pitchFamily="34" charset="0"/>
                <a:ea typeface="Aptos" pitchFamily="34" charset="-122"/>
                <a:cs typeface="Aptos" pitchFamily="34" charset="-120"/>
              </a:rPr>
              <a:t>02</a:t>
            </a:r>
            <a:endParaRPr lang="en-US" sz="900" dirty="0"/>
          </a:p>
        </p:txBody>
      </p:sp>
      <p:sp>
        <p:nvSpPr>
          <p:cNvPr id="15" name="Text 13"/>
          <p:cNvSpPr/>
          <p:nvPr/>
        </p:nvSpPr>
        <p:spPr>
          <a:xfrm>
            <a:off x="6080760" y="2377440"/>
            <a:ext cx="1920240" cy="237744"/>
          </a:xfrm>
          <a:prstGeom prst="rect">
            <a:avLst/>
          </a:prstGeom>
          <a:noFill/>
          <a:ln/>
        </p:spPr>
        <p:txBody>
          <a:bodyPr wrap="square" lIns="381" tIns="381" rIns="381" bIns="381" rtlCol="0" anchor="ctr">
            <a:normAutofit/>
          </a:bodyPr>
          <a:lstStyle/>
          <a:p>
            <a:pPr marL="0" indent="0" algn="l">
              <a:buNone/>
            </a:pPr>
            <a:r>
              <a:rPr lang="en-US" sz="1100" b="1" dirty="0">
                <a:solidFill>
                  <a:srgbClr val="071521"/>
                </a:solidFill>
                <a:latin typeface="Inter" pitchFamily="34" charset="0"/>
                <a:ea typeface="Aptos" pitchFamily="34" charset="-122"/>
                <a:cs typeface="Aptos" pitchFamily="34" charset="-120"/>
              </a:rPr>
              <a:t>Lead</a:t>
            </a:r>
            <a:endParaRPr lang="en-US" sz="1100" dirty="0"/>
          </a:p>
        </p:txBody>
      </p:sp>
      <p:sp>
        <p:nvSpPr>
          <p:cNvPr id="16" name="Text 14"/>
          <p:cNvSpPr/>
          <p:nvPr/>
        </p:nvSpPr>
        <p:spPr>
          <a:xfrm>
            <a:off x="5486400" y="2971800"/>
            <a:ext cx="411480" cy="237744"/>
          </a:xfrm>
          <a:prstGeom prst="rect">
            <a:avLst/>
          </a:prstGeom>
          <a:noFill/>
          <a:ln/>
        </p:spPr>
        <p:txBody>
          <a:bodyPr wrap="square" lIns="381" tIns="381" rIns="381" bIns="381" rtlCol="0" anchor="ctr">
            <a:normAutofit/>
          </a:bodyPr>
          <a:lstStyle/>
          <a:p>
            <a:pPr marL="0" indent="0" algn="l">
              <a:buNone/>
            </a:pPr>
            <a:r>
              <a:rPr lang="en-US" sz="900" b="1" dirty="0">
                <a:solidFill>
                  <a:srgbClr val="D4A83F"/>
                </a:solidFill>
                <a:latin typeface="Inter" pitchFamily="34" charset="0"/>
                <a:ea typeface="Aptos" pitchFamily="34" charset="-122"/>
                <a:cs typeface="Aptos" pitchFamily="34" charset="-120"/>
              </a:rPr>
              <a:t>03</a:t>
            </a:r>
            <a:endParaRPr lang="en-US" sz="900" dirty="0"/>
          </a:p>
        </p:txBody>
      </p:sp>
      <p:sp>
        <p:nvSpPr>
          <p:cNvPr id="17" name="Text 15"/>
          <p:cNvSpPr/>
          <p:nvPr/>
        </p:nvSpPr>
        <p:spPr>
          <a:xfrm>
            <a:off x="6080760" y="2971800"/>
            <a:ext cx="1920240" cy="237744"/>
          </a:xfrm>
          <a:prstGeom prst="rect">
            <a:avLst/>
          </a:prstGeom>
          <a:noFill/>
          <a:ln/>
        </p:spPr>
        <p:txBody>
          <a:bodyPr wrap="square" lIns="381" tIns="381" rIns="381" bIns="381" rtlCol="0" anchor="ctr">
            <a:normAutofit/>
          </a:bodyPr>
          <a:lstStyle/>
          <a:p>
            <a:pPr marL="0" indent="0" algn="l">
              <a:buNone/>
            </a:pPr>
            <a:r>
              <a:rPr lang="en-US" sz="1100" b="1" dirty="0">
                <a:solidFill>
                  <a:srgbClr val="071521"/>
                </a:solidFill>
                <a:latin typeface="Inter" pitchFamily="34" charset="0"/>
                <a:ea typeface="Aptos" pitchFamily="34" charset="-122"/>
                <a:cs typeface="Aptos" pitchFamily="34" charset="-120"/>
              </a:rPr>
              <a:t>Nurture</a:t>
            </a:r>
            <a:endParaRPr lang="en-US" sz="1100" dirty="0"/>
          </a:p>
        </p:txBody>
      </p:sp>
      <p:sp>
        <p:nvSpPr>
          <p:cNvPr id="18" name="Text 16"/>
          <p:cNvSpPr/>
          <p:nvPr/>
        </p:nvSpPr>
        <p:spPr>
          <a:xfrm>
            <a:off x="5486400" y="3566160"/>
            <a:ext cx="411480" cy="237744"/>
          </a:xfrm>
          <a:prstGeom prst="rect">
            <a:avLst/>
          </a:prstGeom>
          <a:noFill/>
          <a:ln/>
        </p:spPr>
        <p:txBody>
          <a:bodyPr wrap="square" lIns="381" tIns="381" rIns="381" bIns="381" rtlCol="0" anchor="ctr">
            <a:normAutofit/>
          </a:bodyPr>
          <a:lstStyle/>
          <a:p>
            <a:pPr marL="0" indent="0" algn="l">
              <a:buNone/>
            </a:pPr>
            <a:r>
              <a:rPr lang="en-US" sz="900" b="1" dirty="0">
                <a:solidFill>
                  <a:srgbClr val="D4A83F"/>
                </a:solidFill>
                <a:latin typeface="Inter" pitchFamily="34" charset="0"/>
                <a:ea typeface="Aptos" pitchFamily="34" charset="-122"/>
                <a:cs typeface="Aptos" pitchFamily="34" charset="-120"/>
              </a:rPr>
              <a:t>04</a:t>
            </a:r>
            <a:endParaRPr lang="en-US" sz="900" dirty="0"/>
          </a:p>
        </p:txBody>
      </p:sp>
      <p:sp>
        <p:nvSpPr>
          <p:cNvPr id="19" name="Text 17"/>
          <p:cNvSpPr/>
          <p:nvPr/>
        </p:nvSpPr>
        <p:spPr>
          <a:xfrm>
            <a:off x="6080760" y="3566160"/>
            <a:ext cx="1920240" cy="237744"/>
          </a:xfrm>
          <a:prstGeom prst="rect">
            <a:avLst/>
          </a:prstGeom>
          <a:noFill/>
          <a:ln/>
        </p:spPr>
        <p:txBody>
          <a:bodyPr wrap="square" lIns="381" tIns="381" rIns="381" bIns="381" rtlCol="0" anchor="ctr">
            <a:normAutofit/>
          </a:bodyPr>
          <a:lstStyle/>
          <a:p>
            <a:pPr marL="0" indent="0" algn="l">
              <a:buNone/>
            </a:pPr>
            <a:r>
              <a:rPr lang="en-US" sz="1100" b="1" dirty="0">
                <a:solidFill>
                  <a:srgbClr val="071521"/>
                </a:solidFill>
                <a:latin typeface="Inter" pitchFamily="34" charset="0"/>
                <a:ea typeface="Aptos" pitchFamily="34" charset="-122"/>
                <a:cs typeface="Aptos" pitchFamily="34" charset="-120"/>
              </a:rPr>
              <a:t>Screening</a:t>
            </a:r>
            <a:endParaRPr lang="en-US" sz="1100" dirty="0"/>
          </a:p>
        </p:txBody>
      </p:sp>
      <p:sp>
        <p:nvSpPr>
          <p:cNvPr id="20" name="Text 18"/>
          <p:cNvSpPr/>
          <p:nvPr/>
        </p:nvSpPr>
        <p:spPr>
          <a:xfrm>
            <a:off x="5486400" y="4160520"/>
            <a:ext cx="411480" cy="237744"/>
          </a:xfrm>
          <a:prstGeom prst="rect">
            <a:avLst/>
          </a:prstGeom>
          <a:noFill/>
          <a:ln/>
        </p:spPr>
        <p:txBody>
          <a:bodyPr wrap="square" lIns="381" tIns="381" rIns="381" bIns="381" rtlCol="0" anchor="ctr">
            <a:normAutofit/>
          </a:bodyPr>
          <a:lstStyle/>
          <a:p>
            <a:pPr marL="0" indent="0" algn="l">
              <a:buNone/>
            </a:pPr>
            <a:r>
              <a:rPr lang="en-US" sz="900" b="1" dirty="0">
                <a:solidFill>
                  <a:srgbClr val="D4A83F"/>
                </a:solidFill>
                <a:latin typeface="Inter" pitchFamily="34" charset="0"/>
                <a:ea typeface="Aptos" pitchFamily="34" charset="-122"/>
                <a:cs typeface="Aptos" pitchFamily="34" charset="-120"/>
              </a:rPr>
              <a:t>05</a:t>
            </a:r>
            <a:endParaRPr lang="en-US" sz="900" dirty="0"/>
          </a:p>
        </p:txBody>
      </p:sp>
      <p:sp>
        <p:nvSpPr>
          <p:cNvPr id="21" name="Text 19"/>
          <p:cNvSpPr/>
          <p:nvPr/>
        </p:nvSpPr>
        <p:spPr>
          <a:xfrm>
            <a:off x="6080760" y="4160520"/>
            <a:ext cx="1920240" cy="237744"/>
          </a:xfrm>
          <a:prstGeom prst="rect">
            <a:avLst/>
          </a:prstGeom>
          <a:noFill/>
          <a:ln/>
        </p:spPr>
        <p:txBody>
          <a:bodyPr wrap="square" lIns="381" tIns="381" rIns="381" bIns="381" rtlCol="0" anchor="ctr">
            <a:normAutofit/>
          </a:bodyPr>
          <a:lstStyle/>
          <a:p>
            <a:pPr marL="0" indent="0" algn="l">
              <a:buNone/>
            </a:pPr>
            <a:r>
              <a:rPr lang="en-US" sz="1100" b="1" dirty="0">
                <a:solidFill>
                  <a:srgbClr val="071521"/>
                </a:solidFill>
                <a:latin typeface="Inter" pitchFamily="34" charset="0"/>
                <a:ea typeface="Aptos" pitchFamily="34" charset="-122"/>
                <a:cs typeface="Aptos" pitchFamily="34" charset="-120"/>
              </a:rPr>
              <a:t>Paid Advisory</a:t>
            </a:r>
            <a:endParaRPr lang="en-US" sz="1100" dirty="0"/>
          </a:p>
        </p:txBody>
      </p:sp>
      <p:sp>
        <p:nvSpPr>
          <p:cNvPr id="22" name="Text 20"/>
          <p:cNvSpPr/>
          <p:nvPr/>
        </p:nvSpPr>
        <p:spPr>
          <a:xfrm>
            <a:off x="5486400" y="4754880"/>
            <a:ext cx="411480" cy="237744"/>
          </a:xfrm>
          <a:prstGeom prst="rect">
            <a:avLst/>
          </a:prstGeom>
          <a:noFill/>
          <a:ln/>
        </p:spPr>
        <p:txBody>
          <a:bodyPr wrap="square" lIns="381" tIns="381" rIns="381" bIns="381" rtlCol="0" anchor="ctr">
            <a:normAutofit/>
          </a:bodyPr>
          <a:lstStyle/>
          <a:p>
            <a:pPr marL="0" indent="0" algn="l">
              <a:buNone/>
            </a:pPr>
            <a:r>
              <a:rPr lang="en-US" sz="900" b="1" dirty="0">
                <a:solidFill>
                  <a:srgbClr val="D4A83F"/>
                </a:solidFill>
                <a:latin typeface="Inter" pitchFamily="34" charset="0"/>
                <a:ea typeface="Aptos" pitchFamily="34" charset="-122"/>
                <a:cs typeface="Aptos" pitchFamily="34" charset="-120"/>
              </a:rPr>
              <a:t>06</a:t>
            </a:r>
            <a:endParaRPr lang="en-US" sz="900" dirty="0"/>
          </a:p>
        </p:txBody>
      </p:sp>
      <p:sp>
        <p:nvSpPr>
          <p:cNvPr id="23" name="Text 21"/>
          <p:cNvSpPr/>
          <p:nvPr/>
        </p:nvSpPr>
        <p:spPr>
          <a:xfrm>
            <a:off x="6080760" y="4754880"/>
            <a:ext cx="1920240" cy="237744"/>
          </a:xfrm>
          <a:prstGeom prst="rect">
            <a:avLst/>
          </a:prstGeom>
          <a:noFill/>
          <a:ln/>
        </p:spPr>
        <p:txBody>
          <a:bodyPr wrap="square" lIns="381" tIns="381" rIns="381" bIns="381" rtlCol="0" anchor="ctr">
            <a:normAutofit/>
          </a:bodyPr>
          <a:lstStyle/>
          <a:p>
            <a:pPr marL="0" indent="0" algn="l">
              <a:buNone/>
            </a:pPr>
            <a:r>
              <a:rPr lang="en-US" sz="1100" b="1" dirty="0">
                <a:solidFill>
                  <a:srgbClr val="071521"/>
                </a:solidFill>
                <a:latin typeface="Inter" pitchFamily="34" charset="0"/>
                <a:ea typeface="Aptos" pitchFamily="34" charset="-122"/>
                <a:cs typeface="Aptos" pitchFamily="34" charset="-120"/>
              </a:rPr>
              <a:t>Solution</a:t>
            </a:r>
            <a:endParaRPr lang="en-US" sz="1100" dirty="0"/>
          </a:p>
        </p:txBody>
      </p:sp>
      <p:sp>
        <p:nvSpPr>
          <p:cNvPr id="25" name="Text 2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26" name="Text 2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731520" y="685800"/>
            <a:ext cx="1097280" cy="640080"/>
          </a:xfrm>
          <a:prstGeom prst="rect">
            <a:avLst/>
          </a:prstGeom>
          <a:noFill/>
          <a:ln/>
        </p:spPr>
        <p:txBody>
          <a:bodyPr wrap="square" lIns="381" tIns="381" rIns="381" bIns="381" rtlCol="0" anchor="ctr">
            <a:normAutofit/>
          </a:bodyPr>
          <a:lstStyle/>
          <a:p>
            <a:pPr marL="0" indent="0" algn="l">
              <a:buNone/>
            </a:pPr>
            <a:r>
              <a:rPr lang="en-US" sz="3400" b="1" dirty="0">
                <a:solidFill>
                  <a:srgbClr val="D4A83F"/>
                </a:solidFill>
                <a:latin typeface="SVN-Georgia" pitchFamily="34" charset="0"/>
                <a:ea typeface="SVN-Georgia" pitchFamily="34" charset="-122"/>
                <a:cs typeface="SVN-Georgia" pitchFamily="34" charset="-120"/>
              </a:rPr>
              <a:t>05</a:t>
            </a:r>
            <a:endParaRPr lang="en-US" sz="3400" dirty="0"/>
          </a:p>
        </p:txBody>
      </p:sp>
      <p:sp>
        <p:nvSpPr>
          <p:cNvPr id="4" name="Text 2"/>
          <p:cNvSpPr/>
          <p:nvPr/>
        </p:nvSpPr>
        <p:spPr>
          <a:xfrm>
            <a:off x="731520" y="1828800"/>
            <a:ext cx="6858000" cy="822960"/>
          </a:xfrm>
          <a:prstGeom prst="rect">
            <a:avLst/>
          </a:prstGeom>
          <a:noFill/>
          <a:ln/>
        </p:spPr>
        <p:txBody>
          <a:bodyPr wrap="square" lIns="381" tIns="381" rIns="381" bIns="381" rtlCol="0" anchor="ctr">
            <a:normAutofit/>
          </a:bodyPr>
          <a:lstStyle/>
          <a:p>
            <a:pPr marL="0" indent="0" algn="l">
              <a:buNone/>
            </a:pPr>
            <a:r>
              <a:rPr lang="en-US" sz="3000" b="1" dirty="0">
                <a:solidFill>
                  <a:srgbClr val="FFFFFF"/>
                </a:solidFill>
                <a:latin typeface="SVN-Georgia" pitchFamily="34" charset="0"/>
                <a:ea typeface="Aptos Display" pitchFamily="34" charset="-122"/>
                <a:cs typeface="Aptos Display" pitchFamily="34" charset="-120"/>
              </a:rPr>
              <a:t>APPLICATIONS &amp; GOVERNANCE</a:t>
            </a:r>
            <a:endParaRPr lang="en-US" sz="3000" dirty="0"/>
          </a:p>
        </p:txBody>
      </p:sp>
      <p:sp>
        <p:nvSpPr>
          <p:cNvPr id="5" name="Text 3"/>
          <p:cNvSpPr/>
          <p:nvPr/>
        </p:nvSpPr>
        <p:spPr>
          <a:xfrm>
            <a:off x="777240" y="2743200"/>
            <a:ext cx="6583680" cy="640080"/>
          </a:xfrm>
          <a:prstGeom prst="rect">
            <a:avLst/>
          </a:prstGeom>
          <a:noFill/>
          <a:ln/>
        </p:spPr>
        <p:txBody>
          <a:bodyPr wrap="square" lIns="381" tIns="381" rIns="381" bIns="381" rtlCol="0" anchor="ctr">
            <a:normAutofit/>
          </a:bodyPr>
          <a:lstStyle/>
          <a:p>
            <a:pPr marL="0" indent="0" algn="l">
              <a:buNone/>
            </a:pPr>
            <a:r>
              <a:rPr lang="en-US" sz="1400" dirty="0">
                <a:solidFill>
                  <a:srgbClr val="E8CF8B"/>
                </a:solidFill>
                <a:latin typeface="Inter" pitchFamily="34" charset="0"/>
                <a:ea typeface="Aptos" pitchFamily="34" charset="-122"/>
                <a:cs typeface="Aptos" pitchFamily="34" charset="-120"/>
              </a:rPr>
              <a:t>Ứng dụng nhận diện, co-branding, sự kiện, cộng đồng và hệ thống kiểm duyệt.</a:t>
            </a:r>
            <a:endParaRPr lang="en-US" sz="1400" dirty="0"/>
          </a:p>
        </p:txBody>
      </p:sp>
      <p:sp>
        <p:nvSpPr>
          <p:cNvPr id="7" name="Text 4"/>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8" name="Text 5"/>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pic>
        <p:nvPicPr>
          <p:cNvPr id="9" name="Picture 8" descr="moneyfest_logo_gold_transparent.png"/>
          <p:cNvPicPr>
            <a:picLocks noChangeAspect="1"/>
          </p:cNvPicPr>
          <p:nvPr/>
        </p:nvPicPr>
        <p:blipFill>
          <a:blip r:embed="rId3"/>
          <a:stretch>
            <a:fillRect/>
          </a:stretch>
        </p:blipFill>
        <p:spPr>
          <a:xfrm>
            <a:off x="8915400" y="1801405"/>
            <a:ext cx="2331720" cy="160926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05 Applications</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28</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BRAND APPLICATIONS</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Hệ ứng dụng ưu tiên</a:t>
            </a:r>
            <a:endParaRPr lang="en-US" sz="2300" dirty="0"/>
          </a:p>
        </p:txBody>
      </p:sp>
      <p:sp>
        <p:nvSpPr>
          <p:cNvPr id="8" name="Shape 6"/>
          <p:cNvSpPr/>
          <p:nvPr/>
        </p:nvSpPr>
        <p:spPr>
          <a:xfrm>
            <a:off x="822960" y="1828800"/>
            <a:ext cx="4754880" cy="713232"/>
          </a:xfrm>
          <a:prstGeom prst="rect">
            <a:avLst/>
          </a:prstGeom>
          <a:solidFill>
            <a:srgbClr val="FFFFFF"/>
          </a:solidFill>
          <a:ln w="6350">
            <a:solidFill>
              <a:srgbClr val="D7D7D7"/>
            </a:solidFill>
            <a:prstDash val="solid"/>
          </a:ln>
        </p:spPr>
        <p:txBody>
          <a:bodyPr/>
          <a:lstStyle/>
          <a:p>
            <a:endParaRPr/>
          </a:p>
        </p:txBody>
      </p:sp>
      <p:sp>
        <p:nvSpPr>
          <p:cNvPr id="9" name="Text 7"/>
          <p:cNvSpPr/>
          <p:nvPr/>
        </p:nvSpPr>
        <p:spPr>
          <a:xfrm>
            <a:off x="987552" y="1956816"/>
            <a:ext cx="1645920" cy="228600"/>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Digital profile</a:t>
            </a:r>
            <a:endParaRPr lang="en-US" sz="1100" dirty="0"/>
          </a:p>
        </p:txBody>
      </p:sp>
      <p:sp>
        <p:nvSpPr>
          <p:cNvPr id="10" name="Text 8"/>
          <p:cNvSpPr/>
          <p:nvPr/>
        </p:nvSpPr>
        <p:spPr>
          <a:xfrm>
            <a:off x="2697480" y="1947672"/>
            <a:ext cx="2743200" cy="274320"/>
          </a:xfrm>
          <a:prstGeom prst="rect">
            <a:avLst/>
          </a:prstGeom>
          <a:noFill/>
          <a:ln/>
        </p:spPr>
        <p:txBody>
          <a:bodyPr wrap="square" lIns="381" tIns="381" rIns="381" bIns="381" rtlCol="0" anchor="ctr">
            <a:normAutofit/>
          </a:bodyPr>
          <a:lstStyle/>
          <a:p>
            <a:pPr marL="0" indent="0" algn="l">
              <a:buNone/>
            </a:pPr>
            <a:r>
              <a:rPr lang="en-US" sz="880" dirty="0">
                <a:solidFill>
                  <a:srgbClr val="070707"/>
                </a:solidFill>
                <a:latin typeface="Inter" pitchFamily="34" charset="0"/>
                <a:ea typeface="Aptos" pitchFamily="34" charset="-122"/>
                <a:cs typeface="Aptos" pitchFamily="34" charset="-120"/>
              </a:rPr>
              <a:t>Website, landing page, email signature, social avatar/cover</a:t>
            </a:r>
            <a:endParaRPr lang="en-US" sz="880" dirty="0"/>
          </a:p>
        </p:txBody>
      </p:sp>
      <p:sp>
        <p:nvSpPr>
          <p:cNvPr id="11" name="Shape 9"/>
          <p:cNvSpPr/>
          <p:nvPr/>
        </p:nvSpPr>
        <p:spPr>
          <a:xfrm>
            <a:off x="6355080" y="1828800"/>
            <a:ext cx="4754880" cy="713232"/>
          </a:xfrm>
          <a:prstGeom prst="rect">
            <a:avLst/>
          </a:prstGeom>
          <a:solidFill>
            <a:srgbClr val="F4F0E8"/>
          </a:solidFill>
          <a:ln w="6350">
            <a:solidFill>
              <a:srgbClr val="D7D7D7"/>
            </a:solidFill>
            <a:prstDash val="solid"/>
          </a:ln>
        </p:spPr>
        <p:txBody>
          <a:bodyPr/>
          <a:lstStyle/>
          <a:p>
            <a:endParaRPr/>
          </a:p>
        </p:txBody>
      </p:sp>
      <p:sp>
        <p:nvSpPr>
          <p:cNvPr id="12" name="Text 10"/>
          <p:cNvSpPr/>
          <p:nvPr/>
        </p:nvSpPr>
        <p:spPr>
          <a:xfrm>
            <a:off x="6519672" y="1956816"/>
            <a:ext cx="1645920" cy="228600"/>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Content kit</a:t>
            </a:r>
            <a:endParaRPr lang="en-US" sz="1100" dirty="0"/>
          </a:p>
        </p:txBody>
      </p:sp>
      <p:sp>
        <p:nvSpPr>
          <p:cNvPr id="13" name="Text 11"/>
          <p:cNvSpPr/>
          <p:nvPr/>
        </p:nvSpPr>
        <p:spPr>
          <a:xfrm>
            <a:off x="8229600" y="1947672"/>
            <a:ext cx="2743200" cy="274320"/>
          </a:xfrm>
          <a:prstGeom prst="rect">
            <a:avLst/>
          </a:prstGeom>
          <a:noFill/>
          <a:ln/>
        </p:spPr>
        <p:txBody>
          <a:bodyPr wrap="square" lIns="381" tIns="381" rIns="381" bIns="381" rtlCol="0" anchor="ctr">
            <a:normAutofit/>
          </a:bodyPr>
          <a:lstStyle/>
          <a:p>
            <a:pPr marL="0" indent="0" algn="l">
              <a:buNone/>
            </a:pPr>
            <a:r>
              <a:rPr lang="en-US" sz="880" dirty="0">
                <a:solidFill>
                  <a:srgbClr val="070707"/>
                </a:solidFill>
                <a:latin typeface="Inter" pitchFamily="34" charset="0"/>
                <a:ea typeface="Aptos" pitchFamily="34" charset="-122"/>
                <a:cs typeface="Aptos" pitchFamily="34" charset="-120"/>
              </a:rPr>
              <a:t>Carousel, thumbnail, short-video frame, webinar slide</a:t>
            </a:r>
            <a:endParaRPr lang="en-US" sz="880" dirty="0"/>
          </a:p>
        </p:txBody>
      </p:sp>
      <p:sp>
        <p:nvSpPr>
          <p:cNvPr id="14" name="Shape 12"/>
          <p:cNvSpPr/>
          <p:nvPr/>
        </p:nvSpPr>
        <p:spPr>
          <a:xfrm>
            <a:off x="822960" y="2907792"/>
            <a:ext cx="4754880" cy="713232"/>
          </a:xfrm>
          <a:prstGeom prst="rect">
            <a:avLst/>
          </a:prstGeom>
          <a:solidFill>
            <a:srgbClr val="FFFFFF"/>
          </a:solidFill>
          <a:ln w="6350">
            <a:solidFill>
              <a:srgbClr val="D7D7D7"/>
            </a:solidFill>
            <a:prstDash val="solid"/>
          </a:ln>
        </p:spPr>
        <p:txBody>
          <a:bodyPr/>
          <a:lstStyle/>
          <a:p>
            <a:endParaRPr/>
          </a:p>
        </p:txBody>
      </p:sp>
      <p:sp>
        <p:nvSpPr>
          <p:cNvPr id="15" name="Text 13"/>
          <p:cNvSpPr/>
          <p:nvPr/>
        </p:nvSpPr>
        <p:spPr>
          <a:xfrm>
            <a:off x="987552" y="3035808"/>
            <a:ext cx="1645920" cy="228600"/>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Advisory kit</a:t>
            </a:r>
            <a:endParaRPr lang="en-US" sz="1100" dirty="0"/>
          </a:p>
        </p:txBody>
      </p:sp>
      <p:sp>
        <p:nvSpPr>
          <p:cNvPr id="16" name="Text 14"/>
          <p:cNvSpPr/>
          <p:nvPr/>
        </p:nvSpPr>
        <p:spPr>
          <a:xfrm>
            <a:off x="2697480" y="3026664"/>
            <a:ext cx="2743200" cy="274320"/>
          </a:xfrm>
          <a:prstGeom prst="rect">
            <a:avLst/>
          </a:prstGeom>
          <a:noFill/>
          <a:ln/>
        </p:spPr>
        <p:txBody>
          <a:bodyPr wrap="square" lIns="381" tIns="381" rIns="381" bIns="381" rtlCol="0" anchor="ctr">
            <a:normAutofit/>
          </a:bodyPr>
          <a:lstStyle/>
          <a:p>
            <a:pPr marL="0" indent="0" algn="l">
              <a:buNone/>
            </a:pPr>
            <a:r>
              <a:rPr lang="en-US" sz="880" dirty="0">
                <a:solidFill>
                  <a:srgbClr val="070707"/>
                </a:solidFill>
                <a:latin typeface="Inter" pitchFamily="34" charset="0"/>
                <a:ea typeface="Aptos" pitchFamily="34" charset="-122"/>
                <a:cs typeface="Aptos" pitchFamily="34" charset="-120"/>
              </a:rPr>
              <a:t>Form sàng lọc, báo cáo tư vấn, checklist, proposal</a:t>
            </a:r>
            <a:endParaRPr lang="en-US" sz="880" dirty="0"/>
          </a:p>
        </p:txBody>
      </p:sp>
      <p:sp>
        <p:nvSpPr>
          <p:cNvPr id="17" name="Shape 15"/>
          <p:cNvSpPr/>
          <p:nvPr/>
        </p:nvSpPr>
        <p:spPr>
          <a:xfrm>
            <a:off x="6355080" y="2907792"/>
            <a:ext cx="4754880" cy="713232"/>
          </a:xfrm>
          <a:prstGeom prst="rect">
            <a:avLst/>
          </a:prstGeom>
          <a:solidFill>
            <a:srgbClr val="F4F0E8"/>
          </a:solidFill>
          <a:ln w="6350">
            <a:solidFill>
              <a:srgbClr val="D7D7D7"/>
            </a:solidFill>
            <a:prstDash val="solid"/>
          </a:ln>
        </p:spPr>
        <p:txBody>
          <a:bodyPr/>
          <a:lstStyle/>
          <a:p>
            <a:endParaRPr/>
          </a:p>
        </p:txBody>
      </p:sp>
      <p:sp>
        <p:nvSpPr>
          <p:cNvPr id="18" name="Text 16"/>
          <p:cNvSpPr/>
          <p:nvPr/>
        </p:nvSpPr>
        <p:spPr>
          <a:xfrm>
            <a:off x="6519672" y="3035808"/>
            <a:ext cx="1645920" cy="228600"/>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Partnership kit</a:t>
            </a:r>
            <a:endParaRPr lang="en-US" sz="1100" dirty="0"/>
          </a:p>
        </p:txBody>
      </p:sp>
      <p:sp>
        <p:nvSpPr>
          <p:cNvPr id="19" name="Text 17"/>
          <p:cNvSpPr/>
          <p:nvPr/>
        </p:nvSpPr>
        <p:spPr>
          <a:xfrm>
            <a:off x="8229600" y="3026664"/>
            <a:ext cx="2743200" cy="274320"/>
          </a:xfrm>
          <a:prstGeom prst="rect">
            <a:avLst/>
          </a:prstGeom>
          <a:noFill/>
          <a:ln/>
        </p:spPr>
        <p:txBody>
          <a:bodyPr wrap="square" lIns="381" tIns="381" rIns="381" bIns="381" rtlCol="0" anchor="ctr">
            <a:normAutofit/>
          </a:bodyPr>
          <a:lstStyle/>
          <a:p>
            <a:pPr marL="0" indent="0" algn="l">
              <a:buNone/>
            </a:pPr>
            <a:r>
              <a:rPr lang="en-US" sz="880" dirty="0">
                <a:solidFill>
                  <a:srgbClr val="070707"/>
                </a:solidFill>
                <a:latin typeface="Inter" pitchFamily="34" charset="0"/>
                <a:ea typeface="Aptos" pitchFamily="34" charset="-122"/>
                <a:cs typeface="Aptos" pitchFamily="34" charset="-120"/>
              </a:rPr>
              <a:t>Co-branding deck, lead report, event visual</a:t>
            </a:r>
            <a:endParaRPr lang="en-US" sz="880" dirty="0"/>
          </a:p>
        </p:txBody>
      </p:sp>
      <p:sp>
        <p:nvSpPr>
          <p:cNvPr id="20" name="Shape 18"/>
          <p:cNvSpPr/>
          <p:nvPr/>
        </p:nvSpPr>
        <p:spPr>
          <a:xfrm>
            <a:off x="822960" y="3986784"/>
            <a:ext cx="4754880" cy="713232"/>
          </a:xfrm>
          <a:prstGeom prst="rect">
            <a:avLst/>
          </a:prstGeom>
          <a:solidFill>
            <a:srgbClr val="FFFFFF"/>
          </a:solidFill>
          <a:ln w="6350">
            <a:solidFill>
              <a:srgbClr val="D7D7D7"/>
            </a:solidFill>
            <a:prstDash val="solid"/>
          </a:ln>
        </p:spPr>
        <p:txBody>
          <a:bodyPr/>
          <a:lstStyle/>
          <a:p>
            <a:endParaRPr/>
          </a:p>
        </p:txBody>
      </p:sp>
      <p:sp>
        <p:nvSpPr>
          <p:cNvPr id="21" name="Text 19"/>
          <p:cNvSpPr/>
          <p:nvPr/>
        </p:nvSpPr>
        <p:spPr>
          <a:xfrm>
            <a:off x="987552" y="4114800"/>
            <a:ext cx="1645920" cy="228600"/>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Community kit</a:t>
            </a:r>
            <a:endParaRPr lang="en-US" sz="1100" dirty="0"/>
          </a:p>
        </p:txBody>
      </p:sp>
      <p:sp>
        <p:nvSpPr>
          <p:cNvPr id="22" name="Text 20"/>
          <p:cNvSpPr/>
          <p:nvPr/>
        </p:nvSpPr>
        <p:spPr>
          <a:xfrm>
            <a:off x="2697480" y="4105656"/>
            <a:ext cx="2743200" cy="274320"/>
          </a:xfrm>
          <a:prstGeom prst="rect">
            <a:avLst/>
          </a:prstGeom>
          <a:noFill/>
          <a:ln/>
        </p:spPr>
        <p:txBody>
          <a:bodyPr wrap="square" lIns="381" tIns="381" rIns="381" bIns="381" rtlCol="0" anchor="ctr">
            <a:normAutofit/>
          </a:bodyPr>
          <a:lstStyle/>
          <a:p>
            <a:pPr marL="0" indent="0" algn="l">
              <a:buNone/>
            </a:pPr>
            <a:r>
              <a:rPr lang="en-US" sz="880" dirty="0">
                <a:solidFill>
                  <a:srgbClr val="070707"/>
                </a:solidFill>
                <a:latin typeface="Inter" pitchFamily="34" charset="0"/>
                <a:ea typeface="Aptos" pitchFamily="34" charset="-122"/>
                <a:cs typeface="Aptos" pitchFamily="34" charset="-120"/>
              </a:rPr>
              <a:t>Group cover, welcome post, event banner, member badge</a:t>
            </a:r>
            <a:endParaRPr lang="en-US" sz="880" dirty="0"/>
          </a:p>
        </p:txBody>
      </p:sp>
      <p:sp>
        <p:nvSpPr>
          <p:cNvPr id="23" name="Shape 21"/>
          <p:cNvSpPr/>
          <p:nvPr/>
        </p:nvSpPr>
        <p:spPr>
          <a:xfrm>
            <a:off x="6355080" y="3986784"/>
            <a:ext cx="4754880" cy="713232"/>
          </a:xfrm>
          <a:prstGeom prst="rect">
            <a:avLst/>
          </a:prstGeom>
          <a:solidFill>
            <a:srgbClr val="F4F0E8"/>
          </a:solidFill>
          <a:ln w="6350">
            <a:solidFill>
              <a:srgbClr val="D7D7D7"/>
            </a:solidFill>
            <a:prstDash val="solid"/>
          </a:ln>
        </p:spPr>
        <p:txBody>
          <a:bodyPr/>
          <a:lstStyle/>
          <a:p>
            <a:endParaRPr/>
          </a:p>
        </p:txBody>
      </p:sp>
      <p:sp>
        <p:nvSpPr>
          <p:cNvPr id="24" name="Text 22"/>
          <p:cNvSpPr/>
          <p:nvPr/>
        </p:nvSpPr>
        <p:spPr>
          <a:xfrm>
            <a:off x="6519672" y="4114800"/>
            <a:ext cx="1645920" cy="228600"/>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Offline kit</a:t>
            </a:r>
            <a:endParaRPr lang="en-US" sz="1100" dirty="0"/>
          </a:p>
        </p:txBody>
      </p:sp>
      <p:sp>
        <p:nvSpPr>
          <p:cNvPr id="25" name="Text 23"/>
          <p:cNvSpPr/>
          <p:nvPr/>
        </p:nvSpPr>
        <p:spPr>
          <a:xfrm>
            <a:off x="8229600" y="4105656"/>
            <a:ext cx="2743200" cy="274320"/>
          </a:xfrm>
          <a:prstGeom prst="rect">
            <a:avLst/>
          </a:prstGeom>
          <a:noFill/>
          <a:ln/>
        </p:spPr>
        <p:txBody>
          <a:bodyPr wrap="square" lIns="381" tIns="381" rIns="381" bIns="381" rtlCol="0" anchor="ctr">
            <a:normAutofit/>
          </a:bodyPr>
          <a:lstStyle/>
          <a:p>
            <a:pPr marL="0" indent="0" algn="l">
              <a:buNone/>
            </a:pPr>
            <a:r>
              <a:rPr lang="en-US" sz="880" dirty="0">
                <a:solidFill>
                  <a:srgbClr val="070707"/>
                </a:solidFill>
                <a:latin typeface="Inter" pitchFamily="34" charset="0"/>
                <a:ea typeface="Aptos" pitchFamily="34" charset="-122"/>
                <a:cs typeface="Aptos" pitchFamily="34" charset="-120"/>
              </a:rPr>
              <a:t>Namecard, backdrop, standee, handout, QR booking</a:t>
            </a:r>
            <a:endParaRPr lang="en-US" sz="880" dirty="0"/>
          </a:p>
        </p:txBody>
      </p:sp>
      <p:sp>
        <p:nvSpPr>
          <p:cNvPr id="26" name="Text 24"/>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27" name="Text 25"/>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E8CF8B"/>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D7D7D7"/>
                </a:solidFill>
                <a:latin typeface="Inter" pitchFamily="34" charset="0"/>
                <a:ea typeface="Aptos" pitchFamily="34" charset="-122"/>
                <a:cs typeface="Aptos" pitchFamily="34" charset="-120"/>
              </a:rPr>
              <a:t>05 Applications</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D4A83F"/>
                </a:solidFill>
                <a:latin typeface="Inter" pitchFamily="34" charset="0"/>
                <a:ea typeface="Aptos" pitchFamily="34" charset="-122"/>
                <a:cs typeface="Aptos" pitchFamily="34" charset="-120"/>
              </a:rPr>
              <a:t>29</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E8CF8B"/>
                </a:solidFill>
                <a:latin typeface="Inter" pitchFamily="34" charset="0"/>
                <a:ea typeface="Aptos" pitchFamily="34" charset="-122"/>
                <a:cs typeface="Aptos" pitchFamily="34" charset="-120"/>
              </a:rPr>
              <a:t>PARTNERSHIP &amp; CO-BRANDING</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FFFFFF"/>
                </a:solidFill>
                <a:latin typeface="SVN-Georgia" pitchFamily="34" charset="0"/>
                <a:ea typeface="Aptos Display" pitchFamily="34" charset="-122"/>
                <a:cs typeface="Aptos Display" pitchFamily="34" charset="-120"/>
              </a:rPr>
              <a:t>Quy chuẩn hợp tác đối tác</a:t>
            </a:r>
            <a:endParaRPr lang="en-US" sz="2300" dirty="0"/>
          </a:p>
        </p:txBody>
      </p:sp>
      <p:sp>
        <p:nvSpPr>
          <p:cNvPr id="8" name="Text 6"/>
          <p:cNvSpPr/>
          <p:nvPr/>
        </p:nvSpPr>
        <p:spPr>
          <a:xfrm>
            <a:off x="868680" y="2211355"/>
            <a:ext cx="1371600" cy="274320"/>
          </a:xfrm>
          <a:prstGeom prst="rect">
            <a:avLst/>
          </a:prstGeom>
          <a:noFill/>
          <a:ln/>
        </p:spPr>
        <p:txBody>
          <a:bodyPr wrap="square" lIns="381" tIns="381" rIns="381" bIns="381" rtlCol="0" anchor="ctr">
            <a:normAutofit/>
          </a:bodyPr>
          <a:lstStyle/>
          <a:p>
            <a:pPr marL="0" indent="0" algn="l">
              <a:buNone/>
            </a:pPr>
            <a:r>
              <a:rPr lang="en-US" sz="1400" b="1" dirty="0">
                <a:solidFill>
                  <a:srgbClr val="D4A83F"/>
                </a:solidFill>
                <a:latin typeface="Inter" pitchFamily="34" charset="0"/>
                <a:ea typeface="Aptos" pitchFamily="34" charset="-122"/>
                <a:cs typeface="Aptos" pitchFamily="34" charset="-120"/>
              </a:rPr>
              <a:t>Nguyên tắc</a:t>
            </a:r>
            <a:endParaRPr lang="en-US" sz="1400" dirty="0"/>
          </a:p>
        </p:txBody>
      </p:sp>
      <p:sp>
        <p:nvSpPr>
          <p:cNvPr id="9" name="Text 7"/>
          <p:cNvSpPr/>
          <p:nvPr/>
        </p:nvSpPr>
        <p:spPr>
          <a:xfrm>
            <a:off x="868680" y="2714275"/>
            <a:ext cx="5120640" cy="1737360"/>
          </a:xfrm>
          <a:prstGeom prst="rect">
            <a:avLst/>
          </a:prstGeom>
          <a:noFill/>
          <a:ln/>
        </p:spPr>
        <p:txBody>
          <a:bodyPr wrap="square" lIns="635" tIns="635" rIns="635" bIns="635" rtlCol="0" anchor="ctr">
            <a:normAutofit/>
          </a:bodyPr>
          <a:lstStyle/>
          <a:p>
            <a:pPr marL="0" indent="0">
              <a:buNone/>
            </a:pPr>
            <a:r>
              <a:rPr lang="en-US" sz="1110" dirty="0">
                <a:solidFill>
                  <a:srgbClr val="F4F0E8"/>
                </a:solidFill>
                <a:latin typeface="Inter" pitchFamily="34" charset="0"/>
                <a:ea typeface="Aptos" pitchFamily="34" charset="-122"/>
                <a:cs typeface="Aptos" pitchFamily="34" charset="-120"/>
              </a:rPr>
              <a:t>• Moneyfest luôn đứng ở vai trò tư vấn, giải thích và kết nối minh bạch.• Logo đối tác không được lớn hơn logo Moneyfest trên tài sản đồng thương hiệu.• Nội dung phải công bố rõ quyền lợi, phí, điều kiện và rủi ro khi phù hợp.• Không dùng ngôn ngữ cam kết lợi nhuận, phê duyệt hoặc kết quả tài chính.</a:t>
            </a:r>
            <a:endParaRPr lang="en-US" sz="1110" dirty="0"/>
          </a:p>
        </p:txBody>
      </p:sp>
      <p:sp>
        <p:nvSpPr>
          <p:cNvPr id="10" name="Shape 8"/>
          <p:cNvSpPr/>
          <p:nvPr/>
        </p:nvSpPr>
        <p:spPr>
          <a:xfrm>
            <a:off x="6537960" y="2211355"/>
            <a:ext cx="4297680" cy="2194560"/>
          </a:xfrm>
          <a:prstGeom prst="rect">
            <a:avLst/>
          </a:prstGeom>
          <a:solidFill>
            <a:srgbClr val="FFFFFF"/>
          </a:solidFill>
          <a:ln w="8890">
            <a:solidFill>
              <a:srgbClr val="D4A83F"/>
            </a:solidFill>
            <a:prstDash val="solid"/>
          </a:ln>
        </p:spPr>
        <p:txBody>
          <a:bodyPr/>
          <a:lstStyle/>
          <a:p>
            <a:endParaRPr/>
          </a:p>
        </p:txBody>
      </p:sp>
      <p:sp>
        <p:nvSpPr>
          <p:cNvPr id="12" name="Text 9"/>
          <p:cNvSpPr/>
          <p:nvPr/>
        </p:nvSpPr>
        <p:spPr>
          <a:xfrm>
            <a:off x="8641080" y="2942875"/>
            <a:ext cx="1645920" cy="292608"/>
          </a:xfrm>
          <a:prstGeom prst="rect">
            <a:avLst/>
          </a:prstGeom>
          <a:noFill/>
          <a:ln/>
        </p:spPr>
        <p:txBody>
          <a:bodyPr wrap="square" lIns="381" tIns="381" rIns="381" bIns="381" rtlCol="0" anchor="ctr">
            <a:normAutofit/>
          </a:bodyPr>
          <a:lstStyle/>
          <a:p>
            <a:pPr marL="0" indent="0" algn="ctr">
              <a:buNone/>
            </a:pPr>
            <a:r>
              <a:rPr lang="en-US" sz="1200" b="1" dirty="0">
                <a:solidFill>
                  <a:srgbClr val="66717A"/>
                </a:solidFill>
                <a:latin typeface="Inter" pitchFamily="34" charset="0"/>
                <a:ea typeface="Aptos" pitchFamily="34" charset="-122"/>
                <a:cs typeface="Aptos" pitchFamily="34" charset="-120"/>
              </a:rPr>
              <a:t>PARTNER LOGO</a:t>
            </a:r>
            <a:endParaRPr lang="en-US" sz="1200" dirty="0"/>
          </a:p>
        </p:txBody>
      </p:sp>
      <p:sp>
        <p:nvSpPr>
          <p:cNvPr id="13" name="Text 10"/>
          <p:cNvSpPr/>
          <p:nvPr/>
        </p:nvSpPr>
        <p:spPr>
          <a:xfrm>
            <a:off x="6537960" y="4634515"/>
            <a:ext cx="4297680" cy="228600"/>
          </a:xfrm>
          <a:prstGeom prst="rect">
            <a:avLst/>
          </a:prstGeom>
          <a:noFill/>
          <a:ln/>
        </p:spPr>
        <p:txBody>
          <a:bodyPr wrap="square" lIns="381" tIns="381" rIns="381" bIns="381" rtlCol="0" anchor="ctr">
            <a:normAutofit/>
          </a:bodyPr>
          <a:lstStyle/>
          <a:p>
            <a:pPr marL="0" indent="0" algn="ctr">
              <a:buNone/>
            </a:pPr>
            <a:r>
              <a:rPr lang="en-US" sz="850" dirty="0">
                <a:solidFill>
                  <a:srgbClr val="D7D7D7"/>
                </a:solidFill>
                <a:latin typeface="Inter" pitchFamily="34" charset="0"/>
                <a:ea typeface="Aptos" pitchFamily="34" charset="-122"/>
                <a:cs typeface="Aptos" pitchFamily="34" charset="-120"/>
              </a:rPr>
              <a:t>Logo lockup mẫu</a:t>
            </a:r>
            <a:endParaRPr lang="en-US" sz="850" dirty="0"/>
          </a:p>
        </p:txBody>
      </p:sp>
      <p:sp>
        <p:nvSpPr>
          <p:cNvPr id="14" name="Text 11"/>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15" name="Text 12"/>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pic>
        <p:nvPicPr>
          <p:cNvPr id="16" name="Picture 15" descr="moneyfest_logo_gold_transparent.png"/>
          <p:cNvPicPr>
            <a:picLocks noChangeAspect="1"/>
          </p:cNvPicPr>
          <p:nvPr/>
        </p:nvPicPr>
        <p:blipFill>
          <a:blip r:embed="rId3"/>
          <a:stretch>
            <a:fillRect/>
          </a:stretch>
        </p:blipFill>
        <p:spPr>
          <a:xfrm>
            <a:off x="7293943" y="2771070"/>
            <a:ext cx="1094073" cy="75508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Text 1"/>
          <p:cNvSpPr/>
          <p:nvPr/>
        </p:nvSpPr>
        <p:spPr>
          <a:xfrm>
            <a:off x="566928" y="219456"/>
            <a:ext cx="4389120" cy="219456"/>
          </a:xfrm>
          <a:prstGeom prst="rect">
            <a:avLst/>
          </a:prstGeom>
          <a:noFill/>
          <a:ln/>
        </p:spPr>
        <p:txBody>
          <a:bodyPr wrap="square" lIns="381" tIns="381" rIns="381" bIns="381" rtlCol="0" anchor="ctr">
            <a:normAutofit/>
          </a:bodyPr>
          <a:lstStyle/>
          <a:p>
            <a:pPr marL="0" indent="0" algn="l">
              <a:buNone/>
            </a:pPr>
            <a:r>
              <a:rPr lang="en-US" sz="750" b="1" dirty="0">
                <a:solidFill>
                  <a:srgbClr val="66717A"/>
                </a:solidFill>
                <a:latin typeface="Inter" pitchFamily="34" charset="0"/>
                <a:ea typeface="Aptos" pitchFamily="34" charset="-122"/>
                <a:cs typeface="Aptos" pitchFamily="34" charset="-120"/>
              </a:rPr>
              <a:t>MONEYFEST BRAND MANUAL</a:t>
            </a:r>
            <a:endParaRPr lang="en-US" sz="750" dirty="0"/>
          </a:p>
        </p:txBody>
      </p:sp>
      <p:sp>
        <p:nvSpPr>
          <p:cNvPr id="4" name="Text 2"/>
          <p:cNvSpPr/>
          <p:nvPr/>
        </p:nvSpPr>
        <p:spPr>
          <a:xfrm>
            <a:off x="7406640" y="219456"/>
            <a:ext cx="338328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05 Applications</a:t>
            </a:r>
            <a:endParaRPr lang="en-US" sz="750" dirty="0"/>
          </a:p>
        </p:txBody>
      </p:sp>
      <p:sp>
        <p:nvSpPr>
          <p:cNvPr id="5" name="Text 3"/>
          <p:cNvSpPr/>
          <p:nvPr/>
        </p:nvSpPr>
        <p:spPr>
          <a:xfrm>
            <a:off x="10972800" y="219456"/>
            <a:ext cx="685800" cy="219456"/>
          </a:xfrm>
          <a:prstGeom prst="rect">
            <a:avLst/>
          </a:prstGeom>
          <a:noFill/>
          <a:ln/>
        </p:spPr>
        <p:txBody>
          <a:bodyPr wrap="square" lIns="381" tIns="381" rIns="381" bIns="381" rtlCol="0" anchor="ctr">
            <a:normAutofit/>
          </a:bodyPr>
          <a:lstStyle/>
          <a:p>
            <a:pPr marL="0" indent="0" algn="r">
              <a:buNone/>
            </a:pPr>
            <a:r>
              <a:rPr lang="en-US" sz="750" dirty="0">
                <a:solidFill>
                  <a:srgbClr val="66717A"/>
                </a:solidFill>
                <a:latin typeface="Inter" pitchFamily="34" charset="0"/>
                <a:ea typeface="Aptos" pitchFamily="34" charset="-122"/>
                <a:cs typeface="Aptos" pitchFamily="34" charset="-120"/>
              </a:rPr>
              <a:t>30</a:t>
            </a:r>
            <a:endParaRPr lang="en-US" sz="750" dirty="0"/>
          </a:p>
        </p:txBody>
      </p:sp>
      <p:sp>
        <p:nvSpPr>
          <p:cNvPr id="6" name="Text 4"/>
          <p:cNvSpPr/>
          <p:nvPr/>
        </p:nvSpPr>
        <p:spPr>
          <a:xfrm>
            <a:off x="658368" y="804672"/>
            <a:ext cx="4114800" cy="228600"/>
          </a:xfrm>
          <a:prstGeom prst="rect">
            <a:avLst/>
          </a:prstGeom>
          <a:noFill/>
          <a:ln/>
        </p:spPr>
        <p:txBody>
          <a:bodyPr wrap="square" lIns="381" tIns="381" rIns="381" bIns="381" rtlCol="0" anchor="ctr">
            <a:normAutofit/>
          </a:bodyPr>
          <a:lstStyle/>
          <a:p>
            <a:pPr marL="0" indent="0" algn="l">
              <a:buNone/>
            </a:pPr>
            <a:r>
              <a:rPr lang="en-US" sz="800" b="1" dirty="0">
                <a:solidFill>
                  <a:srgbClr val="D4A83F"/>
                </a:solidFill>
                <a:latin typeface="Inter" pitchFamily="34" charset="0"/>
                <a:ea typeface="Aptos" pitchFamily="34" charset="-122"/>
                <a:cs typeface="Aptos" pitchFamily="34" charset="-120"/>
              </a:rPr>
              <a:t>BRAND GOVERNANCE</a:t>
            </a:r>
            <a:endParaRPr lang="en-US" sz="800" dirty="0"/>
          </a:p>
        </p:txBody>
      </p:sp>
      <p:sp>
        <p:nvSpPr>
          <p:cNvPr id="7" name="Text 5"/>
          <p:cNvSpPr/>
          <p:nvPr/>
        </p:nvSpPr>
        <p:spPr>
          <a:xfrm>
            <a:off x="658368" y="1078992"/>
            <a:ext cx="7955280" cy="594360"/>
          </a:xfrm>
          <a:prstGeom prst="rect">
            <a:avLst/>
          </a:prstGeom>
          <a:noFill/>
          <a:ln/>
        </p:spPr>
        <p:txBody>
          <a:bodyPr wrap="square" lIns="381" tIns="381" rIns="381" bIns="381" rtlCol="0" anchor="ctr">
            <a:normAutofit/>
          </a:bodyPr>
          <a:lstStyle/>
          <a:p>
            <a:pPr marL="0" indent="0" algn="l">
              <a:buNone/>
            </a:pPr>
            <a:r>
              <a:rPr lang="en-US" sz="2300" b="1" dirty="0">
                <a:solidFill>
                  <a:srgbClr val="071521"/>
                </a:solidFill>
                <a:latin typeface="SVN-Georgia" pitchFamily="34" charset="0"/>
                <a:ea typeface="Aptos Display" pitchFamily="34" charset="-122"/>
                <a:cs typeface="Aptos Display" pitchFamily="34" charset="-120"/>
              </a:rPr>
              <a:t>Checklist duyệt trước khi xuất bản</a:t>
            </a:r>
            <a:endParaRPr lang="en-US" sz="2300" dirty="0"/>
          </a:p>
        </p:txBody>
      </p:sp>
      <p:sp>
        <p:nvSpPr>
          <p:cNvPr id="8" name="Text 6"/>
          <p:cNvSpPr/>
          <p:nvPr/>
        </p:nvSpPr>
        <p:spPr>
          <a:xfrm>
            <a:off x="868680" y="1828800"/>
            <a:ext cx="256032" cy="219456"/>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a:t>
            </a:r>
            <a:endParaRPr lang="en-US" sz="1100" dirty="0"/>
          </a:p>
        </p:txBody>
      </p:sp>
      <p:sp>
        <p:nvSpPr>
          <p:cNvPr id="9" name="Text 7"/>
          <p:cNvSpPr/>
          <p:nvPr/>
        </p:nvSpPr>
        <p:spPr>
          <a:xfrm>
            <a:off x="1234440" y="1828800"/>
            <a:ext cx="1371600" cy="219456"/>
          </a:xfrm>
          <a:prstGeom prst="rect">
            <a:avLst/>
          </a:prstGeom>
          <a:noFill/>
          <a:ln/>
        </p:spPr>
        <p:txBody>
          <a:bodyPr wrap="square" lIns="381" tIns="381" rIns="381" bIns="381" rtlCol="0" anchor="ctr">
            <a:normAutofit/>
          </a:bodyPr>
          <a:lstStyle/>
          <a:p>
            <a:pPr marL="0" indent="0" algn="l">
              <a:buNone/>
            </a:pPr>
            <a:r>
              <a:rPr lang="en-US" sz="1080" b="1" dirty="0">
                <a:solidFill>
                  <a:srgbClr val="071521"/>
                </a:solidFill>
                <a:latin typeface="Inter" pitchFamily="34" charset="0"/>
                <a:ea typeface="Aptos" pitchFamily="34" charset="-122"/>
                <a:cs typeface="Aptos" pitchFamily="34" charset="-120"/>
              </a:rPr>
              <a:t>Brand</a:t>
            </a:r>
            <a:endParaRPr lang="en-US" sz="1080" dirty="0"/>
          </a:p>
        </p:txBody>
      </p:sp>
      <p:sp>
        <p:nvSpPr>
          <p:cNvPr id="10" name="Text 8"/>
          <p:cNvSpPr/>
          <p:nvPr/>
        </p:nvSpPr>
        <p:spPr>
          <a:xfrm>
            <a:off x="2606040" y="1828800"/>
            <a:ext cx="8046720" cy="237744"/>
          </a:xfrm>
          <a:prstGeom prst="rect">
            <a:avLst/>
          </a:prstGeom>
          <a:noFill/>
          <a:ln/>
        </p:spPr>
        <p:txBody>
          <a:bodyPr wrap="square" lIns="381" tIns="381" rIns="381" bIns="381" rtlCol="0" anchor="ctr">
            <a:normAutofit/>
          </a:bodyPr>
          <a:lstStyle/>
          <a:p>
            <a:pPr marL="0" indent="0" algn="l">
              <a:buNone/>
            </a:pPr>
            <a:r>
              <a:rPr lang="en-US" sz="950" dirty="0">
                <a:solidFill>
                  <a:srgbClr val="070707"/>
                </a:solidFill>
                <a:latin typeface="Inter" pitchFamily="34" charset="0"/>
                <a:ea typeface="Aptos" pitchFamily="34" charset="-122"/>
                <a:cs typeface="Aptos" pitchFamily="34" charset="-120"/>
              </a:rPr>
              <a:t>Đúng định </a:t>
            </a:r>
            <a:r>
              <a:rPr lang="en-US" sz="950" dirty="0" err="1">
                <a:solidFill>
                  <a:srgbClr val="070707"/>
                </a:solidFill>
                <a:latin typeface="Inter" pitchFamily="34" charset="0"/>
                <a:ea typeface="Aptos" pitchFamily="34" charset="-122"/>
                <a:cs typeface="Aptos" pitchFamily="34" charset="-120"/>
              </a:rPr>
              <a:t>vị</a:t>
            </a:r>
            <a:r>
              <a:rPr lang="en-US" sz="950" dirty="0">
                <a:solidFill>
                  <a:srgbClr val="070707"/>
                </a:solidFill>
                <a:latin typeface="Inter" pitchFamily="34" charset="0"/>
                <a:ea typeface="Aptos" pitchFamily="34" charset="-122"/>
                <a:cs typeface="Aptos" pitchFamily="34" charset="-120"/>
              </a:rPr>
              <a:t> </a:t>
            </a:r>
            <a:r>
              <a:rPr lang="en-US" sz="950" dirty="0" smtClean="0">
                <a:solidFill>
                  <a:srgbClr val="070707"/>
                </a:solidFill>
                <a:latin typeface="Inter" pitchFamily="34" charset="0"/>
                <a:ea typeface="Aptos" pitchFamily="34" charset="-122"/>
                <a:cs typeface="Aptos" pitchFamily="34" charset="-120"/>
              </a:rPr>
              <a:t>Sage/ Advisor; </a:t>
            </a:r>
            <a:r>
              <a:rPr lang="en-US" sz="950" dirty="0">
                <a:solidFill>
                  <a:srgbClr val="070707"/>
                </a:solidFill>
                <a:latin typeface="Inter" pitchFamily="34" charset="0"/>
                <a:ea typeface="Aptos" pitchFamily="34" charset="-122"/>
                <a:cs typeface="Aptos" pitchFamily="34" charset="-120"/>
              </a:rPr>
              <a:t>không khoe giàu, không FOMO.</a:t>
            </a:r>
            <a:endParaRPr lang="en-US" sz="950" dirty="0"/>
          </a:p>
        </p:txBody>
      </p:sp>
      <p:sp>
        <p:nvSpPr>
          <p:cNvPr id="11" name="Text 9"/>
          <p:cNvSpPr/>
          <p:nvPr/>
        </p:nvSpPr>
        <p:spPr>
          <a:xfrm>
            <a:off x="868680" y="2450592"/>
            <a:ext cx="256032" cy="219456"/>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a:t>
            </a:r>
            <a:endParaRPr lang="en-US" sz="1100" dirty="0"/>
          </a:p>
        </p:txBody>
      </p:sp>
      <p:sp>
        <p:nvSpPr>
          <p:cNvPr id="12" name="Text 10"/>
          <p:cNvSpPr/>
          <p:nvPr/>
        </p:nvSpPr>
        <p:spPr>
          <a:xfrm>
            <a:off x="1234440" y="2450592"/>
            <a:ext cx="1371600" cy="219456"/>
          </a:xfrm>
          <a:prstGeom prst="rect">
            <a:avLst/>
          </a:prstGeom>
          <a:noFill/>
          <a:ln/>
        </p:spPr>
        <p:txBody>
          <a:bodyPr wrap="square" lIns="381" tIns="381" rIns="381" bIns="381" rtlCol="0" anchor="ctr">
            <a:normAutofit/>
          </a:bodyPr>
          <a:lstStyle/>
          <a:p>
            <a:pPr marL="0" indent="0" algn="l">
              <a:buNone/>
            </a:pPr>
            <a:r>
              <a:rPr lang="en-US" sz="1080" b="1" dirty="0">
                <a:solidFill>
                  <a:srgbClr val="071521"/>
                </a:solidFill>
                <a:latin typeface="Inter" pitchFamily="34" charset="0"/>
                <a:ea typeface="Aptos" pitchFamily="34" charset="-122"/>
                <a:cs typeface="Aptos" pitchFamily="34" charset="-120"/>
              </a:rPr>
              <a:t>Visual</a:t>
            </a:r>
            <a:endParaRPr lang="en-US" sz="1080" dirty="0"/>
          </a:p>
        </p:txBody>
      </p:sp>
      <p:sp>
        <p:nvSpPr>
          <p:cNvPr id="13" name="Text 11"/>
          <p:cNvSpPr/>
          <p:nvPr/>
        </p:nvSpPr>
        <p:spPr>
          <a:xfrm>
            <a:off x="2606040" y="2450592"/>
            <a:ext cx="8046720" cy="237744"/>
          </a:xfrm>
          <a:prstGeom prst="rect">
            <a:avLst/>
          </a:prstGeom>
          <a:noFill/>
          <a:ln/>
        </p:spPr>
        <p:txBody>
          <a:bodyPr wrap="square" lIns="381" tIns="381" rIns="381" bIns="381" rtlCol="0" anchor="ctr">
            <a:normAutofit/>
          </a:bodyPr>
          <a:lstStyle/>
          <a:p>
            <a:pPr marL="0" indent="0" algn="l">
              <a:buNone/>
            </a:pPr>
            <a:r>
              <a:rPr lang="en-US" sz="950" dirty="0">
                <a:solidFill>
                  <a:srgbClr val="070707"/>
                </a:solidFill>
                <a:latin typeface="Inter" pitchFamily="34" charset="0"/>
                <a:ea typeface="Aptos" pitchFamily="34" charset="-122"/>
                <a:cs typeface="Aptos" pitchFamily="34" charset="-120"/>
              </a:rPr>
              <a:t>Đúng logo, màu, font, khoảng cách an toàn, tương phản tốt.</a:t>
            </a:r>
            <a:endParaRPr lang="en-US" sz="950" dirty="0"/>
          </a:p>
        </p:txBody>
      </p:sp>
      <p:sp>
        <p:nvSpPr>
          <p:cNvPr id="14" name="Text 12"/>
          <p:cNvSpPr/>
          <p:nvPr/>
        </p:nvSpPr>
        <p:spPr>
          <a:xfrm>
            <a:off x="868680" y="3072384"/>
            <a:ext cx="256032" cy="219456"/>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a:t>
            </a:r>
            <a:endParaRPr lang="en-US" sz="1100" dirty="0"/>
          </a:p>
        </p:txBody>
      </p:sp>
      <p:sp>
        <p:nvSpPr>
          <p:cNvPr id="15" name="Text 13"/>
          <p:cNvSpPr/>
          <p:nvPr/>
        </p:nvSpPr>
        <p:spPr>
          <a:xfrm>
            <a:off x="1234440" y="3072384"/>
            <a:ext cx="1371600" cy="219456"/>
          </a:xfrm>
          <a:prstGeom prst="rect">
            <a:avLst/>
          </a:prstGeom>
          <a:noFill/>
          <a:ln/>
        </p:spPr>
        <p:txBody>
          <a:bodyPr wrap="square" lIns="381" tIns="381" rIns="381" bIns="381" rtlCol="0" anchor="ctr">
            <a:normAutofit/>
          </a:bodyPr>
          <a:lstStyle/>
          <a:p>
            <a:pPr marL="0" indent="0" algn="l">
              <a:buNone/>
            </a:pPr>
            <a:r>
              <a:rPr lang="en-US" sz="1080" b="1" dirty="0">
                <a:solidFill>
                  <a:srgbClr val="071521"/>
                </a:solidFill>
                <a:latin typeface="Inter" pitchFamily="34" charset="0"/>
                <a:ea typeface="Aptos" pitchFamily="34" charset="-122"/>
                <a:cs typeface="Aptos" pitchFamily="34" charset="-120"/>
              </a:rPr>
              <a:t>Content</a:t>
            </a:r>
            <a:endParaRPr lang="en-US" sz="1080" dirty="0"/>
          </a:p>
        </p:txBody>
      </p:sp>
      <p:sp>
        <p:nvSpPr>
          <p:cNvPr id="16" name="Text 14"/>
          <p:cNvSpPr/>
          <p:nvPr/>
        </p:nvSpPr>
        <p:spPr>
          <a:xfrm>
            <a:off x="2606040" y="3072384"/>
            <a:ext cx="8046720" cy="237744"/>
          </a:xfrm>
          <a:prstGeom prst="rect">
            <a:avLst/>
          </a:prstGeom>
          <a:noFill/>
          <a:ln/>
        </p:spPr>
        <p:txBody>
          <a:bodyPr wrap="square" lIns="381" tIns="381" rIns="381" bIns="381" rtlCol="0" anchor="ctr">
            <a:normAutofit/>
          </a:bodyPr>
          <a:lstStyle/>
          <a:p>
            <a:pPr marL="0" indent="0" algn="l">
              <a:buNone/>
            </a:pPr>
            <a:r>
              <a:rPr lang="en-US" sz="950" dirty="0">
                <a:solidFill>
                  <a:srgbClr val="070707"/>
                </a:solidFill>
                <a:latin typeface="Inter" pitchFamily="34" charset="0"/>
                <a:ea typeface="Aptos" pitchFamily="34" charset="-122"/>
                <a:cs typeface="Aptos" pitchFamily="34" charset="-120"/>
              </a:rPr>
              <a:t>Một thông điệp chính, có bằng chứng, ví dụ và CTA rõ.</a:t>
            </a:r>
            <a:endParaRPr lang="en-US" sz="950" dirty="0"/>
          </a:p>
        </p:txBody>
      </p:sp>
      <p:sp>
        <p:nvSpPr>
          <p:cNvPr id="17" name="Text 15"/>
          <p:cNvSpPr/>
          <p:nvPr/>
        </p:nvSpPr>
        <p:spPr>
          <a:xfrm>
            <a:off x="868680" y="3694176"/>
            <a:ext cx="256032" cy="219456"/>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a:t>
            </a:r>
            <a:endParaRPr lang="en-US" sz="1100" dirty="0"/>
          </a:p>
        </p:txBody>
      </p:sp>
      <p:sp>
        <p:nvSpPr>
          <p:cNvPr id="18" name="Text 16"/>
          <p:cNvSpPr/>
          <p:nvPr/>
        </p:nvSpPr>
        <p:spPr>
          <a:xfrm>
            <a:off x="1234440" y="3694176"/>
            <a:ext cx="1371600" cy="219456"/>
          </a:xfrm>
          <a:prstGeom prst="rect">
            <a:avLst/>
          </a:prstGeom>
          <a:noFill/>
          <a:ln/>
        </p:spPr>
        <p:txBody>
          <a:bodyPr wrap="square" lIns="381" tIns="381" rIns="381" bIns="381" rtlCol="0" anchor="ctr">
            <a:normAutofit/>
          </a:bodyPr>
          <a:lstStyle/>
          <a:p>
            <a:pPr marL="0" indent="0" algn="l">
              <a:buNone/>
            </a:pPr>
            <a:r>
              <a:rPr lang="en-US" sz="1080" b="1" dirty="0">
                <a:solidFill>
                  <a:srgbClr val="071521"/>
                </a:solidFill>
                <a:latin typeface="Inter" pitchFamily="34" charset="0"/>
                <a:ea typeface="Aptos" pitchFamily="34" charset="-122"/>
                <a:cs typeface="Aptos" pitchFamily="34" charset="-120"/>
              </a:rPr>
              <a:t>Compliance</a:t>
            </a:r>
            <a:endParaRPr lang="en-US" sz="1080" dirty="0"/>
          </a:p>
        </p:txBody>
      </p:sp>
      <p:sp>
        <p:nvSpPr>
          <p:cNvPr id="19" name="Text 17"/>
          <p:cNvSpPr/>
          <p:nvPr/>
        </p:nvSpPr>
        <p:spPr>
          <a:xfrm>
            <a:off x="2606040" y="3694176"/>
            <a:ext cx="8046720" cy="237744"/>
          </a:xfrm>
          <a:prstGeom prst="rect">
            <a:avLst/>
          </a:prstGeom>
          <a:noFill/>
          <a:ln/>
        </p:spPr>
        <p:txBody>
          <a:bodyPr wrap="square" lIns="381" tIns="381" rIns="381" bIns="381" rtlCol="0" anchor="ctr">
            <a:normAutofit/>
          </a:bodyPr>
          <a:lstStyle/>
          <a:p>
            <a:pPr marL="0" indent="0" algn="l">
              <a:buNone/>
            </a:pPr>
            <a:r>
              <a:rPr lang="en-US" sz="950" dirty="0">
                <a:solidFill>
                  <a:srgbClr val="070707"/>
                </a:solidFill>
                <a:latin typeface="Inter" pitchFamily="34" charset="0"/>
                <a:ea typeface="Aptos" pitchFamily="34" charset="-122"/>
                <a:cs typeface="Aptos" pitchFamily="34" charset="-120"/>
              </a:rPr>
              <a:t>Không cam kết lợi nhuận; nêu điều kiện, rủi ro và phạm vi tư vấn.</a:t>
            </a:r>
            <a:endParaRPr lang="en-US" sz="950" dirty="0"/>
          </a:p>
        </p:txBody>
      </p:sp>
      <p:sp>
        <p:nvSpPr>
          <p:cNvPr id="20" name="Text 18"/>
          <p:cNvSpPr/>
          <p:nvPr/>
        </p:nvSpPr>
        <p:spPr>
          <a:xfrm>
            <a:off x="868680" y="4315968"/>
            <a:ext cx="256032" cy="219456"/>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a:t>
            </a:r>
            <a:endParaRPr lang="en-US" sz="1100" dirty="0"/>
          </a:p>
        </p:txBody>
      </p:sp>
      <p:sp>
        <p:nvSpPr>
          <p:cNvPr id="21" name="Text 19"/>
          <p:cNvSpPr/>
          <p:nvPr/>
        </p:nvSpPr>
        <p:spPr>
          <a:xfrm>
            <a:off x="1234440" y="4315968"/>
            <a:ext cx="1371600" cy="219456"/>
          </a:xfrm>
          <a:prstGeom prst="rect">
            <a:avLst/>
          </a:prstGeom>
          <a:noFill/>
          <a:ln/>
        </p:spPr>
        <p:txBody>
          <a:bodyPr wrap="square" lIns="381" tIns="381" rIns="381" bIns="381" rtlCol="0" anchor="ctr">
            <a:normAutofit/>
          </a:bodyPr>
          <a:lstStyle/>
          <a:p>
            <a:pPr marL="0" indent="0" algn="l">
              <a:buNone/>
            </a:pPr>
            <a:r>
              <a:rPr lang="en-US" sz="1080" b="1" dirty="0">
                <a:solidFill>
                  <a:srgbClr val="071521"/>
                </a:solidFill>
                <a:latin typeface="Inter" pitchFamily="34" charset="0"/>
                <a:ea typeface="Aptos" pitchFamily="34" charset="-122"/>
                <a:cs typeface="Aptos" pitchFamily="34" charset="-120"/>
              </a:rPr>
              <a:t>Conversion</a:t>
            </a:r>
            <a:endParaRPr lang="en-US" sz="1080" dirty="0"/>
          </a:p>
        </p:txBody>
      </p:sp>
      <p:sp>
        <p:nvSpPr>
          <p:cNvPr id="22" name="Text 20"/>
          <p:cNvSpPr/>
          <p:nvPr/>
        </p:nvSpPr>
        <p:spPr>
          <a:xfrm>
            <a:off x="2606040" y="4315968"/>
            <a:ext cx="8046720" cy="237744"/>
          </a:xfrm>
          <a:prstGeom prst="rect">
            <a:avLst/>
          </a:prstGeom>
          <a:noFill/>
          <a:ln/>
        </p:spPr>
        <p:txBody>
          <a:bodyPr wrap="square" lIns="381" tIns="381" rIns="381" bIns="381" rtlCol="0" anchor="ctr">
            <a:normAutofit/>
          </a:bodyPr>
          <a:lstStyle/>
          <a:p>
            <a:pPr marL="0" indent="0" algn="l">
              <a:buNone/>
            </a:pPr>
            <a:r>
              <a:rPr lang="en-US" sz="950" dirty="0">
                <a:solidFill>
                  <a:srgbClr val="070707"/>
                </a:solidFill>
                <a:latin typeface="Inter" pitchFamily="34" charset="0"/>
                <a:ea typeface="Aptos" pitchFamily="34" charset="-122"/>
                <a:cs typeface="Aptos" pitchFamily="34" charset="-120"/>
              </a:rPr>
              <a:t>Có đường dẫn, form, QR hoặc bước hành động tiếp theo.</a:t>
            </a:r>
            <a:endParaRPr lang="en-US" sz="950" dirty="0"/>
          </a:p>
        </p:txBody>
      </p:sp>
      <p:sp>
        <p:nvSpPr>
          <p:cNvPr id="23" name="Text 21"/>
          <p:cNvSpPr/>
          <p:nvPr/>
        </p:nvSpPr>
        <p:spPr>
          <a:xfrm>
            <a:off x="868680" y="4937760"/>
            <a:ext cx="256032" cy="219456"/>
          </a:xfrm>
          <a:prstGeom prst="rect">
            <a:avLst/>
          </a:prstGeom>
          <a:noFill/>
          <a:ln/>
        </p:spPr>
        <p:txBody>
          <a:bodyPr wrap="square" lIns="381" tIns="381" rIns="381" bIns="381" rtlCol="0" anchor="ctr">
            <a:normAutofit/>
          </a:bodyPr>
          <a:lstStyle/>
          <a:p>
            <a:pPr marL="0" indent="0" algn="l">
              <a:buNone/>
            </a:pPr>
            <a:r>
              <a:rPr lang="en-US" sz="1100" b="1" dirty="0">
                <a:solidFill>
                  <a:srgbClr val="D4A83F"/>
                </a:solidFill>
                <a:latin typeface="Inter" pitchFamily="34" charset="0"/>
                <a:ea typeface="Aptos" pitchFamily="34" charset="-122"/>
                <a:cs typeface="Aptos" pitchFamily="34" charset="-120"/>
              </a:rPr>
              <a:t>☑</a:t>
            </a:r>
            <a:endParaRPr lang="en-US" sz="1100" dirty="0"/>
          </a:p>
        </p:txBody>
      </p:sp>
      <p:sp>
        <p:nvSpPr>
          <p:cNvPr id="24" name="Text 22"/>
          <p:cNvSpPr/>
          <p:nvPr/>
        </p:nvSpPr>
        <p:spPr>
          <a:xfrm>
            <a:off x="1234440" y="4937760"/>
            <a:ext cx="1371600" cy="219456"/>
          </a:xfrm>
          <a:prstGeom prst="rect">
            <a:avLst/>
          </a:prstGeom>
          <a:noFill/>
          <a:ln/>
        </p:spPr>
        <p:txBody>
          <a:bodyPr wrap="square" lIns="381" tIns="381" rIns="381" bIns="381" rtlCol="0" anchor="ctr">
            <a:normAutofit/>
          </a:bodyPr>
          <a:lstStyle/>
          <a:p>
            <a:pPr marL="0" indent="0" algn="l">
              <a:buNone/>
            </a:pPr>
            <a:r>
              <a:rPr lang="en-US" sz="1080" b="1" dirty="0">
                <a:solidFill>
                  <a:srgbClr val="071521"/>
                </a:solidFill>
                <a:latin typeface="Inter" pitchFamily="34" charset="0"/>
                <a:ea typeface="Aptos" pitchFamily="34" charset="-122"/>
                <a:cs typeface="Aptos" pitchFamily="34" charset="-120"/>
              </a:rPr>
              <a:t>Archive</a:t>
            </a:r>
            <a:endParaRPr lang="en-US" sz="1080" dirty="0"/>
          </a:p>
        </p:txBody>
      </p:sp>
      <p:sp>
        <p:nvSpPr>
          <p:cNvPr id="25" name="Text 23"/>
          <p:cNvSpPr/>
          <p:nvPr/>
        </p:nvSpPr>
        <p:spPr>
          <a:xfrm>
            <a:off x="2606040" y="4937760"/>
            <a:ext cx="8046720" cy="237744"/>
          </a:xfrm>
          <a:prstGeom prst="rect">
            <a:avLst/>
          </a:prstGeom>
          <a:noFill/>
          <a:ln/>
        </p:spPr>
        <p:txBody>
          <a:bodyPr wrap="square" lIns="381" tIns="381" rIns="381" bIns="381" rtlCol="0" anchor="ctr">
            <a:normAutofit/>
          </a:bodyPr>
          <a:lstStyle/>
          <a:p>
            <a:pPr marL="0" indent="0" algn="l">
              <a:buNone/>
            </a:pPr>
            <a:r>
              <a:rPr lang="en-US" sz="950" dirty="0">
                <a:solidFill>
                  <a:srgbClr val="070707"/>
                </a:solidFill>
                <a:latin typeface="Inter" pitchFamily="34" charset="0"/>
                <a:ea typeface="Aptos" pitchFamily="34" charset="-122"/>
                <a:cs typeface="Aptos" pitchFamily="34" charset="-120"/>
              </a:rPr>
              <a:t>Lưu file nguồn, phiên bản, người duyệt và ngày phát hành.</a:t>
            </a:r>
            <a:endParaRPr lang="en-US" sz="950" dirty="0"/>
          </a:p>
        </p:txBody>
      </p:sp>
      <p:sp>
        <p:nvSpPr>
          <p:cNvPr id="26" name="Text 24"/>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66717A"/>
                </a:solidFill>
                <a:latin typeface="Inter" pitchFamily="34" charset="0"/>
                <a:ea typeface="Aptos" pitchFamily="34" charset="-122"/>
                <a:cs typeface="Aptos" pitchFamily="34" charset="-120"/>
              </a:rPr>
              <a:t>www.moneyfest.vn  •  admin.moneyfestvn@gmail.com</a:t>
            </a:r>
            <a:endParaRPr lang="en-US" sz="660" dirty="0"/>
          </a:p>
        </p:txBody>
      </p:sp>
      <p:sp>
        <p:nvSpPr>
          <p:cNvPr id="27" name="Text 25"/>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66717A"/>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707"/>
          </a:solidFill>
          <a:ln w="12700">
            <a:solidFill>
              <a:srgbClr val="070707">
                <a:alpha val="0"/>
              </a:srgbClr>
            </a:solidFill>
            <a:prstDash val="solid"/>
          </a:ln>
        </p:spPr>
        <p:txBody>
          <a:bodyPr/>
          <a:lstStyle/>
          <a:p>
            <a:endParaRPr/>
          </a:p>
        </p:txBody>
      </p:sp>
      <p:sp>
        <p:nvSpPr>
          <p:cNvPr id="4" name="Text 1"/>
          <p:cNvSpPr/>
          <p:nvPr/>
        </p:nvSpPr>
        <p:spPr>
          <a:xfrm>
            <a:off x="1828800" y="4160520"/>
            <a:ext cx="8503920" cy="411480"/>
          </a:xfrm>
          <a:prstGeom prst="rect">
            <a:avLst/>
          </a:prstGeom>
          <a:noFill/>
          <a:ln/>
        </p:spPr>
        <p:txBody>
          <a:bodyPr wrap="square" lIns="381" tIns="381" rIns="381" bIns="381" rtlCol="0" anchor="ctr">
            <a:normAutofit/>
          </a:bodyPr>
          <a:lstStyle/>
          <a:p>
            <a:pPr marL="0" indent="0" algn="ctr">
              <a:buNone/>
            </a:pPr>
            <a:r>
              <a:rPr lang="en-US" sz="2000" b="1" dirty="0">
                <a:solidFill>
                  <a:srgbClr val="D4A83F"/>
                </a:solidFill>
                <a:latin typeface="SVN-Georgia" pitchFamily="34" charset="0"/>
                <a:ea typeface="SVN-Georgia" pitchFamily="34" charset="-122"/>
                <a:cs typeface="SVN-Georgia" pitchFamily="34" charset="-120"/>
              </a:rPr>
              <a:t>HIỂU THẤU LUẬT CHƠI – LÀM CHỦ CUỘC ĐỜI</a:t>
            </a:r>
            <a:endParaRPr lang="en-US" sz="2000" dirty="0"/>
          </a:p>
        </p:txBody>
      </p:sp>
      <p:sp>
        <p:nvSpPr>
          <p:cNvPr id="5" name="Text 2"/>
          <p:cNvSpPr/>
          <p:nvPr/>
        </p:nvSpPr>
        <p:spPr>
          <a:xfrm>
            <a:off x="2286000" y="4800600"/>
            <a:ext cx="7680960" cy="502920"/>
          </a:xfrm>
          <a:prstGeom prst="rect">
            <a:avLst/>
          </a:prstGeom>
          <a:noFill/>
          <a:ln/>
        </p:spPr>
        <p:txBody>
          <a:bodyPr wrap="square" lIns="381" tIns="381" rIns="381" bIns="381" rtlCol="0" anchor="ctr">
            <a:normAutofit/>
          </a:bodyPr>
          <a:lstStyle/>
          <a:p>
            <a:pPr marL="0" indent="0" algn="ctr">
              <a:buNone/>
            </a:pPr>
            <a:r>
              <a:rPr lang="en-US" sz="1300" dirty="0">
                <a:solidFill>
                  <a:srgbClr val="F4F0E8"/>
                </a:solidFill>
                <a:latin typeface="Inter" pitchFamily="34" charset="0"/>
                <a:ea typeface="Aptos" pitchFamily="34" charset="-122"/>
                <a:cs typeface="Aptos" pitchFamily="34" charset="-120"/>
              </a:rPr>
              <a:t>Moneyfest không giúp khách hàng mua nhanh hơn. </a:t>
            </a:r>
            <a:endParaRPr lang="en-US" sz="1300" dirty="0" smtClean="0">
              <a:solidFill>
                <a:srgbClr val="F4F0E8"/>
              </a:solidFill>
              <a:latin typeface="Inter" pitchFamily="34" charset="0"/>
              <a:ea typeface="Aptos" pitchFamily="34" charset="-122"/>
              <a:cs typeface="Aptos" pitchFamily="34" charset="-120"/>
            </a:endParaRPr>
          </a:p>
          <a:p>
            <a:pPr marL="0" indent="0" algn="ctr">
              <a:buNone/>
            </a:pPr>
            <a:r>
              <a:rPr lang="en-US" sz="1300" dirty="0" err="1" smtClean="0">
                <a:solidFill>
                  <a:srgbClr val="F4F0E8"/>
                </a:solidFill>
                <a:latin typeface="Inter" pitchFamily="34" charset="0"/>
                <a:ea typeface="Aptos" pitchFamily="34" charset="-122"/>
                <a:cs typeface="Aptos" pitchFamily="34" charset="-120"/>
              </a:rPr>
              <a:t>Moneyfest</a:t>
            </a:r>
            <a:r>
              <a:rPr lang="en-US" sz="1300" dirty="0" smtClean="0">
                <a:solidFill>
                  <a:srgbClr val="F4F0E8"/>
                </a:solidFill>
                <a:latin typeface="Inter" pitchFamily="34" charset="0"/>
                <a:ea typeface="Aptos" pitchFamily="34" charset="-122"/>
                <a:cs typeface="Aptos" pitchFamily="34" charset="-120"/>
              </a:rPr>
              <a:t> </a:t>
            </a:r>
            <a:r>
              <a:rPr lang="en-US" sz="1300" dirty="0">
                <a:solidFill>
                  <a:srgbClr val="F4F0E8"/>
                </a:solidFill>
                <a:latin typeface="Inter" pitchFamily="34" charset="0"/>
                <a:ea typeface="Aptos" pitchFamily="34" charset="-122"/>
                <a:cs typeface="Aptos" pitchFamily="34" charset="-120"/>
              </a:rPr>
              <a:t>giúp khách hàng hiểu rõ hơn trước khi ra quyết định.</a:t>
            </a:r>
            <a:endParaRPr lang="en-US" sz="1300" dirty="0"/>
          </a:p>
        </p:txBody>
      </p:sp>
      <p:sp>
        <p:nvSpPr>
          <p:cNvPr id="6" name="Text 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7" name="Text 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pic>
        <p:nvPicPr>
          <p:cNvPr id="8" name="Picture 7" descr="moneyfest_logo_gold_transparent.png"/>
          <p:cNvPicPr>
            <a:picLocks noChangeAspect="1"/>
          </p:cNvPicPr>
          <p:nvPr/>
        </p:nvPicPr>
        <p:blipFill>
          <a:blip r:embed="rId3"/>
          <a:stretch>
            <a:fillRect/>
          </a:stretch>
        </p:blipFill>
        <p:spPr>
          <a:xfrm>
            <a:off x="4865123" y="1721331"/>
            <a:ext cx="2431274" cy="167797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70707"/>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2926080" cy="182880"/>
          </a:xfrm>
          <a:prstGeom prst="rect">
            <a:avLst/>
          </a:prstGeom>
          <a:noFill/>
        </p:spPr>
        <p:txBody>
          <a:bodyPr wrap="square" lIns="27432" tIns="18288" rIns="27432" bIns="18288" anchor="t">
            <a:spAutoFit/>
          </a:bodyPr>
          <a:lstStyle/>
          <a:p>
            <a:pPr algn="l"/>
            <a:r>
              <a:rPr sz="750" b="1">
                <a:solidFill>
                  <a:srgbClr val="E8CF8B"/>
                </a:solidFill>
                <a:latin typeface="Inter"/>
              </a:rPr>
              <a:t>MONEYFEST BRAND MANUAL</a:t>
            </a:r>
          </a:p>
        </p:txBody>
      </p:sp>
      <p:sp>
        <p:nvSpPr>
          <p:cNvPr id="3" name="TextBox 2"/>
          <p:cNvSpPr txBox="1"/>
          <p:nvPr/>
        </p:nvSpPr>
        <p:spPr>
          <a:xfrm>
            <a:off x="411480" y="438912"/>
            <a:ext cx="2011680" cy="228600"/>
          </a:xfrm>
          <a:prstGeom prst="rect">
            <a:avLst/>
          </a:prstGeom>
          <a:noFill/>
        </p:spPr>
        <p:txBody>
          <a:bodyPr wrap="square" lIns="27432" tIns="18288" rIns="27432" bIns="18288" anchor="t">
            <a:spAutoFit/>
          </a:bodyPr>
          <a:lstStyle/>
          <a:p>
            <a:pPr algn="l"/>
            <a:r>
              <a:rPr sz="800" b="0" dirty="0">
                <a:solidFill>
                  <a:srgbClr val="66717A"/>
                </a:solidFill>
                <a:latin typeface="Inter"/>
              </a:rPr>
              <a:t>06 Logo System</a:t>
            </a:r>
          </a:p>
        </p:txBody>
      </p:sp>
      <p:sp>
        <p:nvSpPr>
          <p:cNvPr id="5" name="TextBox 4"/>
          <p:cNvSpPr txBox="1"/>
          <p:nvPr/>
        </p:nvSpPr>
        <p:spPr>
          <a:xfrm>
            <a:off x="658368" y="822960"/>
            <a:ext cx="4389120" cy="457200"/>
          </a:xfrm>
          <a:prstGeom prst="rect">
            <a:avLst/>
          </a:prstGeom>
          <a:noFill/>
        </p:spPr>
        <p:txBody>
          <a:bodyPr wrap="square" lIns="27432" tIns="18288" rIns="27432" bIns="18288" anchor="t">
            <a:spAutoFit/>
          </a:bodyPr>
          <a:lstStyle/>
          <a:p>
            <a:pPr algn="l"/>
            <a:r>
              <a:rPr sz="2200" b="0" dirty="0">
                <a:solidFill>
                  <a:srgbClr val="D4A83F"/>
                </a:solidFill>
                <a:latin typeface="SVN-Georgia"/>
              </a:rPr>
              <a:t>LOGO STORY</a:t>
            </a:r>
          </a:p>
        </p:txBody>
      </p:sp>
      <p:sp>
        <p:nvSpPr>
          <p:cNvPr id="6" name="TextBox 5"/>
          <p:cNvSpPr txBox="1"/>
          <p:nvPr/>
        </p:nvSpPr>
        <p:spPr>
          <a:xfrm>
            <a:off x="658368" y="1261872"/>
            <a:ext cx="6035040" cy="365760"/>
          </a:xfrm>
          <a:prstGeom prst="rect">
            <a:avLst/>
          </a:prstGeom>
          <a:noFill/>
        </p:spPr>
        <p:txBody>
          <a:bodyPr wrap="square" lIns="27432" tIns="18288" rIns="27432" bIns="18288" anchor="t">
            <a:spAutoFit/>
          </a:bodyPr>
          <a:lstStyle/>
          <a:p>
            <a:pPr algn="l"/>
            <a:r>
              <a:rPr sz="1050" b="0">
                <a:solidFill>
                  <a:srgbClr val="FFFFFF"/>
                </a:solidFill>
                <a:latin typeface="Inter"/>
              </a:rPr>
              <a:t>Câu chuyện ý tưởng biểu tượng Moneyfest mới</a:t>
            </a:r>
          </a:p>
        </p:txBody>
      </p:sp>
      <p:sp>
        <p:nvSpPr>
          <p:cNvPr id="7" name="Rectangle 6"/>
          <p:cNvSpPr/>
          <p:nvPr/>
        </p:nvSpPr>
        <p:spPr>
          <a:xfrm>
            <a:off x="658368" y="1664208"/>
            <a:ext cx="1143000" cy="22860"/>
          </a:xfrm>
          <a:prstGeom prst="rect">
            <a:avLst/>
          </a:prstGeom>
          <a:solidFill>
            <a:srgbClr val="D4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moneyfest_logo_gold_transparent.png"/>
          <p:cNvPicPr>
            <a:picLocks noChangeAspect="1"/>
          </p:cNvPicPr>
          <p:nvPr/>
        </p:nvPicPr>
        <p:blipFill>
          <a:blip r:embed="rId2"/>
          <a:stretch>
            <a:fillRect/>
          </a:stretch>
        </p:blipFill>
        <p:spPr>
          <a:xfrm>
            <a:off x="731520" y="2103719"/>
            <a:ext cx="3840480" cy="2650560"/>
          </a:xfrm>
          <a:prstGeom prst="rect">
            <a:avLst/>
          </a:prstGeom>
        </p:spPr>
      </p:pic>
      <p:sp>
        <p:nvSpPr>
          <p:cNvPr id="11" name="TextBox 10"/>
          <p:cNvSpPr txBox="1"/>
          <p:nvPr/>
        </p:nvSpPr>
        <p:spPr>
          <a:xfrm>
            <a:off x="4800600" y="1828800"/>
            <a:ext cx="2560320" cy="228600"/>
          </a:xfrm>
          <a:prstGeom prst="rect">
            <a:avLst/>
          </a:prstGeom>
          <a:noFill/>
        </p:spPr>
        <p:txBody>
          <a:bodyPr wrap="square" lIns="27432" tIns="18288" rIns="27432" bIns="18288" anchor="t">
            <a:spAutoFit/>
          </a:bodyPr>
          <a:lstStyle/>
          <a:p>
            <a:pPr algn="l"/>
            <a:r>
              <a:rPr sz="1200" b="0" dirty="0">
                <a:solidFill>
                  <a:srgbClr val="D4A83F"/>
                </a:solidFill>
                <a:latin typeface="SVN-Georgia" panose="02040502050405020303" pitchFamily="18" charset="0"/>
              </a:rPr>
              <a:t>MONOGRAM M</a:t>
            </a:r>
          </a:p>
        </p:txBody>
      </p:sp>
      <p:sp>
        <p:nvSpPr>
          <p:cNvPr id="12" name="TextBox 11"/>
          <p:cNvSpPr txBox="1"/>
          <p:nvPr/>
        </p:nvSpPr>
        <p:spPr>
          <a:xfrm>
            <a:off x="4800600" y="2084832"/>
            <a:ext cx="5303520" cy="502920"/>
          </a:xfrm>
          <a:prstGeom prst="rect">
            <a:avLst/>
          </a:prstGeom>
          <a:noFill/>
        </p:spPr>
        <p:txBody>
          <a:bodyPr wrap="square" lIns="27432" tIns="18288" rIns="27432" bIns="18288" anchor="t">
            <a:spAutoFit/>
          </a:bodyPr>
          <a:lstStyle/>
          <a:p>
            <a:pPr algn="l"/>
            <a:r>
              <a:rPr sz="919" b="0">
                <a:solidFill>
                  <a:srgbClr val="FFFFFF"/>
                </a:solidFill>
                <a:latin typeface="Inter"/>
              </a:rPr>
              <a:t>Chữ M là ký hiệu tối giản của Moneyfest: một cánh cổng bước vào thế giới tài chính thông minh. Hai trụ dọc gợi sự vững chắc; đường chéo ở giữa gợi hành trình ra quyết định có định hướng.</a:t>
            </a:r>
          </a:p>
        </p:txBody>
      </p:sp>
      <p:sp>
        <p:nvSpPr>
          <p:cNvPr id="13" name="TextBox 12"/>
          <p:cNvSpPr txBox="1"/>
          <p:nvPr/>
        </p:nvSpPr>
        <p:spPr>
          <a:xfrm>
            <a:off x="4800600" y="2651760"/>
            <a:ext cx="2560320" cy="228600"/>
          </a:xfrm>
          <a:prstGeom prst="rect">
            <a:avLst/>
          </a:prstGeom>
          <a:noFill/>
        </p:spPr>
        <p:txBody>
          <a:bodyPr wrap="square" lIns="27432" tIns="18288" rIns="27432" bIns="18288" anchor="t">
            <a:spAutoFit/>
          </a:bodyPr>
          <a:lstStyle/>
          <a:p>
            <a:pPr algn="l"/>
            <a:r>
              <a:rPr sz="1200" b="0">
                <a:solidFill>
                  <a:srgbClr val="D4A83F"/>
                </a:solidFill>
                <a:latin typeface="SVN-Georgia" panose="02040502050405020303" pitchFamily="18" charset="0"/>
              </a:rPr>
              <a:t>THE GUIDING STAR</a:t>
            </a:r>
          </a:p>
        </p:txBody>
      </p:sp>
      <p:sp>
        <p:nvSpPr>
          <p:cNvPr id="14" name="TextBox 13"/>
          <p:cNvSpPr txBox="1"/>
          <p:nvPr/>
        </p:nvSpPr>
        <p:spPr>
          <a:xfrm>
            <a:off x="4800600" y="2907792"/>
            <a:ext cx="5303520" cy="502920"/>
          </a:xfrm>
          <a:prstGeom prst="rect">
            <a:avLst/>
          </a:prstGeom>
          <a:noFill/>
        </p:spPr>
        <p:txBody>
          <a:bodyPr wrap="square" lIns="27432" tIns="18288" rIns="27432" bIns="18288" anchor="t">
            <a:spAutoFit/>
          </a:bodyPr>
          <a:lstStyle/>
          <a:p>
            <a:pPr algn="l"/>
            <a:r>
              <a:rPr sz="919" b="0">
                <a:solidFill>
                  <a:srgbClr val="FFFFFF"/>
                </a:solidFill>
                <a:latin typeface="Inter"/>
              </a:rPr>
              <a:t>Ngôi sao phía trên biểu tượng là điểm dẫn đường. Trong tài chính, khách hàng cần nhìn thấy hướng đi đúng trước khi chọn sản phẩm.</a:t>
            </a:r>
          </a:p>
        </p:txBody>
      </p:sp>
      <p:sp>
        <p:nvSpPr>
          <p:cNvPr id="15" name="TextBox 14"/>
          <p:cNvSpPr txBox="1"/>
          <p:nvPr/>
        </p:nvSpPr>
        <p:spPr>
          <a:xfrm>
            <a:off x="4800600" y="3474720"/>
            <a:ext cx="2560320" cy="228600"/>
          </a:xfrm>
          <a:prstGeom prst="rect">
            <a:avLst/>
          </a:prstGeom>
          <a:noFill/>
        </p:spPr>
        <p:txBody>
          <a:bodyPr wrap="square" lIns="27432" tIns="18288" rIns="27432" bIns="18288" anchor="t">
            <a:spAutoFit/>
          </a:bodyPr>
          <a:lstStyle/>
          <a:p>
            <a:pPr algn="l"/>
            <a:r>
              <a:rPr sz="1200" b="0">
                <a:solidFill>
                  <a:srgbClr val="D4A83F"/>
                </a:solidFill>
                <a:latin typeface="SVN-Georgia" panose="02040502050405020303" pitchFamily="18" charset="0"/>
              </a:rPr>
              <a:t>CIRCLE OF TRUST</a:t>
            </a:r>
          </a:p>
        </p:txBody>
      </p:sp>
      <p:sp>
        <p:nvSpPr>
          <p:cNvPr id="16" name="TextBox 15"/>
          <p:cNvSpPr txBox="1"/>
          <p:nvPr/>
        </p:nvSpPr>
        <p:spPr>
          <a:xfrm>
            <a:off x="4800600" y="3730752"/>
            <a:ext cx="5303520" cy="502920"/>
          </a:xfrm>
          <a:prstGeom prst="rect">
            <a:avLst/>
          </a:prstGeom>
          <a:noFill/>
        </p:spPr>
        <p:txBody>
          <a:bodyPr wrap="square" lIns="27432" tIns="18288" rIns="27432" bIns="18288" anchor="t">
            <a:spAutoFit/>
          </a:bodyPr>
          <a:lstStyle/>
          <a:p>
            <a:pPr algn="l"/>
            <a:r>
              <a:rPr sz="919" b="0">
                <a:solidFill>
                  <a:srgbClr val="FFFFFF"/>
                </a:solidFill>
                <a:latin typeface="Inter"/>
              </a:rPr>
              <a:t>Vòng tròn bao quanh đại diện cho hệ sinh thái: tri thức, cộng đồng, tư vấn và đối tác. Nó cũng thể hiện nguyên tắc bảo vệ khách hàng trước khi tăng trưởng tài sản.</a:t>
            </a:r>
          </a:p>
        </p:txBody>
      </p:sp>
      <p:sp>
        <p:nvSpPr>
          <p:cNvPr id="17" name="TextBox 16"/>
          <p:cNvSpPr txBox="1"/>
          <p:nvPr/>
        </p:nvSpPr>
        <p:spPr>
          <a:xfrm>
            <a:off x="4800600" y="4297680"/>
            <a:ext cx="2560320" cy="228600"/>
          </a:xfrm>
          <a:prstGeom prst="rect">
            <a:avLst/>
          </a:prstGeom>
          <a:noFill/>
        </p:spPr>
        <p:txBody>
          <a:bodyPr wrap="square" lIns="27432" tIns="18288" rIns="27432" bIns="18288" anchor="t">
            <a:spAutoFit/>
          </a:bodyPr>
          <a:lstStyle/>
          <a:p>
            <a:pPr algn="l"/>
            <a:r>
              <a:rPr sz="1200" b="0">
                <a:solidFill>
                  <a:srgbClr val="D4A83F"/>
                </a:solidFill>
                <a:latin typeface="SVN-Georgia" panose="02040502050405020303" pitchFamily="18" charset="0"/>
              </a:rPr>
              <a:t>GOLD ON BLACK</a:t>
            </a:r>
          </a:p>
        </p:txBody>
      </p:sp>
      <p:sp>
        <p:nvSpPr>
          <p:cNvPr id="18" name="TextBox 17"/>
          <p:cNvSpPr txBox="1"/>
          <p:nvPr/>
        </p:nvSpPr>
        <p:spPr>
          <a:xfrm>
            <a:off x="4800600" y="4553712"/>
            <a:ext cx="5303520" cy="502920"/>
          </a:xfrm>
          <a:prstGeom prst="rect">
            <a:avLst/>
          </a:prstGeom>
          <a:noFill/>
        </p:spPr>
        <p:txBody>
          <a:bodyPr wrap="square" lIns="27432" tIns="18288" rIns="27432" bIns="18288" anchor="t">
            <a:spAutoFit/>
          </a:bodyPr>
          <a:lstStyle/>
          <a:p>
            <a:pPr algn="l"/>
            <a:r>
              <a:rPr sz="919" b="0">
                <a:solidFill>
                  <a:srgbClr val="FFFFFF"/>
                </a:solidFill>
                <a:latin typeface="Inter"/>
              </a:rPr>
              <a:t>Vàng kim trên nền đen tạo cảm giác giá trị, kỷ luật và chiều sâu. Đây là ngôn ngữ thị giác của Financial Wisdom Luxury: cao cấp nhưng điềm tĩnh, không phô trương.</a:t>
            </a:r>
          </a:p>
        </p:txBody>
      </p:sp>
      <p:sp>
        <p:nvSpPr>
          <p:cNvPr id="19" name="Text 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20" name="Text 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70707"/>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2926080" cy="182880"/>
          </a:xfrm>
          <a:prstGeom prst="rect">
            <a:avLst/>
          </a:prstGeom>
          <a:noFill/>
        </p:spPr>
        <p:txBody>
          <a:bodyPr wrap="square" lIns="27432" tIns="18288" rIns="27432" bIns="18288" anchor="t">
            <a:spAutoFit/>
          </a:bodyPr>
          <a:lstStyle/>
          <a:p>
            <a:pPr algn="l"/>
            <a:r>
              <a:rPr sz="750" b="1">
                <a:solidFill>
                  <a:srgbClr val="E8CF8B"/>
                </a:solidFill>
                <a:latin typeface="Inter"/>
              </a:rPr>
              <a:t>MONEYFEST BRAND MANUAL</a:t>
            </a:r>
          </a:p>
        </p:txBody>
      </p:sp>
      <p:sp>
        <p:nvSpPr>
          <p:cNvPr id="3" name="TextBox 2"/>
          <p:cNvSpPr txBox="1"/>
          <p:nvPr/>
        </p:nvSpPr>
        <p:spPr>
          <a:xfrm>
            <a:off x="411480" y="438912"/>
            <a:ext cx="2011680" cy="228600"/>
          </a:xfrm>
          <a:prstGeom prst="rect">
            <a:avLst/>
          </a:prstGeom>
          <a:noFill/>
        </p:spPr>
        <p:txBody>
          <a:bodyPr wrap="square" lIns="27432" tIns="18288" rIns="27432" bIns="18288" anchor="t">
            <a:spAutoFit/>
          </a:bodyPr>
          <a:lstStyle/>
          <a:p>
            <a:pPr algn="l"/>
            <a:r>
              <a:rPr sz="800" b="0">
                <a:solidFill>
                  <a:srgbClr val="66717A"/>
                </a:solidFill>
                <a:latin typeface="Inter"/>
              </a:rPr>
              <a:t>06 Logo System</a:t>
            </a:r>
          </a:p>
        </p:txBody>
      </p:sp>
      <p:sp>
        <p:nvSpPr>
          <p:cNvPr id="5" name="TextBox 4"/>
          <p:cNvSpPr txBox="1"/>
          <p:nvPr/>
        </p:nvSpPr>
        <p:spPr>
          <a:xfrm>
            <a:off x="658368" y="822960"/>
            <a:ext cx="4389120" cy="457200"/>
          </a:xfrm>
          <a:prstGeom prst="rect">
            <a:avLst/>
          </a:prstGeom>
          <a:noFill/>
        </p:spPr>
        <p:txBody>
          <a:bodyPr wrap="square" lIns="27432" tIns="18288" rIns="27432" bIns="18288" anchor="t">
            <a:spAutoFit/>
          </a:bodyPr>
          <a:lstStyle/>
          <a:p>
            <a:pPr algn="l"/>
            <a:r>
              <a:rPr sz="2200" b="0">
                <a:solidFill>
                  <a:srgbClr val="D4A83F"/>
                </a:solidFill>
                <a:latin typeface="SVN-Georgia"/>
              </a:rPr>
              <a:t>LOGO ELEMENTS</a:t>
            </a:r>
          </a:p>
        </p:txBody>
      </p:sp>
      <p:sp>
        <p:nvSpPr>
          <p:cNvPr id="6" name="TextBox 5"/>
          <p:cNvSpPr txBox="1"/>
          <p:nvPr/>
        </p:nvSpPr>
        <p:spPr>
          <a:xfrm>
            <a:off x="658368" y="1261872"/>
            <a:ext cx="6035040" cy="365760"/>
          </a:xfrm>
          <a:prstGeom prst="rect">
            <a:avLst/>
          </a:prstGeom>
          <a:noFill/>
        </p:spPr>
        <p:txBody>
          <a:bodyPr wrap="square" lIns="27432" tIns="18288" rIns="27432" bIns="18288" anchor="t">
            <a:spAutoFit/>
          </a:bodyPr>
          <a:lstStyle/>
          <a:p>
            <a:pPr algn="l"/>
            <a:r>
              <a:rPr sz="1050" b="0">
                <a:solidFill>
                  <a:srgbClr val="FFFFFF"/>
                </a:solidFill>
                <a:latin typeface="Inter"/>
              </a:rPr>
              <a:t>Các thành phần cấu thành ý nghĩa nhận diện</a:t>
            </a:r>
          </a:p>
        </p:txBody>
      </p:sp>
      <p:sp>
        <p:nvSpPr>
          <p:cNvPr id="7" name="Rectangle 6"/>
          <p:cNvSpPr/>
          <p:nvPr/>
        </p:nvSpPr>
        <p:spPr>
          <a:xfrm>
            <a:off x="658368" y="1664208"/>
            <a:ext cx="1143000" cy="22860"/>
          </a:xfrm>
          <a:prstGeom prst="rect">
            <a:avLst/>
          </a:prstGeom>
          <a:solidFill>
            <a:srgbClr val="D4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moneyfest_logo_gold_transparent.png"/>
          <p:cNvPicPr>
            <a:picLocks noChangeAspect="1"/>
          </p:cNvPicPr>
          <p:nvPr/>
        </p:nvPicPr>
        <p:blipFill>
          <a:blip r:embed="rId2"/>
          <a:stretch>
            <a:fillRect/>
          </a:stretch>
        </p:blipFill>
        <p:spPr>
          <a:xfrm>
            <a:off x="4251960" y="1719297"/>
            <a:ext cx="2834640" cy="1956366"/>
          </a:xfrm>
          <a:prstGeom prst="rect">
            <a:avLst/>
          </a:prstGeom>
        </p:spPr>
      </p:pic>
      <p:sp>
        <p:nvSpPr>
          <p:cNvPr id="11" name="TextBox 10"/>
          <p:cNvSpPr txBox="1"/>
          <p:nvPr/>
        </p:nvSpPr>
        <p:spPr>
          <a:xfrm>
            <a:off x="914400" y="1874519"/>
            <a:ext cx="548640" cy="594360"/>
          </a:xfrm>
          <a:prstGeom prst="rect">
            <a:avLst/>
          </a:prstGeom>
          <a:noFill/>
        </p:spPr>
        <p:txBody>
          <a:bodyPr wrap="square" lIns="27432" tIns="18288" rIns="27432" bIns="18288" anchor="t">
            <a:spAutoFit/>
          </a:bodyPr>
          <a:lstStyle/>
          <a:p>
            <a:pPr algn="l"/>
            <a:r>
              <a:rPr sz="2800" b="0">
                <a:solidFill>
                  <a:srgbClr val="D4A83F"/>
                </a:solidFill>
                <a:latin typeface="SVN-Georgia"/>
              </a:rPr>
              <a:t>M</a:t>
            </a:r>
          </a:p>
        </p:txBody>
      </p:sp>
      <p:sp>
        <p:nvSpPr>
          <p:cNvPr id="12" name="TextBox 11"/>
          <p:cNvSpPr txBox="1"/>
          <p:nvPr/>
        </p:nvSpPr>
        <p:spPr>
          <a:xfrm>
            <a:off x="1417320" y="2004031"/>
            <a:ext cx="2560320" cy="206210"/>
          </a:xfrm>
          <a:prstGeom prst="rect">
            <a:avLst/>
          </a:prstGeom>
          <a:noFill/>
        </p:spPr>
        <p:txBody>
          <a:bodyPr wrap="square" lIns="27432" tIns="18288" rIns="27432" bIns="18288" anchor="t">
            <a:spAutoFit/>
          </a:bodyPr>
          <a:lstStyle/>
          <a:p>
            <a:pPr algn="l"/>
            <a:r>
              <a:rPr sz="1100" b="0" dirty="0" err="1">
                <a:solidFill>
                  <a:srgbClr val="FFFFFF"/>
                </a:solidFill>
                <a:latin typeface="Inter"/>
              </a:rPr>
              <a:t>Moneyfest</a:t>
            </a:r>
            <a:r>
              <a:rPr sz="1100" b="0" dirty="0">
                <a:solidFill>
                  <a:srgbClr val="FFFFFF"/>
                </a:solidFill>
                <a:latin typeface="Inter"/>
              </a:rPr>
              <a:t> / Money Map</a:t>
            </a:r>
          </a:p>
        </p:txBody>
      </p:sp>
      <p:sp>
        <p:nvSpPr>
          <p:cNvPr id="13" name="TextBox 12"/>
          <p:cNvSpPr txBox="1"/>
          <p:nvPr/>
        </p:nvSpPr>
        <p:spPr>
          <a:xfrm>
            <a:off x="7955279" y="1874519"/>
            <a:ext cx="548640" cy="594360"/>
          </a:xfrm>
          <a:prstGeom prst="rect">
            <a:avLst/>
          </a:prstGeom>
          <a:noFill/>
        </p:spPr>
        <p:txBody>
          <a:bodyPr wrap="square" lIns="27432" tIns="18288" rIns="27432" bIns="18288" anchor="t">
            <a:spAutoFit/>
          </a:bodyPr>
          <a:lstStyle/>
          <a:p>
            <a:pPr algn="l"/>
            <a:r>
              <a:rPr sz="2800" b="0">
                <a:solidFill>
                  <a:srgbClr val="D4A83F"/>
                </a:solidFill>
                <a:latin typeface="SVN-Georgia"/>
              </a:rPr>
              <a:t>✦</a:t>
            </a:r>
          </a:p>
        </p:txBody>
      </p:sp>
      <p:sp>
        <p:nvSpPr>
          <p:cNvPr id="14" name="TextBox 13"/>
          <p:cNvSpPr txBox="1"/>
          <p:nvPr/>
        </p:nvSpPr>
        <p:spPr>
          <a:xfrm>
            <a:off x="8458199" y="2004031"/>
            <a:ext cx="2560320" cy="206210"/>
          </a:xfrm>
          <a:prstGeom prst="rect">
            <a:avLst/>
          </a:prstGeom>
          <a:noFill/>
        </p:spPr>
        <p:txBody>
          <a:bodyPr wrap="square" lIns="27432" tIns="18288" rIns="27432" bIns="18288" anchor="t">
            <a:spAutoFit/>
          </a:bodyPr>
          <a:lstStyle/>
          <a:p>
            <a:pPr algn="l"/>
            <a:r>
              <a:rPr sz="1100" b="0">
                <a:solidFill>
                  <a:srgbClr val="FFFFFF"/>
                </a:solidFill>
                <a:latin typeface="Inter"/>
              </a:rPr>
              <a:t>North Star / điểm định hướng</a:t>
            </a:r>
          </a:p>
        </p:txBody>
      </p:sp>
      <p:sp>
        <p:nvSpPr>
          <p:cNvPr id="15" name="TextBox 14"/>
          <p:cNvSpPr txBox="1"/>
          <p:nvPr/>
        </p:nvSpPr>
        <p:spPr>
          <a:xfrm>
            <a:off x="914400" y="3657600"/>
            <a:ext cx="548640" cy="594360"/>
          </a:xfrm>
          <a:prstGeom prst="rect">
            <a:avLst/>
          </a:prstGeom>
          <a:noFill/>
        </p:spPr>
        <p:txBody>
          <a:bodyPr wrap="square" lIns="27432" tIns="18288" rIns="27432" bIns="18288" anchor="t">
            <a:spAutoFit/>
          </a:bodyPr>
          <a:lstStyle/>
          <a:p>
            <a:pPr algn="l"/>
            <a:r>
              <a:rPr sz="2800" b="0">
                <a:solidFill>
                  <a:srgbClr val="D4A83F"/>
                </a:solidFill>
                <a:latin typeface="SVN-Georgia"/>
              </a:rPr>
              <a:t>○</a:t>
            </a:r>
          </a:p>
        </p:txBody>
      </p:sp>
      <p:sp>
        <p:nvSpPr>
          <p:cNvPr id="16" name="TextBox 15"/>
          <p:cNvSpPr txBox="1"/>
          <p:nvPr/>
        </p:nvSpPr>
        <p:spPr>
          <a:xfrm>
            <a:off x="1417320" y="3787112"/>
            <a:ext cx="2560320" cy="206210"/>
          </a:xfrm>
          <a:prstGeom prst="rect">
            <a:avLst/>
          </a:prstGeom>
          <a:noFill/>
        </p:spPr>
        <p:txBody>
          <a:bodyPr wrap="square" lIns="27432" tIns="18288" rIns="27432" bIns="18288" anchor="t">
            <a:spAutoFit/>
          </a:bodyPr>
          <a:lstStyle/>
          <a:p>
            <a:pPr algn="l"/>
            <a:r>
              <a:rPr sz="1100" b="0">
                <a:solidFill>
                  <a:srgbClr val="FFFFFF"/>
                </a:solidFill>
                <a:latin typeface="Inter"/>
              </a:rPr>
              <a:t>Hệ sinh thái / niềm tin</a:t>
            </a:r>
          </a:p>
        </p:txBody>
      </p:sp>
      <p:sp>
        <p:nvSpPr>
          <p:cNvPr id="17" name="TextBox 16"/>
          <p:cNvSpPr txBox="1"/>
          <p:nvPr/>
        </p:nvSpPr>
        <p:spPr>
          <a:xfrm>
            <a:off x="7955279" y="3732248"/>
            <a:ext cx="548640" cy="313932"/>
          </a:xfrm>
          <a:prstGeom prst="rect">
            <a:avLst/>
          </a:prstGeom>
          <a:noFill/>
        </p:spPr>
        <p:txBody>
          <a:bodyPr wrap="square" lIns="27432" tIns="18288" rIns="27432" bIns="18288" anchor="t">
            <a:spAutoFit/>
          </a:bodyPr>
          <a:lstStyle/>
          <a:p>
            <a:pPr algn="l"/>
            <a:r>
              <a:rPr b="0" dirty="0">
                <a:solidFill>
                  <a:srgbClr val="D4A83F"/>
                </a:solidFill>
                <a:latin typeface="SVN-Georgia"/>
              </a:rPr>
              <a:t>Gold</a:t>
            </a:r>
          </a:p>
        </p:txBody>
      </p:sp>
      <p:sp>
        <p:nvSpPr>
          <p:cNvPr id="18" name="TextBox 17"/>
          <p:cNvSpPr txBox="1"/>
          <p:nvPr/>
        </p:nvSpPr>
        <p:spPr>
          <a:xfrm>
            <a:off x="8458199" y="3787112"/>
            <a:ext cx="2560320" cy="206210"/>
          </a:xfrm>
          <a:prstGeom prst="rect">
            <a:avLst/>
          </a:prstGeom>
          <a:noFill/>
        </p:spPr>
        <p:txBody>
          <a:bodyPr wrap="square" lIns="27432" tIns="18288" rIns="27432" bIns="18288" anchor="t">
            <a:spAutoFit/>
          </a:bodyPr>
          <a:lstStyle/>
          <a:p>
            <a:pPr algn="l"/>
            <a:r>
              <a:rPr sz="1100" b="0">
                <a:solidFill>
                  <a:srgbClr val="FFFFFF"/>
                </a:solidFill>
                <a:latin typeface="Inter"/>
              </a:rPr>
              <a:t>Giá trị, di sản, sự chuẩn mực</a:t>
            </a:r>
          </a:p>
        </p:txBody>
      </p:sp>
      <p:sp>
        <p:nvSpPr>
          <p:cNvPr id="19" name="TextBox 18"/>
          <p:cNvSpPr txBox="1"/>
          <p:nvPr/>
        </p:nvSpPr>
        <p:spPr>
          <a:xfrm>
            <a:off x="2926080" y="4434840"/>
            <a:ext cx="6217920" cy="292608"/>
          </a:xfrm>
          <a:prstGeom prst="rect">
            <a:avLst/>
          </a:prstGeom>
          <a:noFill/>
        </p:spPr>
        <p:txBody>
          <a:bodyPr wrap="square" lIns="27432" tIns="18288" rIns="27432" bIns="18288" anchor="t">
            <a:spAutoFit/>
          </a:bodyPr>
          <a:lstStyle/>
          <a:p>
            <a:pPr algn="ctr"/>
            <a:r>
              <a:rPr sz="1500" b="0">
                <a:solidFill>
                  <a:srgbClr val="D4A83F"/>
                </a:solidFill>
                <a:latin typeface="SVN-Georgia"/>
              </a:rPr>
              <a:t>Ý NGHĨA TỔNG THỂ</a:t>
            </a:r>
          </a:p>
        </p:txBody>
      </p:sp>
      <p:sp>
        <p:nvSpPr>
          <p:cNvPr id="20" name="TextBox 19"/>
          <p:cNvSpPr txBox="1"/>
          <p:nvPr/>
        </p:nvSpPr>
        <p:spPr>
          <a:xfrm>
            <a:off x="1965960" y="4773168"/>
            <a:ext cx="7863840" cy="375487"/>
          </a:xfrm>
          <a:prstGeom prst="rect">
            <a:avLst/>
          </a:prstGeom>
          <a:noFill/>
        </p:spPr>
        <p:txBody>
          <a:bodyPr wrap="square" lIns="27432" tIns="18288" rIns="27432" bIns="18288" anchor="t">
            <a:spAutoFit/>
          </a:bodyPr>
          <a:lstStyle/>
          <a:p>
            <a:pPr algn="ctr"/>
            <a:r>
              <a:rPr sz="1100" b="0" dirty="0">
                <a:solidFill>
                  <a:srgbClr val="FFFFFF"/>
                </a:solidFill>
                <a:latin typeface="Inter"/>
              </a:rPr>
              <a:t>Logo </a:t>
            </a:r>
            <a:r>
              <a:rPr sz="1100" b="0" dirty="0" err="1">
                <a:solidFill>
                  <a:srgbClr val="FFFFFF"/>
                </a:solidFill>
                <a:latin typeface="Inter"/>
              </a:rPr>
              <a:t>mới</a:t>
            </a:r>
            <a:r>
              <a:rPr sz="1100" b="0" dirty="0">
                <a:solidFill>
                  <a:srgbClr val="FFFFFF"/>
                </a:solidFill>
                <a:latin typeface="Inter"/>
              </a:rPr>
              <a:t> </a:t>
            </a:r>
            <a:r>
              <a:rPr sz="1100" b="0" dirty="0" err="1">
                <a:solidFill>
                  <a:srgbClr val="FFFFFF"/>
                </a:solidFill>
                <a:latin typeface="Inter"/>
              </a:rPr>
              <a:t>biến</a:t>
            </a:r>
            <a:r>
              <a:rPr sz="1100" b="0" dirty="0">
                <a:solidFill>
                  <a:srgbClr val="FFFFFF"/>
                </a:solidFill>
                <a:latin typeface="Inter"/>
              </a:rPr>
              <a:t> </a:t>
            </a:r>
            <a:r>
              <a:rPr sz="1100" b="0" dirty="0" err="1">
                <a:solidFill>
                  <a:srgbClr val="FFFFFF"/>
                </a:solidFill>
                <a:latin typeface="Inter"/>
              </a:rPr>
              <a:t>Moneyfest</a:t>
            </a:r>
            <a:r>
              <a:rPr sz="1100" b="0" dirty="0">
                <a:solidFill>
                  <a:srgbClr val="FFFFFF"/>
                </a:solidFill>
                <a:latin typeface="Inter"/>
              </a:rPr>
              <a:t> </a:t>
            </a:r>
            <a:r>
              <a:rPr sz="1100" b="0" dirty="0" err="1">
                <a:solidFill>
                  <a:srgbClr val="FFFFFF"/>
                </a:solidFill>
                <a:latin typeface="Inter"/>
              </a:rPr>
              <a:t>thành</a:t>
            </a:r>
            <a:r>
              <a:rPr sz="1100" b="0" dirty="0">
                <a:solidFill>
                  <a:srgbClr val="FFFFFF"/>
                </a:solidFill>
                <a:latin typeface="Inter"/>
              </a:rPr>
              <a:t> </a:t>
            </a:r>
            <a:r>
              <a:rPr sz="1100" b="0" dirty="0" err="1">
                <a:solidFill>
                  <a:srgbClr val="FFFFFF"/>
                </a:solidFill>
                <a:latin typeface="Inter"/>
              </a:rPr>
              <a:t>biểu</a:t>
            </a:r>
            <a:r>
              <a:rPr sz="1100" b="0" dirty="0">
                <a:solidFill>
                  <a:srgbClr val="FFFFFF"/>
                </a:solidFill>
                <a:latin typeface="Inter"/>
              </a:rPr>
              <a:t> </a:t>
            </a:r>
            <a:r>
              <a:rPr sz="1100" b="0" dirty="0" err="1">
                <a:solidFill>
                  <a:srgbClr val="FFFFFF"/>
                </a:solidFill>
                <a:latin typeface="Inter"/>
              </a:rPr>
              <a:t>tượng</a:t>
            </a:r>
            <a:r>
              <a:rPr sz="1100" b="0" dirty="0">
                <a:solidFill>
                  <a:srgbClr val="FFFFFF"/>
                </a:solidFill>
                <a:latin typeface="Inter"/>
              </a:rPr>
              <a:t> </a:t>
            </a:r>
            <a:r>
              <a:rPr sz="1100" b="0" dirty="0" err="1">
                <a:solidFill>
                  <a:srgbClr val="FFFFFF"/>
                </a:solidFill>
                <a:latin typeface="Inter"/>
              </a:rPr>
              <a:t>của</a:t>
            </a:r>
            <a:r>
              <a:rPr sz="1100" b="0" dirty="0">
                <a:solidFill>
                  <a:srgbClr val="FFFFFF"/>
                </a:solidFill>
                <a:latin typeface="Inter"/>
              </a:rPr>
              <a:t> “</a:t>
            </a:r>
            <a:r>
              <a:rPr sz="1100" b="0" dirty="0" err="1">
                <a:solidFill>
                  <a:srgbClr val="FFFFFF"/>
                </a:solidFill>
                <a:latin typeface="Inter"/>
              </a:rPr>
              <a:t>tài</a:t>
            </a:r>
            <a:r>
              <a:rPr sz="1100" b="0" dirty="0">
                <a:solidFill>
                  <a:srgbClr val="FFFFFF"/>
                </a:solidFill>
                <a:latin typeface="Inter"/>
              </a:rPr>
              <a:t> </a:t>
            </a:r>
            <a:r>
              <a:rPr sz="1100" b="0" dirty="0" err="1">
                <a:solidFill>
                  <a:srgbClr val="FFFFFF"/>
                </a:solidFill>
                <a:latin typeface="Inter"/>
              </a:rPr>
              <a:t>chính</a:t>
            </a:r>
            <a:r>
              <a:rPr sz="1100" b="0" dirty="0">
                <a:solidFill>
                  <a:srgbClr val="FFFFFF"/>
                </a:solidFill>
                <a:latin typeface="Inter"/>
              </a:rPr>
              <a:t> </a:t>
            </a:r>
            <a:r>
              <a:rPr sz="1100" b="0" dirty="0" err="1">
                <a:solidFill>
                  <a:srgbClr val="FFFFFF"/>
                </a:solidFill>
                <a:latin typeface="Inter"/>
              </a:rPr>
              <a:t>thông</a:t>
            </a:r>
            <a:r>
              <a:rPr sz="1100" b="0" dirty="0">
                <a:solidFill>
                  <a:srgbClr val="FFFFFF"/>
                </a:solidFill>
                <a:latin typeface="Inter"/>
              </a:rPr>
              <a:t> minh”: </a:t>
            </a:r>
            <a:r>
              <a:rPr sz="1100" b="0" dirty="0" err="1">
                <a:solidFill>
                  <a:srgbClr val="FFFFFF"/>
                </a:solidFill>
                <a:latin typeface="Inter"/>
              </a:rPr>
              <a:t>rõ</a:t>
            </a:r>
            <a:r>
              <a:rPr sz="1100" b="0" dirty="0">
                <a:solidFill>
                  <a:srgbClr val="FFFFFF"/>
                </a:solidFill>
                <a:latin typeface="Inter"/>
              </a:rPr>
              <a:t> </a:t>
            </a:r>
            <a:r>
              <a:rPr sz="1100" b="0" dirty="0" err="1">
                <a:solidFill>
                  <a:srgbClr val="FFFFFF"/>
                </a:solidFill>
                <a:latin typeface="Inter"/>
              </a:rPr>
              <a:t>hướng</a:t>
            </a:r>
            <a:r>
              <a:rPr sz="1100" b="0" dirty="0">
                <a:solidFill>
                  <a:srgbClr val="FFFFFF"/>
                </a:solidFill>
                <a:latin typeface="Inter"/>
              </a:rPr>
              <a:t> </a:t>
            </a:r>
            <a:r>
              <a:rPr sz="1100" b="0" dirty="0" err="1">
                <a:solidFill>
                  <a:srgbClr val="FFFFFF"/>
                </a:solidFill>
                <a:latin typeface="Inter"/>
              </a:rPr>
              <a:t>đi</a:t>
            </a:r>
            <a:r>
              <a:rPr sz="1100" b="0" dirty="0">
                <a:solidFill>
                  <a:srgbClr val="FFFFFF"/>
                </a:solidFill>
                <a:latin typeface="Inter"/>
              </a:rPr>
              <a:t>, </a:t>
            </a:r>
            <a:r>
              <a:rPr sz="1100" b="0" dirty="0" err="1">
                <a:solidFill>
                  <a:srgbClr val="FFFFFF"/>
                </a:solidFill>
                <a:latin typeface="Inter"/>
              </a:rPr>
              <a:t>có</a:t>
            </a:r>
            <a:r>
              <a:rPr sz="1100" b="0" dirty="0">
                <a:solidFill>
                  <a:srgbClr val="FFFFFF"/>
                </a:solidFill>
                <a:latin typeface="Inter"/>
              </a:rPr>
              <a:t> </a:t>
            </a:r>
            <a:r>
              <a:rPr sz="1100" b="0" dirty="0" err="1">
                <a:solidFill>
                  <a:srgbClr val="FFFFFF"/>
                </a:solidFill>
                <a:latin typeface="Inter"/>
              </a:rPr>
              <a:t>hệ</a:t>
            </a:r>
            <a:r>
              <a:rPr sz="1100" b="0" dirty="0">
                <a:solidFill>
                  <a:srgbClr val="FFFFFF"/>
                </a:solidFill>
                <a:latin typeface="Inter"/>
              </a:rPr>
              <a:t> </a:t>
            </a:r>
            <a:r>
              <a:rPr sz="1100" b="0" dirty="0" err="1">
                <a:solidFill>
                  <a:srgbClr val="FFFFFF"/>
                </a:solidFill>
                <a:latin typeface="Inter"/>
              </a:rPr>
              <a:t>thống</a:t>
            </a:r>
            <a:r>
              <a:rPr sz="1100" b="0" dirty="0">
                <a:solidFill>
                  <a:srgbClr val="FFFFFF"/>
                </a:solidFill>
                <a:latin typeface="Inter"/>
              </a:rPr>
              <a:t> </a:t>
            </a:r>
            <a:r>
              <a:rPr sz="1100" b="0" dirty="0" err="1">
                <a:solidFill>
                  <a:srgbClr val="FFFFFF"/>
                </a:solidFill>
                <a:latin typeface="Inter"/>
              </a:rPr>
              <a:t>bảo</a:t>
            </a:r>
            <a:r>
              <a:rPr sz="1100" b="0" dirty="0">
                <a:solidFill>
                  <a:srgbClr val="FFFFFF"/>
                </a:solidFill>
                <a:latin typeface="Inter"/>
              </a:rPr>
              <a:t> </a:t>
            </a:r>
            <a:r>
              <a:rPr sz="1100" b="0" dirty="0" err="1">
                <a:solidFill>
                  <a:srgbClr val="FFFFFF"/>
                </a:solidFill>
                <a:latin typeface="Inter"/>
              </a:rPr>
              <a:t>vệ</a:t>
            </a:r>
            <a:r>
              <a:rPr sz="1100" b="0" dirty="0">
                <a:solidFill>
                  <a:srgbClr val="FFFFFF"/>
                </a:solidFill>
                <a:latin typeface="Inter"/>
              </a:rPr>
              <a:t>, </a:t>
            </a:r>
            <a:r>
              <a:rPr lang="en-GB" sz="1100" b="0" dirty="0" smtClean="0">
                <a:solidFill>
                  <a:srgbClr val="FFFFFF"/>
                </a:solidFill>
                <a:latin typeface="Inter"/>
              </a:rPr>
              <a:t/>
            </a:r>
            <a:br>
              <a:rPr lang="en-GB" sz="1100" b="0" dirty="0" smtClean="0">
                <a:solidFill>
                  <a:srgbClr val="FFFFFF"/>
                </a:solidFill>
                <a:latin typeface="Inter"/>
              </a:rPr>
            </a:br>
            <a:r>
              <a:rPr sz="1100" b="0" dirty="0" err="1" smtClean="0">
                <a:solidFill>
                  <a:srgbClr val="FFFFFF"/>
                </a:solidFill>
                <a:latin typeface="Inter"/>
              </a:rPr>
              <a:t>giữ</a:t>
            </a:r>
            <a:r>
              <a:rPr sz="1100" b="0" dirty="0" smtClean="0">
                <a:solidFill>
                  <a:srgbClr val="FFFFFF"/>
                </a:solidFill>
                <a:latin typeface="Inter"/>
              </a:rPr>
              <a:t> </a:t>
            </a:r>
            <a:r>
              <a:rPr sz="1100" b="0" dirty="0" err="1">
                <a:solidFill>
                  <a:srgbClr val="FFFFFF"/>
                </a:solidFill>
                <a:latin typeface="Inter"/>
              </a:rPr>
              <a:t>tinh</a:t>
            </a:r>
            <a:r>
              <a:rPr sz="1100" b="0" dirty="0">
                <a:solidFill>
                  <a:srgbClr val="FFFFFF"/>
                </a:solidFill>
                <a:latin typeface="Inter"/>
              </a:rPr>
              <a:t> </a:t>
            </a:r>
            <a:r>
              <a:rPr sz="1100" b="0" dirty="0" err="1">
                <a:solidFill>
                  <a:srgbClr val="FFFFFF"/>
                </a:solidFill>
                <a:latin typeface="Inter"/>
              </a:rPr>
              <a:t>thần</a:t>
            </a:r>
            <a:r>
              <a:rPr sz="1100" b="0" dirty="0">
                <a:solidFill>
                  <a:srgbClr val="FFFFFF"/>
                </a:solidFill>
                <a:latin typeface="Inter"/>
              </a:rPr>
              <a:t> </a:t>
            </a:r>
            <a:r>
              <a:rPr sz="1100" b="0" dirty="0" err="1">
                <a:solidFill>
                  <a:srgbClr val="FFFFFF"/>
                </a:solidFill>
                <a:latin typeface="Inter"/>
              </a:rPr>
              <a:t>chính</a:t>
            </a:r>
            <a:r>
              <a:rPr sz="1100" b="0" dirty="0">
                <a:solidFill>
                  <a:srgbClr val="FFFFFF"/>
                </a:solidFill>
                <a:latin typeface="Inter"/>
              </a:rPr>
              <a:t> </a:t>
            </a:r>
            <a:r>
              <a:rPr sz="1100" b="0" dirty="0" err="1">
                <a:solidFill>
                  <a:srgbClr val="FFFFFF"/>
                </a:solidFill>
                <a:latin typeface="Inter"/>
              </a:rPr>
              <a:t>trực</a:t>
            </a:r>
            <a:r>
              <a:rPr sz="1100" b="0" dirty="0">
                <a:solidFill>
                  <a:srgbClr val="FFFFFF"/>
                </a:solidFill>
                <a:latin typeface="Inter"/>
              </a:rPr>
              <a:t> </a:t>
            </a:r>
            <a:r>
              <a:rPr sz="1100" b="0" dirty="0" err="1">
                <a:solidFill>
                  <a:srgbClr val="FFFFFF"/>
                </a:solidFill>
                <a:latin typeface="Inter"/>
              </a:rPr>
              <a:t>và</a:t>
            </a:r>
            <a:r>
              <a:rPr sz="1100" b="0" dirty="0">
                <a:solidFill>
                  <a:srgbClr val="FFFFFF"/>
                </a:solidFill>
                <a:latin typeface="Inter"/>
              </a:rPr>
              <a:t> </a:t>
            </a:r>
            <a:r>
              <a:rPr sz="1100" b="0" dirty="0" err="1">
                <a:solidFill>
                  <a:srgbClr val="FFFFFF"/>
                </a:solidFill>
                <a:latin typeface="Inter"/>
              </a:rPr>
              <a:t>giúp</a:t>
            </a:r>
            <a:r>
              <a:rPr sz="1100" b="0" dirty="0">
                <a:solidFill>
                  <a:srgbClr val="FFFFFF"/>
                </a:solidFill>
                <a:latin typeface="Inter"/>
              </a:rPr>
              <a:t> </a:t>
            </a:r>
            <a:r>
              <a:rPr sz="1100" b="0" dirty="0" err="1">
                <a:solidFill>
                  <a:srgbClr val="FFFFFF"/>
                </a:solidFill>
                <a:latin typeface="Inter"/>
              </a:rPr>
              <a:t>khách</a:t>
            </a:r>
            <a:r>
              <a:rPr sz="1100" b="0" dirty="0">
                <a:solidFill>
                  <a:srgbClr val="FFFFFF"/>
                </a:solidFill>
                <a:latin typeface="Inter"/>
              </a:rPr>
              <a:t> </a:t>
            </a:r>
            <a:r>
              <a:rPr sz="1100" b="0" dirty="0" err="1">
                <a:solidFill>
                  <a:srgbClr val="FFFFFF"/>
                </a:solidFill>
                <a:latin typeface="Inter"/>
              </a:rPr>
              <a:t>hàng</a:t>
            </a:r>
            <a:r>
              <a:rPr sz="1100" b="0" dirty="0">
                <a:solidFill>
                  <a:srgbClr val="FFFFFF"/>
                </a:solidFill>
                <a:latin typeface="Inter"/>
              </a:rPr>
              <a:t> </a:t>
            </a:r>
            <a:r>
              <a:rPr sz="1100" b="0" dirty="0" err="1">
                <a:solidFill>
                  <a:srgbClr val="FFFFFF"/>
                </a:solidFill>
                <a:latin typeface="Inter"/>
              </a:rPr>
              <a:t>ra</a:t>
            </a:r>
            <a:r>
              <a:rPr sz="1100" b="0" dirty="0">
                <a:solidFill>
                  <a:srgbClr val="FFFFFF"/>
                </a:solidFill>
                <a:latin typeface="Inter"/>
              </a:rPr>
              <a:t> </a:t>
            </a:r>
            <a:r>
              <a:rPr sz="1100" b="0" dirty="0" err="1">
                <a:solidFill>
                  <a:srgbClr val="FFFFFF"/>
                </a:solidFill>
                <a:latin typeface="Inter"/>
              </a:rPr>
              <a:t>quyết</a:t>
            </a:r>
            <a:r>
              <a:rPr sz="1100" b="0" dirty="0">
                <a:solidFill>
                  <a:srgbClr val="FFFFFF"/>
                </a:solidFill>
                <a:latin typeface="Inter"/>
              </a:rPr>
              <a:t> </a:t>
            </a:r>
            <a:r>
              <a:rPr sz="1100" b="0" dirty="0" err="1">
                <a:solidFill>
                  <a:srgbClr val="FFFFFF"/>
                </a:solidFill>
                <a:latin typeface="Inter"/>
              </a:rPr>
              <a:t>định</a:t>
            </a:r>
            <a:r>
              <a:rPr sz="1100" b="0" dirty="0">
                <a:solidFill>
                  <a:srgbClr val="FFFFFF"/>
                </a:solidFill>
                <a:latin typeface="Inter"/>
              </a:rPr>
              <a:t> </a:t>
            </a:r>
            <a:r>
              <a:rPr sz="1100" b="0" dirty="0" err="1">
                <a:solidFill>
                  <a:srgbClr val="FFFFFF"/>
                </a:solidFill>
                <a:latin typeface="Inter"/>
              </a:rPr>
              <a:t>có</a:t>
            </a:r>
            <a:r>
              <a:rPr sz="1100" b="0" dirty="0">
                <a:solidFill>
                  <a:srgbClr val="FFFFFF"/>
                </a:solidFill>
                <a:latin typeface="Inter"/>
              </a:rPr>
              <a:t> </a:t>
            </a:r>
            <a:r>
              <a:rPr sz="1100" b="0" dirty="0" err="1">
                <a:solidFill>
                  <a:srgbClr val="FFFFFF"/>
                </a:solidFill>
                <a:latin typeface="Inter"/>
              </a:rPr>
              <a:t>căn</a:t>
            </a:r>
            <a:r>
              <a:rPr sz="1100" b="0" dirty="0">
                <a:solidFill>
                  <a:srgbClr val="FFFFFF"/>
                </a:solidFill>
                <a:latin typeface="Inter"/>
              </a:rPr>
              <a:t> </a:t>
            </a:r>
            <a:r>
              <a:rPr sz="1100" b="0" dirty="0" err="1">
                <a:solidFill>
                  <a:srgbClr val="FFFFFF"/>
                </a:solidFill>
                <a:latin typeface="Inter"/>
              </a:rPr>
              <a:t>cứ</a:t>
            </a:r>
            <a:r>
              <a:rPr sz="1100" b="0" dirty="0">
                <a:solidFill>
                  <a:srgbClr val="FFFFFF"/>
                </a:solidFill>
                <a:latin typeface="Inter"/>
              </a:rPr>
              <a:t>.</a:t>
            </a:r>
          </a:p>
        </p:txBody>
      </p:sp>
      <p:sp>
        <p:nvSpPr>
          <p:cNvPr id="21" name="Text 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22" name="Text 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70707"/>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2926080" cy="182880"/>
          </a:xfrm>
          <a:prstGeom prst="rect">
            <a:avLst/>
          </a:prstGeom>
          <a:noFill/>
        </p:spPr>
        <p:txBody>
          <a:bodyPr wrap="square" lIns="27432" tIns="18288" rIns="27432" bIns="18288" anchor="t">
            <a:spAutoFit/>
          </a:bodyPr>
          <a:lstStyle/>
          <a:p>
            <a:pPr algn="l"/>
            <a:r>
              <a:rPr sz="750" b="1">
                <a:solidFill>
                  <a:srgbClr val="E8CF8B"/>
                </a:solidFill>
                <a:latin typeface="Inter"/>
              </a:rPr>
              <a:t>MONEYFEST BRAND MANUAL</a:t>
            </a:r>
          </a:p>
        </p:txBody>
      </p:sp>
      <p:sp>
        <p:nvSpPr>
          <p:cNvPr id="3" name="TextBox 2"/>
          <p:cNvSpPr txBox="1"/>
          <p:nvPr/>
        </p:nvSpPr>
        <p:spPr>
          <a:xfrm>
            <a:off x="411480" y="438912"/>
            <a:ext cx="2011680" cy="228600"/>
          </a:xfrm>
          <a:prstGeom prst="rect">
            <a:avLst/>
          </a:prstGeom>
          <a:noFill/>
        </p:spPr>
        <p:txBody>
          <a:bodyPr wrap="square" lIns="27432" tIns="18288" rIns="27432" bIns="18288" anchor="t">
            <a:spAutoFit/>
          </a:bodyPr>
          <a:lstStyle/>
          <a:p>
            <a:pPr algn="l"/>
            <a:r>
              <a:rPr sz="800" b="0">
                <a:solidFill>
                  <a:srgbClr val="66717A"/>
                </a:solidFill>
                <a:latin typeface="Inter"/>
              </a:rPr>
              <a:t>06 Logo System</a:t>
            </a:r>
          </a:p>
        </p:txBody>
      </p:sp>
      <p:sp>
        <p:nvSpPr>
          <p:cNvPr id="5" name="TextBox 4"/>
          <p:cNvSpPr txBox="1"/>
          <p:nvPr/>
        </p:nvSpPr>
        <p:spPr>
          <a:xfrm>
            <a:off x="658368" y="822960"/>
            <a:ext cx="4389120" cy="457200"/>
          </a:xfrm>
          <a:prstGeom prst="rect">
            <a:avLst/>
          </a:prstGeom>
          <a:noFill/>
        </p:spPr>
        <p:txBody>
          <a:bodyPr wrap="square" lIns="27432" tIns="18288" rIns="27432" bIns="18288" anchor="t">
            <a:spAutoFit/>
          </a:bodyPr>
          <a:lstStyle/>
          <a:p>
            <a:pPr algn="l"/>
            <a:r>
              <a:rPr sz="2200" b="0">
                <a:solidFill>
                  <a:srgbClr val="D4A83F"/>
                </a:solidFill>
                <a:latin typeface="SVN-Georgia"/>
              </a:rPr>
              <a:t>CLEAR SPACE</a:t>
            </a:r>
          </a:p>
        </p:txBody>
      </p:sp>
      <p:sp>
        <p:nvSpPr>
          <p:cNvPr id="6" name="TextBox 5"/>
          <p:cNvSpPr txBox="1"/>
          <p:nvPr/>
        </p:nvSpPr>
        <p:spPr>
          <a:xfrm>
            <a:off x="658368" y="1261872"/>
            <a:ext cx="6035040" cy="365760"/>
          </a:xfrm>
          <a:prstGeom prst="rect">
            <a:avLst/>
          </a:prstGeom>
          <a:noFill/>
        </p:spPr>
        <p:txBody>
          <a:bodyPr wrap="square" lIns="27432" tIns="18288" rIns="27432" bIns="18288" anchor="t">
            <a:spAutoFit/>
          </a:bodyPr>
          <a:lstStyle/>
          <a:p>
            <a:pPr algn="l"/>
            <a:r>
              <a:rPr sz="1050" b="0">
                <a:solidFill>
                  <a:srgbClr val="FFFFFF"/>
                </a:solidFill>
                <a:latin typeface="Inter"/>
              </a:rPr>
              <a:t>Khoảng cách an toàn và kích thước tối thiểu</a:t>
            </a:r>
          </a:p>
        </p:txBody>
      </p:sp>
      <p:sp>
        <p:nvSpPr>
          <p:cNvPr id="7" name="Rectangle 6"/>
          <p:cNvSpPr/>
          <p:nvPr/>
        </p:nvSpPr>
        <p:spPr>
          <a:xfrm>
            <a:off x="658368" y="1664208"/>
            <a:ext cx="1143000" cy="22860"/>
          </a:xfrm>
          <a:prstGeom prst="rect">
            <a:avLst/>
          </a:prstGeom>
          <a:solidFill>
            <a:srgbClr val="D4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1874519"/>
            <a:ext cx="4617720" cy="3154680"/>
          </a:xfrm>
          <a:prstGeom prst="roundRect">
            <a:avLst/>
          </a:prstGeom>
          <a:solidFill>
            <a:srgbClr val="071521"/>
          </a:solidFill>
          <a:ln w="9525">
            <a:solidFill>
              <a:srgbClr val="D4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moneyfest_logo_gold_transparent.png"/>
          <p:cNvPicPr>
            <a:picLocks noChangeAspect="1"/>
          </p:cNvPicPr>
          <p:nvPr/>
        </p:nvPicPr>
        <p:blipFill>
          <a:blip r:embed="rId2"/>
          <a:stretch>
            <a:fillRect/>
          </a:stretch>
        </p:blipFill>
        <p:spPr>
          <a:xfrm>
            <a:off x="1874519" y="2517148"/>
            <a:ext cx="2377440" cy="1640823"/>
          </a:xfrm>
          <a:prstGeom prst="rect">
            <a:avLst/>
          </a:prstGeom>
        </p:spPr>
      </p:pic>
      <p:sp>
        <p:nvSpPr>
          <p:cNvPr id="12" name="Rectangle 11"/>
          <p:cNvSpPr/>
          <p:nvPr/>
        </p:nvSpPr>
        <p:spPr>
          <a:xfrm>
            <a:off x="1572768" y="2221992"/>
            <a:ext cx="3017520" cy="2240280"/>
          </a:xfrm>
          <a:prstGeom prst="rect">
            <a:avLst/>
          </a:prstGeom>
          <a:noFill/>
          <a:ln w="13970">
            <a:solidFill>
              <a:srgbClr val="E8CF8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34440" y="2304288"/>
            <a:ext cx="274320" cy="228600"/>
          </a:xfrm>
          <a:prstGeom prst="rect">
            <a:avLst/>
          </a:prstGeom>
          <a:noFill/>
        </p:spPr>
        <p:txBody>
          <a:bodyPr wrap="square" lIns="27432" tIns="18288" rIns="27432" bIns="18288" anchor="t">
            <a:spAutoFit/>
          </a:bodyPr>
          <a:lstStyle/>
          <a:p>
            <a:pPr algn="l"/>
            <a:r>
              <a:rPr sz="1100" b="1">
                <a:solidFill>
                  <a:srgbClr val="E8CF8B"/>
                </a:solidFill>
                <a:latin typeface="Inter"/>
              </a:rPr>
              <a:t>X</a:t>
            </a:r>
          </a:p>
        </p:txBody>
      </p:sp>
      <p:sp>
        <p:nvSpPr>
          <p:cNvPr id="14" name="TextBox 13"/>
          <p:cNvSpPr txBox="1"/>
          <p:nvPr/>
        </p:nvSpPr>
        <p:spPr>
          <a:xfrm>
            <a:off x="4690872" y="2304288"/>
            <a:ext cx="274320" cy="228600"/>
          </a:xfrm>
          <a:prstGeom prst="rect">
            <a:avLst/>
          </a:prstGeom>
          <a:noFill/>
        </p:spPr>
        <p:txBody>
          <a:bodyPr wrap="square" lIns="27432" tIns="18288" rIns="27432" bIns="18288" anchor="t">
            <a:spAutoFit/>
          </a:bodyPr>
          <a:lstStyle/>
          <a:p>
            <a:pPr algn="l"/>
            <a:r>
              <a:rPr sz="1100" b="1">
                <a:solidFill>
                  <a:srgbClr val="E8CF8B"/>
                </a:solidFill>
                <a:latin typeface="Inter"/>
              </a:rPr>
              <a:t>X</a:t>
            </a:r>
          </a:p>
        </p:txBody>
      </p:sp>
      <p:sp>
        <p:nvSpPr>
          <p:cNvPr id="15" name="TextBox 14"/>
          <p:cNvSpPr txBox="1"/>
          <p:nvPr/>
        </p:nvSpPr>
        <p:spPr>
          <a:xfrm>
            <a:off x="1097280" y="4709160"/>
            <a:ext cx="3931920" cy="292608"/>
          </a:xfrm>
          <a:prstGeom prst="rect">
            <a:avLst/>
          </a:prstGeom>
          <a:noFill/>
        </p:spPr>
        <p:txBody>
          <a:bodyPr wrap="square" lIns="27432" tIns="18288" rIns="27432" bIns="18288" anchor="t">
            <a:spAutoFit/>
          </a:bodyPr>
          <a:lstStyle/>
          <a:p>
            <a:pPr algn="ctr"/>
            <a:r>
              <a:rPr sz="850" b="0">
                <a:solidFill>
                  <a:srgbClr val="66717A"/>
                </a:solidFill>
                <a:latin typeface="Inter"/>
              </a:rPr>
              <a:t>X = chiều cao ngôi sao hoặc 1/6 chiều cao biểu tượng</a:t>
            </a:r>
          </a:p>
        </p:txBody>
      </p:sp>
      <p:sp>
        <p:nvSpPr>
          <p:cNvPr id="16" name="TextBox 15"/>
          <p:cNvSpPr txBox="1"/>
          <p:nvPr/>
        </p:nvSpPr>
        <p:spPr>
          <a:xfrm>
            <a:off x="5989320" y="1874519"/>
            <a:ext cx="1828800" cy="320040"/>
          </a:xfrm>
          <a:prstGeom prst="rect">
            <a:avLst/>
          </a:prstGeom>
          <a:noFill/>
        </p:spPr>
        <p:txBody>
          <a:bodyPr wrap="square" lIns="27432" tIns="18288" rIns="27432" bIns="18288" anchor="t">
            <a:spAutoFit/>
          </a:bodyPr>
          <a:lstStyle/>
          <a:p>
            <a:pPr algn="l"/>
            <a:r>
              <a:rPr sz="1500" b="0">
                <a:solidFill>
                  <a:srgbClr val="D4A83F"/>
                </a:solidFill>
                <a:latin typeface="Inter"/>
              </a:rPr>
              <a:t>QUY TẮC</a:t>
            </a:r>
          </a:p>
        </p:txBody>
      </p:sp>
      <p:sp>
        <p:nvSpPr>
          <p:cNvPr id="17" name="TextBox 16"/>
          <p:cNvSpPr txBox="1"/>
          <p:nvPr/>
        </p:nvSpPr>
        <p:spPr>
          <a:xfrm>
            <a:off x="5989320" y="2331720"/>
            <a:ext cx="4160520" cy="320040"/>
          </a:xfrm>
          <a:prstGeom prst="rect">
            <a:avLst/>
          </a:prstGeom>
          <a:noFill/>
        </p:spPr>
        <p:txBody>
          <a:bodyPr wrap="square" lIns="27432" tIns="18288" rIns="27432" bIns="18288" anchor="t">
            <a:spAutoFit/>
          </a:bodyPr>
          <a:lstStyle/>
          <a:p>
            <a:pPr algn="l"/>
            <a:r>
              <a:rPr sz="980" b="0" dirty="0">
                <a:solidFill>
                  <a:srgbClr val="FFFFFF"/>
                </a:solidFill>
                <a:latin typeface="Inter"/>
              </a:rPr>
              <a:t>• </a:t>
            </a:r>
            <a:r>
              <a:rPr sz="980" b="0" dirty="0" err="1">
                <a:solidFill>
                  <a:srgbClr val="FFFFFF"/>
                </a:solidFill>
                <a:latin typeface="Inter"/>
              </a:rPr>
              <a:t>Luôn</a:t>
            </a:r>
            <a:r>
              <a:rPr sz="980" b="0" dirty="0">
                <a:solidFill>
                  <a:srgbClr val="FFFFFF"/>
                </a:solidFill>
                <a:latin typeface="Inter"/>
              </a:rPr>
              <a:t> </a:t>
            </a:r>
            <a:r>
              <a:rPr sz="980" b="0" dirty="0" err="1">
                <a:solidFill>
                  <a:srgbClr val="FFFFFF"/>
                </a:solidFill>
                <a:latin typeface="Inter"/>
              </a:rPr>
              <a:t>chừa</a:t>
            </a:r>
            <a:r>
              <a:rPr sz="980" b="0" dirty="0">
                <a:solidFill>
                  <a:srgbClr val="FFFFFF"/>
                </a:solidFill>
                <a:latin typeface="Inter"/>
              </a:rPr>
              <a:t> </a:t>
            </a:r>
            <a:r>
              <a:rPr sz="980" b="0" dirty="0" err="1">
                <a:solidFill>
                  <a:srgbClr val="FFFFFF"/>
                </a:solidFill>
                <a:latin typeface="Inter"/>
              </a:rPr>
              <a:t>khoảng</a:t>
            </a:r>
            <a:r>
              <a:rPr sz="980" b="0" dirty="0">
                <a:solidFill>
                  <a:srgbClr val="FFFFFF"/>
                </a:solidFill>
                <a:latin typeface="Inter"/>
              </a:rPr>
              <a:t> </a:t>
            </a:r>
            <a:r>
              <a:rPr sz="980" b="0" dirty="0" err="1">
                <a:solidFill>
                  <a:srgbClr val="FFFFFF"/>
                </a:solidFill>
                <a:latin typeface="Inter"/>
              </a:rPr>
              <a:t>cách</a:t>
            </a:r>
            <a:r>
              <a:rPr sz="980" b="0" dirty="0">
                <a:solidFill>
                  <a:srgbClr val="FFFFFF"/>
                </a:solidFill>
                <a:latin typeface="Inter"/>
              </a:rPr>
              <a:t> an </a:t>
            </a:r>
            <a:r>
              <a:rPr sz="980" b="0" dirty="0" err="1">
                <a:solidFill>
                  <a:srgbClr val="FFFFFF"/>
                </a:solidFill>
                <a:latin typeface="Inter"/>
              </a:rPr>
              <a:t>toàn</a:t>
            </a:r>
            <a:r>
              <a:rPr sz="980" b="0" dirty="0">
                <a:solidFill>
                  <a:srgbClr val="FFFFFF"/>
                </a:solidFill>
                <a:latin typeface="Inter"/>
              </a:rPr>
              <a:t> </a:t>
            </a:r>
            <a:r>
              <a:rPr sz="980" b="0" dirty="0" err="1">
                <a:solidFill>
                  <a:srgbClr val="FFFFFF"/>
                </a:solidFill>
                <a:latin typeface="Inter"/>
              </a:rPr>
              <a:t>tối</a:t>
            </a:r>
            <a:r>
              <a:rPr sz="980" b="0" dirty="0">
                <a:solidFill>
                  <a:srgbClr val="FFFFFF"/>
                </a:solidFill>
                <a:latin typeface="Inter"/>
              </a:rPr>
              <a:t> </a:t>
            </a:r>
            <a:r>
              <a:rPr sz="980" b="0" dirty="0" err="1">
                <a:solidFill>
                  <a:srgbClr val="FFFFFF"/>
                </a:solidFill>
                <a:latin typeface="Inter"/>
              </a:rPr>
              <a:t>thiểu</a:t>
            </a:r>
            <a:r>
              <a:rPr sz="980" b="0" dirty="0">
                <a:solidFill>
                  <a:srgbClr val="FFFFFF"/>
                </a:solidFill>
                <a:latin typeface="Inter"/>
              </a:rPr>
              <a:t> X </a:t>
            </a:r>
            <a:r>
              <a:rPr sz="980" b="0" dirty="0" err="1">
                <a:solidFill>
                  <a:srgbClr val="FFFFFF"/>
                </a:solidFill>
                <a:latin typeface="Inter"/>
              </a:rPr>
              <a:t>quanh</a:t>
            </a:r>
            <a:r>
              <a:rPr sz="980" b="0" dirty="0">
                <a:solidFill>
                  <a:srgbClr val="FFFFFF"/>
                </a:solidFill>
                <a:latin typeface="Inter"/>
              </a:rPr>
              <a:t> logo.</a:t>
            </a:r>
          </a:p>
        </p:txBody>
      </p:sp>
      <p:sp>
        <p:nvSpPr>
          <p:cNvPr id="18" name="TextBox 17"/>
          <p:cNvSpPr txBox="1"/>
          <p:nvPr/>
        </p:nvSpPr>
        <p:spPr>
          <a:xfrm>
            <a:off x="5989320" y="2761488"/>
            <a:ext cx="4160520" cy="320040"/>
          </a:xfrm>
          <a:prstGeom prst="rect">
            <a:avLst/>
          </a:prstGeom>
          <a:noFill/>
        </p:spPr>
        <p:txBody>
          <a:bodyPr wrap="square" lIns="27432" tIns="18288" rIns="27432" bIns="18288" anchor="t">
            <a:spAutoFit/>
          </a:bodyPr>
          <a:lstStyle/>
          <a:p>
            <a:pPr algn="l"/>
            <a:r>
              <a:rPr sz="980" b="0">
                <a:solidFill>
                  <a:srgbClr val="FFFFFF"/>
                </a:solidFill>
                <a:latin typeface="Inter"/>
              </a:rPr>
              <a:t>• Không đặt chữ, icon, QR code hoặc viền khung vào vùng an toàn.</a:t>
            </a:r>
          </a:p>
        </p:txBody>
      </p:sp>
      <p:sp>
        <p:nvSpPr>
          <p:cNvPr id="19" name="TextBox 18"/>
          <p:cNvSpPr txBox="1"/>
          <p:nvPr/>
        </p:nvSpPr>
        <p:spPr>
          <a:xfrm>
            <a:off x="5989319" y="3191256"/>
            <a:ext cx="4666239" cy="187744"/>
          </a:xfrm>
          <a:prstGeom prst="rect">
            <a:avLst/>
          </a:prstGeom>
          <a:noFill/>
        </p:spPr>
        <p:txBody>
          <a:bodyPr wrap="square" lIns="27432" tIns="18288" rIns="27432" bIns="18288" anchor="t">
            <a:spAutoFit/>
          </a:bodyPr>
          <a:lstStyle/>
          <a:p>
            <a:pPr algn="l"/>
            <a:r>
              <a:rPr sz="980" b="0" dirty="0">
                <a:solidFill>
                  <a:srgbClr val="FFFFFF"/>
                </a:solidFill>
                <a:latin typeface="Inter"/>
              </a:rPr>
              <a:t>• </a:t>
            </a:r>
            <a:r>
              <a:rPr sz="980" b="0" dirty="0" err="1">
                <a:solidFill>
                  <a:srgbClr val="FFFFFF"/>
                </a:solidFill>
                <a:latin typeface="Inter"/>
              </a:rPr>
              <a:t>Kích</a:t>
            </a:r>
            <a:r>
              <a:rPr sz="980" b="0" dirty="0">
                <a:solidFill>
                  <a:srgbClr val="FFFFFF"/>
                </a:solidFill>
                <a:latin typeface="Inter"/>
              </a:rPr>
              <a:t> </a:t>
            </a:r>
            <a:r>
              <a:rPr sz="980" b="0" dirty="0" err="1">
                <a:solidFill>
                  <a:srgbClr val="FFFFFF"/>
                </a:solidFill>
                <a:latin typeface="Inter"/>
              </a:rPr>
              <a:t>thước</a:t>
            </a:r>
            <a:r>
              <a:rPr sz="980" b="0" dirty="0">
                <a:solidFill>
                  <a:srgbClr val="FFFFFF"/>
                </a:solidFill>
                <a:latin typeface="Inter"/>
              </a:rPr>
              <a:t> </a:t>
            </a:r>
            <a:r>
              <a:rPr sz="980" b="0" dirty="0" err="1">
                <a:solidFill>
                  <a:srgbClr val="FFFFFF"/>
                </a:solidFill>
                <a:latin typeface="Inter"/>
              </a:rPr>
              <a:t>tối</a:t>
            </a:r>
            <a:r>
              <a:rPr sz="980" b="0" dirty="0">
                <a:solidFill>
                  <a:srgbClr val="FFFFFF"/>
                </a:solidFill>
                <a:latin typeface="Inter"/>
              </a:rPr>
              <a:t> </a:t>
            </a:r>
            <a:r>
              <a:rPr sz="980" b="0" dirty="0" err="1">
                <a:solidFill>
                  <a:srgbClr val="FFFFFF"/>
                </a:solidFill>
                <a:latin typeface="Inter"/>
              </a:rPr>
              <a:t>thiểu</a:t>
            </a:r>
            <a:r>
              <a:rPr sz="980" b="0" dirty="0">
                <a:solidFill>
                  <a:srgbClr val="FFFFFF"/>
                </a:solidFill>
                <a:latin typeface="Inter"/>
              </a:rPr>
              <a:t> </a:t>
            </a:r>
            <a:r>
              <a:rPr sz="980" b="0" dirty="0" err="1">
                <a:solidFill>
                  <a:srgbClr val="FFFFFF"/>
                </a:solidFill>
                <a:latin typeface="Inter"/>
              </a:rPr>
              <a:t>khuyến</a:t>
            </a:r>
            <a:r>
              <a:rPr sz="980" b="0" dirty="0">
                <a:solidFill>
                  <a:srgbClr val="FFFFFF"/>
                </a:solidFill>
                <a:latin typeface="Inter"/>
              </a:rPr>
              <a:t> </a:t>
            </a:r>
            <a:r>
              <a:rPr sz="980" b="0" dirty="0" err="1">
                <a:solidFill>
                  <a:srgbClr val="FFFFFF"/>
                </a:solidFill>
                <a:latin typeface="Inter"/>
              </a:rPr>
              <a:t>nghị</a:t>
            </a:r>
            <a:r>
              <a:rPr sz="980" b="0" dirty="0">
                <a:solidFill>
                  <a:srgbClr val="FFFFFF"/>
                </a:solidFill>
                <a:latin typeface="Inter"/>
              </a:rPr>
              <a:t>: 28 mm </a:t>
            </a:r>
            <a:r>
              <a:rPr sz="980" b="0" dirty="0" err="1">
                <a:solidFill>
                  <a:srgbClr val="FFFFFF"/>
                </a:solidFill>
                <a:latin typeface="Inter"/>
              </a:rPr>
              <a:t>khi</a:t>
            </a:r>
            <a:r>
              <a:rPr sz="980" b="0" dirty="0">
                <a:solidFill>
                  <a:srgbClr val="FFFFFF"/>
                </a:solidFill>
                <a:latin typeface="Inter"/>
              </a:rPr>
              <a:t> in </a:t>
            </a:r>
            <a:r>
              <a:rPr sz="980" b="0" dirty="0" err="1">
                <a:solidFill>
                  <a:srgbClr val="FFFFFF"/>
                </a:solidFill>
                <a:latin typeface="Inter"/>
              </a:rPr>
              <a:t>và</a:t>
            </a:r>
            <a:r>
              <a:rPr sz="980" b="0" dirty="0">
                <a:solidFill>
                  <a:srgbClr val="FFFFFF"/>
                </a:solidFill>
                <a:latin typeface="Inter"/>
              </a:rPr>
              <a:t> 96 </a:t>
            </a:r>
            <a:r>
              <a:rPr sz="980" b="0" dirty="0" err="1">
                <a:solidFill>
                  <a:srgbClr val="FFFFFF"/>
                </a:solidFill>
                <a:latin typeface="Inter"/>
              </a:rPr>
              <a:t>px</a:t>
            </a:r>
            <a:r>
              <a:rPr sz="980" b="0" dirty="0">
                <a:solidFill>
                  <a:srgbClr val="FFFFFF"/>
                </a:solidFill>
                <a:latin typeface="Inter"/>
              </a:rPr>
              <a:t> </a:t>
            </a:r>
            <a:r>
              <a:rPr sz="980" b="0" dirty="0" err="1">
                <a:solidFill>
                  <a:srgbClr val="FFFFFF"/>
                </a:solidFill>
                <a:latin typeface="Inter"/>
              </a:rPr>
              <a:t>khi</a:t>
            </a:r>
            <a:r>
              <a:rPr sz="980" b="0" dirty="0">
                <a:solidFill>
                  <a:srgbClr val="FFFFFF"/>
                </a:solidFill>
                <a:latin typeface="Inter"/>
              </a:rPr>
              <a:t> </a:t>
            </a:r>
            <a:r>
              <a:rPr sz="980" b="0" dirty="0" err="1">
                <a:solidFill>
                  <a:srgbClr val="FFFFFF"/>
                </a:solidFill>
                <a:latin typeface="Inter"/>
              </a:rPr>
              <a:t>hiển</a:t>
            </a:r>
            <a:r>
              <a:rPr sz="980" b="0" dirty="0">
                <a:solidFill>
                  <a:srgbClr val="FFFFFF"/>
                </a:solidFill>
                <a:latin typeface="Inter"/>
              </a:rPr>
              <a:t> </a:t>
            </a:r>
            <a:r>
              <a:rPr sz="980" b="0" dirty="0" err="1">
                <a:solidFill>
                  <a:srgbClr val="FFFFFF"/>
                </a:solidFill>
                <a:latin typeface="Inter"/>
              </a:rPr>
              <a:t>thị</a:t>
            </a:r>
            <a:r>
              <a:rPr sz="980" b="0" dirty="0">
                <a:solidFill>
                  <a:srgbClr val="FFFFFF"/>
                </a:solidFill>
                <a:latin typeface="Inter"/>
              </a:rPr>
              <a:t> digital.</a:t>
            </a:r>
          </a:p>
        </p:txBody>
      </p:sp>
      <p:sp>
        <p:nvSpPr>
          <p:cNvPr id="20" name="TextBox 19"/>
          <p:cNvSpPr txBox="1"/>
          <p:nvPr/>
        </p:nvSpPr>
        <p:spPr>
          <a:xfrm>
            <a:off x="5989320" y="3621024"/>
            <a:ext cx="4892040" cy="187744"/>
          </a:xfrm>
          <a:prstGeom prst="rect">
            <a:avLst/>
          </a:prstGeom>
          <a:noFill/>
        </p:spPr>
        <p:txBody>
          <a:bodyPr wrap="square" lIns="27432" tIns="18288" rIns="27432" bIns="18288" anchor="t">
            <a:spAutoFit/>
          </a:bodyPr>
          <a:lstStyle/>
          <a:p>
            <a:pPr algn="l"/>
            <a:r>
              <a:rPr sz="980" b="0" dirty="0">
                <a:solidFill>
                  <a:srgbClr val="FFFFFF"/>
                </a:solidFill>
                <a:latin typeface="Inter"/>
              </a:rPr>
              <a:t>• </a:t>
            </a:r>
            <a:r>
              <a:rPr sz="980" b="0" dirty="0" err="1">
                <a:solidFill>
                  <a:srgbClr val="FFFFFF"/>
                </a:solidFill>
                <a:latin typeface="Inter"/>
              </a:rPr>
              <a:t>Khi</a:t>
            </a:r>
            <a:r>
              <a:rPr sz="980" b="0" dirty="0">
                <a:solidFill>
                  <a:srgbClr val="FFFFFF"/>
                </a:solidFill>
                <a:latin typeface="Inter"/>
              </a:rPr>
              <a:t> </a:t>
            </a:r>
            <a:r>
              <a:rPr sz="980" b="0" dirty="0" err="1">
                <a:solidFill>
                  <a:srgbClr val="FFFFFF"/>
                </a:solidFill>
                <a:latin typeface="Inter"/>
              </a:rPr>
              <a:t>dùng</a:t>
            </a:r>
            <a:r>
              <a:rPr sz="980" b="0" dirty="0">
                <a:solidFill>
                  <a:srgbClr val="FFFFFF"/>
                </a:solidFill>
                <a:latin typeface="Inter"/>
              </a:rPr>
              <a:t> </a:t>
            </a:r>
            <a:r>
              <a:rPr sz="980" b="0" dirty="0" err="1">
                <a:solidFill>
                  <a:srgbClr val="FFFFFF"/>
                </a:solidFill>
                <a:latin typeface="Inter"/>
              </a:rPr>
              <a:t>dạng</a:t>
            </a:r>
            <a:r>
              <a:rPr sz="980" b="0" dirty="0">
                <a:solidFill>
                  <a:srgbClr val="FFFFFF"/>
                </a:solidFill>
                <a:latin typeface="Inter"/>
              </a:rPr>
              <a:t> avatar, </a:t>
            </a:r>
            <a:r>
              <a:rPr sz="980" b="0" dirty="0" err="1">
                <a:solidFill>
                  <a:srgbClr val="FFFFFF"/>
                </a:solidFill>
                <a:latin typeface="Inter"/>
              </a:rPr>
              <a:t>ưu</a:t>
            </a:r>
            <a:r>
              <a:rPr sz="980" b="0" dirty="0">
                <a:solidFill>
                  <a:srgbClr val="FFFFFF"/>
                </a:solidFill>
                <a:latin typeface="Inter"/>
              </a:rPr>
              <a:t> </a:t>
            </a:r>
            <a:r>
              <a:rPr sz="980" b="0" dirty="0" err="1">
                <a:solidFill>
                  <a:srgbClr val="FFFFFF"/>
                </a:solidFill>
                <a:latin typeface="Inter"/>
              </a:rPr>
              <a:t>tiên</a:t>
            </a:r>
            <a:r>
              <a:rPr sz="980" b="0" dirty="0">
                <a:solidFill>
                  <a:srgbClr val="FFFFFF"/>
                </a:solidFill>
                <a:latin typeface="Inter"/>
              </a:rPr>
              <a:t> </a:t>
            </a:r>
            <a:r>
              <a:rPr sz="980" b="0" dirty="0" err="1">
                <a:solidFill>
                  <a:srgbClr val="FFFFFF"/>
                </a:solidFill>
                <a:latin typeface="Inter"/>
              </a:rPr>
              <a:t>biểu</a:t>
            </a:r>
            <a:r>
              <a:rPr sz="980" b="0" dirty="0">
                <a:solidFill>
                  <a:srgbClr val="FFFFFF"/>
                </a:solidFill>
                <a:latin typeface="Inter"/>
              </a:rPr>
              <a:t> </a:t>
            </a:r>
            <a:r>
              <a:rPr sz="980" b="0" dirty="0" err="1">
                <a:solidFill>
                  <a:srgbClr val="FFFFFF"/>
                </a:solidFill>
                <a:latin typeface="Inter"/>
              </a:rPr>
              <a:t>tượng</a:t>
            </a:r>
            <a:r>
              <a:rPr sz="980" b="0" dirty="0">
                <a:solidFill>
                  <a:srgbClr val="FFFFFF"/>
                </a:solidFill>
                <a:latin typeface="Inter"/>
              </a:rPr>
              <a:t> M </a:t>
            </a:r>
            <a:r>
              <a:rPr sz="980" b="0" dirty="0" err="1">
                <a:solidFill>
                  <a:srgbClr val="FFFFFF"/>
                </a:solidFill>
                <a:latin typeface="Inter"/>
              </a:rPr>
              <a:t>trong</a:t>
            </a:r>
            <a:r>
              <a:rPr sz="980" b="0" dirty="0">
                <a:solidFill>
                  <a:srgbClr val="FFFFFF"/>
                </a:solidFill>
                <a:latin typeface="Inter"/>
              </a:rPr>
              <a:t> </a:t>
            </a:r>
            <a:r>
              <a:rPr sz="980" b="0" dirty="0" err="1">
                <a:solidFill>
                  <a:srgbClr val="FFFFFF"/>
                </a:solidFill>
                <a:latin typeface="Inter"/>
              </a:rPr>
              <a:t>vòng</a:t>
            </a:r>
            <a:r>
              <a:rPr sz="980" b="0" dirty="0">
                <a:solidFill>
                  <a:srgbClr val="FFFFFF"/>
                </a:solidFill>
                <a:latin typeface="Inter"/>
              </a:rPr>
              <a:t> </a:t>
            </a:r>
            <a:r>
              <a:rPr sz="980" b="0" dirty="0" err="1">
                <a:solidFill>
                  <a:srgbClr val="FFFFFF"/>
                </a:solidFill>
                <a:latin typeface="Inter"/>
              </a:rPr>
              <a:t>tròn</a:t>
            </a:r>
            <a:r>
              <a:rPr sz="980" b="0" dirty="0">
                <a:solidFill>
                  <a:srgbClr val="FFFFFF"/>
                </a:solidFill>
                <a:latin typeface="Inter"/>
              </a:rPr>
              <a:t>, </a:t>
            </a:r>
            <a:r>
              <a:rPr sz="980" b="0" dirty="0" err="1">
                <a:solidFill>
                  <a:srgbClr val="FFFFFF"/>
                </a:solidFill>
                <a:latin typeface="Inter"/>
              </a:rPr>
              <a:t>không</a:t>
            </a:r>
            <a:r>
              <a:rPr sz="980" b="0" dirty="0">
                <a:solidFill>
                  <a:srgbClr val="FFFFFF"/>
                </a:solidFill>
                <a:latin typeface="Inter"/>
              </a:rPr>
              <a:t> </a:t>
            </a:r>
            <a:r>
              <a:rPr sz="980" b="0" dirty="0" err="1">
                <a:solidFill>
                  <a:srgbClr val="FFFFFF"/>
                </a:solidFill>
                <a:latin typeface="Inter"/>
              </a:rPr>
              <a:t>dùng</a:t>
            </a:r>
            <a:r>
              <a:rPr sz="980" b="0" dirty="0">
                <a:solidFill>
                  <a:srgbClr val="FFFFFF"/>
                </a:solidFill>
                <a:latin typeface="Inter"/>
              </a:rPr>
              <a:t> tagline </a:t>
            </a:r>
            <a:r>
              <a:rPr sz="980" b="0" dirty="0" err="1">
                <a:solidFill>
                  <a:srgbClr val="FFFFFF"/>
                </a:solidFill>
                <a:latin typeface="Inter"/>
              </a:rPr>
              <a:t>nhỏ</a:t>
            </a:r>
            <a:r>
              <a:rPr sz="980" b="0" dirty="0">
                <a:solidFill>
                  <a:srgbClr val="FFFFFF"/>
                </a:solidFill>
                <a:latin typeface="Inter"/>
              </a:rPr>
              <a:t>.</a:t>
            </a:r>
          </a:p>
        </p:txBody>
      </p:sp>
      <p:sp>
        <p:nvSpPr>
          <p:cNvPr id="21" name="TextBox 20"/>
          <p:cNvSpPr txBox="1"/>
          <p:nvPr/>
        </p:nvSpPr>
        <p:spPr>
          <a:xfrm>
            <a:off x="5989320" y="4050792"/>
            <a:ext cx="4160520" cy="320040"/>
          </a:xfrm>
          <a:prstGeom prst="rect">
            <a:avLst/>
          </a:prstGeom>
          <a:noFill/>
        </p:spPr>
        <p:txBody>
          <a:bodyPr wrap="square" lIns="27432" tIns="18288" rIns="27432" bIns="18288" anchor="t">
            <a:spAutoFit/>
          </a:bodyPr>
          <a:lstStyle/>
          <a:p>
            <a:pPr algn="l"/>
            <a:r>
              <a:rPr sz="980" b="0">
                <a:solidFill>
                  <a:srgbClr val="FFFFFF"/>
                </a:solidFill>
                <a:latin typeface="Inter"/>
              </a:rPr>
              <a:t>• Dùng phiên bản vàng trên nền đen/navy cho nhận diện cao cấp.</a:t>
            </a:r>
          </a:p>
        </p:txBody>
      </p:sp>
      <p:sp>
        <p:nvSpPr>
          <p:cNvPr id="22" name="Text 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23" name="Text 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70707"/>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2926080" cy="182880"/>
          </a:xfrm>
          <a:prstGeom prst="rect">
            <a:avLst/>
          </a:prstGeom>
          <a:noFill/>
        </p:spPr>
        <p:txBody>
          <a:bodyPr wrap="square" lIns="27432" tIns="18288" rIns="27432" bIns="18288" anchor="t">
            <a:spAutoFit/>
          </a:bodyPr>
          <a:lstStyle/>
          <a:p>
            <a:pPr algn="l"/>
            <a:r>
              <a:rPr sz="750" b="1">
                <a:solidFill>
                  <a:srgbClr val="E8CF8B"/>
                </a:solidFill>
                <a:latin typeface="Inter"/>
              </a:rPr>
              <a:t>MONEYFEST BRAND MANUAL</a:t>
            </a:r>
          </a:p>
        </p:txBody>
      </p:sp>
      <p:sp>
        <p:nvSpPr>
          <p:cNvPr id="3" name="TextBox 2"/>
          <p:cNvSpPr txBox="1"/>
          <p:nvPr/>
        </p:nvSpPr>
        <p:spPr>
          <a:xfrm>
            <a:off x="411480" y="438912"/>
            <a:ext cx="2011680" cy="228600"/>
          </a:xfrm>
          <a:prstGeom prst="rect">
            <a:avLst/>
          </a:prstGeom>
          <a:noFill/>
        </p:spPr>
        <p:txBody>
          <a:bodyPr wrap="square" lIns="27432" tIns="18288" rIns="27432" bIns="18288" anchor="t">
            <a:spAutoFit/>
          </a:bodyPr>
          <a:lstStyle/>
          <a:p>
            <a:pPr algn="l"/>
            <a:r>
              <a:rPr sz="800" b="0">
                <a:solidFill>
                  <a:srgbClr val="66717A"/>
                </a:solidFill>
                <a:latin typeface="Inter"/>
              </a:rPr>
              <a:t>06 Logo System</a:t>
            </a:r>
          </a:p>
        </p:txBody>
      </p:sp>
      <p:sp>
        <p:nvSpPr>
          <p:cNvPr id="5" name="TextBox 4"/>
          <p:cNvSpPr txBox="1"/>
          <p:nvPr/>
        </p:nvSpPr>
        <p:spPr>
          <a:xfrm>
            <a:off x="658368" y="822960"/>
            <a:ext cx="4389120" cy="457200"/>
          </a:xfrm>
          <a:prstGeom prst="rect">
            <a:avLst/>
          </a:prstGeom>
          <a:noFill/>
        </p:spPr>
        <p:txBody>
          <a:bodyPr wrap="square" lIns="27432" tIns="18288" rIns="27432" bIns="18288" anchor="t">
            <a:spAutoFit/>
          </a:bodyPr>
          <a:lstStyle/>
          <a:p>
            <a:pPr algn="l"/>
            <a:r>
              <a:rPr sz="2200" b="0">
                <a:solidFill>
                  <a:srgbClr val="D4A83F"/>
                </a:solidFill>
                <a:latin typeface="SVN-Georgia"/>
              </a:rPr>
              <a:t>LOGO VARIATION</a:t>
            </a:r>
          </a:p>
        </p:txBody>
      </p:sp>
      <p:sp>
        <p:nvSpPr>
          <p:cNvPr id="6" name="TextBox 5"/>
          <p:cNvSpPr txBox="1"/>
          <p:nvPr/>
        </p:nvSpPr>
        <p:spPr>
          <a:xfrm>
            <a:off x="658368" y="1261872"/>
            <a:ext cx="6035040" cy="365760"/>
          </a:xfrm>
          <a:prstGeom prst="rect">
            <a:avLst/>
          </a:prstGeom>
          <a:noFill/>
        </p:spPr>
        <p:txBody>
          <a:bodyPr wrap="square" lIns="27432" tIns="18288" rIns="27432" bIns="18288" anchor="t">
            <a:spAutoFit/>
          </a:bodyPr>
          <a:lstStyle/>
          <a:p>
            <a:pPr algn="l"/>
            <a:r>
              <a:rPr sz="1050" b="0">
                <a:solidFill>
                  <a:srgbClr val="FFFFFF"/>
                </a:solidFill>
                <a:latin typeface="Inter"/>
              </a:rPr>
              <a:t>Phiên bản sử dụng theo nền và ngữ cảnh</a:t>
            </a:r>
          </a:p>
        </p:txBody>
      </p:sp>
      <p:sp>
        <p:nvSpPr>
          <p:cNvPr id="7" name="Rectangle 6"/>
          <p:cNvSpPr/>
          <p:nvPr/>
        </p:nvSpPr>
        <p:spPr>
          <a:xfrm>
            <a:off x="658368" y="1664208"/>
            <a:ext cx="1143000" cy="22860"/>
          </a:xfrm>
          <a:prstGeom prst="rect">
            <a:avLst/>
          </a:prstGeom>
          <a:solidFill>
            <a:srgbClr val="D4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1920240"/>
            <a:ext cx="2057400" cy="2331720"/>
          </a:xfrm>
          <a:prstGeom prst="roundRect">
            <a:avLst/>
          </a:prstGeom>
          <a:solidFill>
            <a:srgbClr val="070707"/>
          </a:solidFill>
          <a:ln w="6350">
            <a:solidFill>
              <a:srgbClr val="D4A8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moneyfest_logo_gold_transparent.png"/>
          <p:cNvPicPr>
            <a:picLocks noChangeAspect="1"/>
          </p:cNvPicPr>
          <p:nvPr/>
        </p:nvPicPr>
        <p:blipFill>
          <a:blip r:embed="rId2"/>
          <a:stretch>
            <a:fillRect/>
          </a:stretch>
        </p:blipFill>
        <p:spPr>
          <a:xfrm>
            <a:off x="1005840" y="2351020"/>
            <a:ext cx="1600200" cy="1104400"/>
          </a:xfrm>
          <a:prstGeom prst="rect">
            <a:avLst/>
          </a:prstGeom>
        </p:spPr>
      </p:pic>
      <p:sp>
        <p:nvSpPr>
          <p:cNvPr id="12" name="TextBox 11"/>
          <p:cNvSpPr txBox="1"/>
          <p:nvPr/>
        </p:nvSpPr>
        <p:spPr>
          <a:xfrm>
            <a:off x="777240" y="4434840"/>
            <a:ext cx="2057400" cy="228600"/>
          </a:xfrm>
          <a:prstGeom prst="rect">
            <a:avLst/>
          </a:prstGeom>
          <a:noFill/>
        </p:spPr>
        <p:txBody>
          <a:bodyPr wrap="square" lIns="27432" tIns="18288" rIns="27432" bIns="18288" anchor="t">
            <a:spAutoFit/>
          </a:bodyPr>
          <a:lstStyle/>
          <a:p>
            <a:pPr algn="ctr"/>
            <a:r>
              <a:rPr sz="1050" b="0">
                <a:solidFill>
                  <a:srgbClr val="D4A83F"/>
                </a:solidFill>
                <a:latin typeface="Inter"/>
              </a:rPr>
              <a:t>PRIMARY</a:t>
            </a:r>
          </a:p>
        </p:txBody>
      </p:sp>
      <p:sp>
        <p:nvSpPr>
          <p:cNvPr id="13" name="TextBox 12"/>
          <p:cNvSpPr txBox="1"/>
          <p:nvPr/>
        </p:nvSpPr>
        <p:spPr>
          <a:xfrm>
            <a:off x="777240" y="4709160"/>
            <a:ext cx="2057400" cy="274320"/>
          </a:xfrm>
          <a:prstGeom prst="rect">
            <a:avLst/>
          </a:prstGeom>
          <a:noFill/>
        </p:spPr>
        <p:txBody>
          <a:bodyPr wrap="square" lIns="27432" tIns="18288" rIns="27432" bIns="18288" anchor="t">
            <a:spAutoFit/>
          </a:bodyPr>
          <a:lstStyle/>
          <a:p>
            <a:pPr algn="ctr"/>
            <a:r>
              <a:rPr sz="819" b="0">
                <a:solidFill>
                  <a:srgbClr val="FFFFFF"/>
                </a:solidFill>
                <a:latin typeface="Inter"/>
              </a:rPr>
              <a:t>Vàng kim trên đen</a:t>
            </a:r>
          </a:p>
        </p:txBody>
      </p:sp>
      <p:sp>
        <p:nvSpPr>
          <p:cNvPr id="14" name="Rounded Rectangle 13"/>
          <p:cNvSpPr/>
          <p:nvPr/>
        </p:nvSpPr>
        <p:spPr>
          <a:xfrm>
            <a:off x="3337560" y="1920240"/>
            <a:ext cx="2057400" cy="2331720"/>
          </a:xfrm>
          <a:prstGeom prst="roundRect">
            <a:avLst/>
          </a:prstGeom>
          <a:solidFill>
            <a:srgbClr val="071521"/>
          </a:solidFill>
          <a:ln w="6350">
            <a:solidFill>
              <a:srgbClr val="667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moneyfest_logo_gold_transparent.png"/>
          <p:cNvPicPr>
            <a:picLocks noChangeAspect="1"/>
          </p:cNvPicPr>
          <p:nvPr/>
        </p:nvPicPr>
        <p:blipFill>
          <a:blip r:embed="rId2"/>
          <a:stretch>
            <a:fillRect/>
          </a:stretch>
        </p:blipFill>
        <p:spPr>
          <a:xfrm>
            <a:off x="3566160" y="2351020"/>
            <a:ext cx="1600200" cy="1104400"/>
          </a:xfrm>
          <a:prstGeom prst="rect">
            <a:avLst/>
          </a:prstGeom>
        </p:spPr>
      </p:pic>
      <p:sp>
        <p:nvSpPr>
          <p:cNvPr id="16" name="TextBox 15"/>
          <p:cNvSpPr txBox="1"/>
          <p:nvPr/>
        </p:nvSpPr>
        <p:spPr>
          <a:xfrm>
            <a:off x="3337560" y="4434840"/>
            <a:ext cx="2057400" cy="228600"/>
          </a:xfrm>
          <a:prstGeom prst="rect">
            <a:avLst/>
          </a:prstGeom>
          <a:noFill/>
        </p:spPr>
        <p:txBody>
          <a:bodyPr wrap="square" lIns="27432" tIns="18288" rIns="27432" bIns="18288" anchor="t">
            <a:spAutoFit/>
          </a:bodyPr>
          <a:lstStyle/>
          <a:p>
            <a:pPr algn="ctr"/>
            <a:r>
              <a:rPr sz="1050" b="0">
                <a:solidFill>
                  <a:srgbClr val="D4A83F"/>
                </a:solidFill>
                <a:latin typeface="Inter"/>
              </a:rPr>
              <a:t>LUXURY NAVY</a:t>
            </a:r>
          </a:p>
        </p:txBody>
      </p:sp>
      <p:sp>
        <p:nvSpPr>
          <p:cNvPr id="17" name="TextBox 16"/>
          <p:cNvSpPr txBox="1"/>
          <p:nvPr/>
        </p:nvSpPr>
        <p:spPr>
          <a:xfrm>
            <a:off x="3337560" y="4709160"/>
            <a:ext cx="2057400" cy="274320"/>
          </a:xfrm>
          <a:prstGeom prst="rect">
            <a:avLst/>
          </a:prstGeom>
          <a:noFill/>
        </p:spPr>
        <p:txBody>
          <a:bodyPr wrap="square" lIns="27432" tIns="18288" rIns="27432" bIns="18288" anchor="t">
            <a:spAutoFit/>
          </a:bodyPr>
          <a:lstStyle/>
          <a:p>
            <a:pPr algn="ctr"/>
            <a:r>
              <a:rPr sz="819" b="0">
                <a:solidFill>
                  <a:srgbClr val="FFFFFF"/>
                </a:solidFill>
                <a:latin typeface="Inter"/>
              </a:rPr>
              <a:t>Vàng kim trên navy</a:t>
            </a:r>
          </a:p>
        </p:txBody>
      </p:sp>
      <p:sp>
        <p:nvSpPr>
          <p:cNvPr id="18" name="Rounded Rectangle 17"/>
          <p:cNvSpPr/>
          <p:nvPr/>
        </p:nvSpPr>
        <p:spPr>
          <a:xfrm>
            <a:off x="5897880" y="1920240"/>
            <a:ext cx="2057400" cy="2331720"/>
          </a:xfrm>
          <a:prstGeom prst="roundRect">
            <a:avLst/>
          </a:prstGeom>
          <a:solidFill>
            <a:srgbClr val="F4F0E8"/>
          </a:solidFill>
          <a:ln w="6350">
            <a:solidFill>
              <a:srgbClr val="667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moneyfest_logo_black.png"/>
          <p:cNvPicPr>
            <a:picLocks noChangeAspect="1"/>
          </p:cNvPicPr>
          <p:nvPr/>
        </p:nvPicPr>
        <p:blipFill>
          <a:blip r:embed="rId3"/>
          <a:stretch>
            <a:fillRect/>
          </a:stretch>
        </p:blipFill>
        <p:spPr>
          <a:xfrm>
            <a:off x="6126480" y="2351020"/>
            <a:ext cx="1600200" cy="1104400"/>
          </a:xfrm>
          <a:prstGeom prst="rect">
            <a:avLst/>
          </a:prstGeom>
        </p:spPr>
      </p:pic>
      <p:sp>
        <p:nvSpPr>
          <p:cNvPr id="20" name="TextBox 19"/>
          <p:cNvSpPr txBox="1"/>
          <p:nvPr/>
        </p:nvSpPr>
        <p:spPr>
          <a:xfrm>
            <a:off x="5897880" y="4434840"/>
            <a:ext cx="2057400" cy="228600"/>
          </a:xfrm>
          <a:prstGeom prst="rect">
            <a:avLst/>
          </a:prstGeom>
          <a:noFill/>
        </p:spPr>
        <p:txBody>
          <a:bodyPr wrap="square" lIns="27432" tIns="18288" rIns="27432" bIns="18288" anchor="t">
            <a:spAutoFit/>
          </a:bodyPr>
          <a:lstStyle/>
          <a:p>
            <a:pPr algn="ctr"/>
            <a:r>
              <a:rPr sz="1050" b="0">
                <a:solidFill>
                  <a:srgbClr val="D4A83F"/>
                </a:solidFill>
                <a:latin typeface="Inter"/>
              </a:rPr>
              <a:t>LIGHT USE</a:t>
            </a:r>
          </a:p>
        </p:txBody>
      </p:sp>
      <p:sp>
        <p:nvSpPr>
          <p:cNvPr id="21" name="TextBox 20"/>
          <p:cNvSpPr txBox="1"/>
          <p:nvPr/>
        </p:nvSpPr>
        <p:spPr>
          <a:xfrm>
            <a:off x="5897880" y="4709160"/>
            <a:ext cx="2057400" cy="274320"/>
          </a:xfrm>
          <a:prstGeom prst="rect">
            <a:avLst/>
          </a:prstGeom>
          <a:noFill/>
        </p:spPr>
        <p:txBody>
          <a:bodyPr wrap="square" lIns="27432" tIns="18288" rIns="27432" bIns="18288" anchor="t">
            <a:spAutoFit/>
          </a:bodyPr>
          <a:lstStyle/>
          <a:p>
            <a:pPr algn="ctr"/>
            <a:r>
              <a:rPr sz="819" b="0">
                <a:solidFill>
                  <a:srgbClr val="FFFFFF"/>
                </a:solidFill>
                <a:latin typeface="Inter"/>
              </a:rPr>
              <a:t>Đen trên nền sáng</a:t>
            </a:r>
          </a:p>
        </p:txBody>
      </p:sp>
      <p:sp>
        <p:nvSpPr>
          <p:cNvPr id="22" name="Rounded Rectangle 21"/>
          <p:cNvSpPr/>
          <p:nvPr/>
        </p:nvSpPr>
        <p:spPr>
          <a:xfrm>
            <a:off x="8458200" y="1920240"/>
            <a:ext cx="2057400" cy="2331720"/>
          </a:xfrm>
          <a:prstGeom prst="roundRect">
            <a:avLst/>
          </a:prstGeom>
          <a:solidFill>
            <a:srgbClr val="070707"/>
          </a:solidFill>
          <a:ln w="6350">
            <a:solidFill>
              <a:srgbClr val="667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moneyfest_logo_white.png"/>
          <p:cNvPicPr>
            <a:picLocks noChangeAspect="1"/>
          </p:cNvPicPr>
          <p:nvPr/>
        </p:nvPicPr>
        <p:blipFill>
          <a:blip r:embed="rId4"/>
          <a:stretch>
            <a:fillRect/>
          </a:stretch>
        </p:blipFill>
        <p:spPr>
          <a:xfrm>
            <a:off x="8686800" y="2351020"/>
            <a:ext cx="1600200" cy="1104400"/>
          </a:xfrm>
          <a:prstGeom prst="rect">
            <a:avLst/>
          </a:prstGeom>
        </p:spPr>
      </p:pic>
      <p:sp>
        <p:nvSpPr>
          <p:cNvPr id="24" name="TextBox 23"/>
          <p:cNvSpPr txBox="1"/>
          <p:nvPr/>
        </p:nvSpPr>
        <p:spPr>
          <a:xfrm>
            <a:off x="8458200" y="4434840"/>
            <a:ext cx="2057400" cy="228600"/>
          </a:xfrm>
          <a:prstGeom prst="rect">
            <a:avLst/>
          </a:prstGeom>
          <a:noFill/>
        </p:spPr>
        <p:txBody>
          <a:bodyPr wrap="square" lIns="27432" tIns="18288" rIns="27432" bIns="18288" anchor="t">
            <a:spAutoFit/>
          </a:bodyPr>
          <a:lstStyle/>
          <a:p>
            <a:pPr algn="ctr"/>
            <a:r>
              <a:rPr sz="1050" b="0">
                <a:solidFill>
                  <a:srgbClr val="D4A83F"/>
                </a:solidFill>
                <a:latin typeface="Inter"/>
              </a:rPr>
              <a:t>MONO WHITE</a:t>
            </a:r>
          </a:p>
        </p:txBody>
      </p:sp>
      <p:sp>
        <p:nvSpPr>
          <p:cNvPr id="25" name="TextBox 24"/>
          <p:cNvSpPr txBox="1"/>
          <p:nvPr/>
        </p:nvSpPr>
        <p:spPr>
          <a:xfrm>
            <a:off x="8458200" y="4709160"/>
            <a:ext cx="2057400" cy="274320"/>
          </a:xfrm>
          <a:prstGeom prst="rect">
            <a:avLst/>
          </a:prstGeom>
          <a:noFill/>
        </p:spPr>
        <p:txBody>
          <a:bodyPr wrap="square" lIns="27432" tIns="18288" rIns="27432" bIns="18288" anchor="t">
            <a:spAutoFit/>
          </a:bodyPr>
          <a:lstStyle/>
          <a:p>
            <a:pPr algn="ctr"/>
            <a:r>
              <a:rPr sz="819" b="0">
                <a:solidFill>
                  <a:srgbClr val="FFFFFF"/>
                </a:solidFill>
                <a:latin typeface="Inter"/>
              </a:rPr>
              <a:t>Trắng cho ứng dụng đơn sắc</a:t>
            </a:r>
          </a:p>
        </p:txBody>
      </p:sp>
      <p:sp>
        <p:nvSpPr>
          <p:cNvPr id="26" name="TextBox 25"/>
          <p:cNvSpPr txBox="1"/>
          <p:nvPr/>
        </p:nvSpPr>
        <p:spPr>
          <a:xfrm>
            <a:off x="1143000" y="5166360"/>
            <a:ext cx="8869680" cy="411480"/>
          </a:xfrm>
          <a:prstGeom prst="rect">
            <a:avLst/>
          </a:prstGeom>
          <a:noFill/>
        </p:spPr>
        <p:txBody>
          <a:bodyPr wrap="square" lIns="27432" tIns="18288" rIns="27432" bIns="18288" anchor="t">
            <a:spAutoFit/>
          </a:bodyPr>
          <a:lstStyle/>
          <a:p>
            <a:pPr algn="ctr"/>
            <a:r>
              <a:rPr sz="1050" b="0">
                <a:solidFill>
                  <a:srgbClr val="FFFFFF"/>
                </a:solidFill>
                <a:latin typeface="Inter"/>
              </a:rPr>
              <a:t>Ưu tiên Primary trong hầu hết tài sản truyền thông. Các phiên bản mono chỉ dùng khi có giới hạn kỹ thuật, in ấn hoặc tài liệu nội bộ.</a:t>
            </a:r>
          </a:p>
        </p:txBody>
      </p:sp>
      <p:sp>
        <p:nvSpPr>
          <p:cNvPr id="27" name="Text 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28" name="Text 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70707"/>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2926080" cy="182880"/>
          </a:xfrm>
          <a:prstGeom prst="rect">
            <a:avLst/>
          </a:prstGeom>
          <a:noFill/>
        </p:spPr>
        <p:txBody>
          <a:bodyPr wrap="square" lIns="27432" tIns="18288" rIns="27432" bIns="18288" anchor="t">
            <a:spAutoFit/>
          </a:bodyPr>
          <a:lstStyle/>
          <a:p>
            <a:pPr algn="l"/>
            <a:r>
              <a:rPr sz="750" b="1">
                <a:solidFill>
                  <a:srgbClr val="E8CF8B"/>
                </a:solidFill>
                <a:latin typeface="Inter"/>
              </a:rPr>
              <a:t>MONEYFEST BRAND MANUAL</a:t>
            </a:r>
          </a:p>
        </p:txBody>
      </p:sp>
      <p:sp>
        <p:nvSpPr>
          <p:cNvPr id="3" name="TextBox 2"/>
          <p:cNvSpPr txBox="1"/>
          <p:nvPr/>
        </p:nvSpPr>
        <p:spPr>
          <a:xfrm>
            <a:off x="411480" y="438912"/>
            <a:ext cx="2011680" cy="228600"/>
          </a:xfrm>
          <a:prstGeom prst="rect">
            <a:avLst/>
          </a:prstGeom>
          <a:noFill/>
        </p:spPr>
        <p:txBody>
          <a:bodyPr wrap="square" lIns="27432" tIns="18288" rIns="27432" bIns="18288" anchor="t">
            <a:spAutoFit/>
          </a:bodyPr>
          <a:lstStyle/>
          <a:p>
            <a:pPr algn="l"/>
            <a:r>
              <a:rPr sz="800" b="0">
                <a:solidFill>
                  <a:srgbClr val="66717A"/>
                </a:solidFill>
                <a:latin typeface="Inter"/>
              </a:rPr>
              <a:t>06 Logo System</a:t>
            </a:r>
          </a:p>
        </p:txBody>
      </p:sp>
      <p:sp>
        <p:nvSpPr>
          <p:cNvPr id="5" name="TextBox 4"/>
          <p:cNvSpPr txBox="1"/>
          <p:nvPr/>
        </p:nvSpPr>
        <p:spPr>
          <a:xfrm>
            <a:off x="658368" y="822960"/>
            <a:ext cx="4389120" cy="457200"/>
          </a:xfrm>
          <a:prstGeom prst="rect">
            <a:avLst/>
          </a:prstGeom>
          <a:noFill/>
        </p:spPr>
        <p:txBody>
          <a:bodyPr wrap="square" lIns="27432" tIns="18288" rIns="27432" bIns="18288" anchor="t">
            <a:spAutoFit/>
          </a:bodyPr>
          <a:lstStyle/>
          <a:p>
            <a:pPr algn="l"/>
            <a:r>
              <a:rPr sz="2200" b="0">
                <a:solidFill>
                  <a:srgbClr val="D4A83F"/>
                </a:solidFill>
                <a:latin typeface="SVN-Georgia"/>
              </a:rPr>
              <a:t>LOGO MISUSE</a:t>
            </a:r>
          </a:p>
        </p:txBody>
      </p:sp>
      <p:sp>
        <p:nvSpPr>
          <p:cNvPr id="6" name="TextBox 5"/>
          <p:cNvSpPr txBox="1"/>
          <p:nvPr/>
        </p:nvSpPr>
        <p:spPr>
          <a:xfrm>
            <a:off x="658368" y="1261872"/>
            <a:ext cx="6035040" cy="365760"/>
          </a:xfrm>
          <a:prstGeom prst="rect">
            <a:avLst/>
          </a:prstGeom>
          <a:noFill/>
        </p:spPr>
        <p:txBody>
          <a:bodyPr wrap="square" lIns="27432" tIns="18288" rIns="27432" bIns="18288" anchor="t">
            <a:spAutoFit/>
          </a:bodyPr>
          <a:lstStyle/>
          <a:p>
            <a:pPr algn="l"/>
            <a:r>
              <a:rPr sz="1050" b="0">
                <a:solidFill>
                  <a:srgbClr val="FFFFFF"/>
                </a:solidFill>
                <a:latin typeface="Inter"/>
              </a:rPr>
              <a:t>Những trường hợp không được sử dụng logo</a:t>
            </a:r>
          </a:p>
        </p:txBody>
      </p:sp>
      <p:sp>
        <p:nvSpPr>
          <p:cNvPr id="7" name="Rectangle 6"/>
          <p:cNvSpPr/>
          <p:nvPr/>
        </p:nvSpPr>
        <p:spPr>
          <a:xfrm>
            <a:off x="658368" y="1664208"/>
            <a:ext cx="1143000" cy="22860"/>
          </a:xfrm>
          <a:prstGeom prst="rect">
            <a:avLst/>
          </a:prstGeom>
          <a:solidFill>
            <a:srgbClr val="D4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1874519"/>
            <a:ext cx="2788920" cy="1417320"/>
          </a:xfrm>
          <a:prstGeom prst="roundRect">
            <a:avLst/>
          </a:prstGeom>
          <a:solidFill>
            <a:srgbClr val="071521"/>
          </a:solidFill>
          <a:ln w="6350">
            <a:solidFill>
              <a:srgbClr val="667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984248"/>
            <a:ext cx="274320" cy="320040"/>
          </a:xfrm>
          <a:prstGeom prst="rect">
            <a:avLst/>
          </a:prstGeom>
          <a:noFill/>
        </p:spPr>
        <p:txBody>
          <a:bodyPr wrap="square" lIns="27432" tIns="18288" rIns="27432" bIns="18288" anchor="t">
            <a:spAutoFit/>
          </a:bodyPr>
          <a:lstStyle/>
          <a:p>
            <a:pPr algn="l"/>
            <a:r>
              <a:rPr sz="1800" b="0">
                <a:solidFill>
                  <a:srgbClr val="D4A83F"/>
                </a:solidFill>
                <a:latin typeface="Inter"/>
              </a:rPr>
              <a:t>×</a:t>
            </a:r>
          </a:p>
        </p:txBody>
      </p:sp>
      <p:sp>
        <p:nvSpPr>
          <p:cNvPr id="12" name="TextBox 11"/>
          <p:cNvSpPr txBox="1"/>
          <p:nvPr/>
        </p:nvSpPr>
        <p:spPr>
          <a:xfrm>
            <a:off x="1280160" y="2039112"/>
            <a:ext cx="2011680" cy="274320"/>
          </a:xfrm>
          <a:prstGeom prst="rect">
            <a:avLst/>
          </a:prstGeom>
          <a:noFill/>
        </p:spPr>
        <p:txBody>
          <a:bodyPr wrap="square" lIns="27432" tIns="18288" rIns="27432" bIns="18288" anchor="t">
            <a:spAutoFit/>
          </a:bodyPr>
          <a:lstStyle/>
          <a:p>
            <a:pPr algn="l"/>
            <a:r>
              <a:rPr sz="1000" b="0">
                <a:solidFill>
                  <a:srgbClr val="D4A83F"/>
                </a:solidFill>
                <a:latin typeface="Inter"/>
              </a:rPr>
              <a:t>KHÔNG KÉO GIÃN</a:t>
            </a:r>
          </a:p>
        </p:txBody>
      </p:sp>
      <p:sp>
        <p:nvSpPr>
          <p:cNvPr id="13" name="TextBox 12"/>
          <p:cNvSpPr txBox="1"/>
          <p:nvPr/>
        </p:nvSpPr>
        <p:spPr>
          <a:xfrm>
            <a:off x="1280160" y="2377439"/>
            <a:ext cx="2057400" cy="457200"/>
          </a:xfrm>
          <a:prstGeom prst="rect">
            <a:avLst/>
          </a:prstGeom>
          <a:noFill/>
        </p:spPr>
        <p:txBody>
          <a:bodyPr wrap="square" lIns="27432" tIns="18288" rIns="27432" bIns="18288" anchor="t">
            <a:spAutoFit/>
          </a:bodyPr>
          <a:lstStyle/>
          <a:p>
            <a:pPr algn="l"/>
            <a:r>
              <a:rPr sz="850" b="0">
                <a:solidFill>
                  <a:srgbClr val="FFFFFF"/>
                </a:solidFill>
                <a:latin typeface="Inter"/>
              </a:rPr>
              <a:t>Không thay đổi tỷ lệ ngang/dọc.</a:t>
            </a:r>
          </a:p>
        </p:txBody>
      </p:sp>
      <p:sp>
        <p:nvSpPr>
          <p:cNvPr id="14" name="Rounded Rectangle 13"/>
          <p:cNvSpPr/>
          <p:nvPr/>
        </p:nvSpPr>
        <p:spPr>
          <a:xfrm>
            <a:off x="3977639" y="1874519"/>
            <a:ext cx="2788920" cy="1417320"/>
          </a:xfrm>
          <a:prstGeom prst="roundRect">
            <a:avLst/>
          </a:prstGeom>
          <a:solidFill>
            <a:srgbClr val="071521"/>
          </a:solidFill>
          <a:ln w="6350">
            <a:solidFill>
              <a:srgbClr val="667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0" y="1984248"/>
            <a:ext cx="274320" cy="320040"/>
          </a:xfrm>
          <a:prstGeom prst="rect">
            <a:avLst/>
          </a:prstGeom>
          <a:noFill/>
        </p:spPr>
        <p:txBody>
          <a:bodyPr wrap="square" lIns="27432" tIns="18288" rIns="27432" bIns="18288" anchor="t">
            <a:spAutoFit/>
          </a:bodyPr>
          <a:lstStyle/>
          <a:p>
            <a:pPr algn="l"/>
            <a:r>
              <a:rPr sz="1800" b="0">
                <a:solidFill>
                  <a:srgbClr val="D4A83F"/>
                </a:solidFill>
                <a:latin typeface="Inter"/>
              </a:rPr>
              <a:t>×</a:t>
            </a:r>
          </a:p>
        </p:txBody>
      </p:sp>
      <p:sp>
        <p:nvSpPr>
          <p:cNvPr id="16" name="TextBox 15"/>
          <p:cNvSpPr txBox="1"/>
          <p:nvPr/>
        </p:nvSpPr>
        <p:spPr>
          <a:xfrm>
            <a:off x="4480559" y="2039112"/>
            <a:ext cx="2011680" cy="274320"/>
          </a:xfrm>
          <a:prstGeom prst="rect">
            <a:avLst/>
          </a:prstGeom>
          <a:noFill/>
        </p:spPr>
        <p:txBody>
          <a:bodyPr wrap="square" lIns="27432" tIns="18288" rIns="27432" bIns="18288" anchor="t">
            <a:spAutoFit/>
          </a:bodyPr>
          <a:lstStyle/>
          <a:p>
            <a:pPr algn="l"/>
            <a:r>
              <a:rPr sz="1000" b="0">
                <a:solidFill>
                  <a:srgbClr val="D4A83F"/>
                </a:solidFill>
                <a:latin typeface="Inter"/>
              </a:rPr>
              <a:t>KHÔNG ĐỔI MÀU TÙY Ý</a:t>
            </a:r>
          </a:p>
        </p:txBody>
      </p:sp>
      <p:sp>
        <p:nvSpPr>
          <p:cNvPr id="17" name="TextBox 16"/>
          <p:cNvSpPr txBox="1"/>
          <p:nvPr/>
        </p:nvSpPr>
        <p:spPr>
          <a:xfrm>
            <a:off x="4480559" y="2377439"/>
            <a:ext cx="2057400" cy="457200"/>
          </a:xfrm>
          <a:prstGeom prst="rect">
            <a:avLst/>
          </a:prstGeom>
          <a:noFill/>
        </p:spPr>
        <p:txBody>
          <a:bodyPr wrap="square" lIns="27432" tIns="18288" rIns="27432" bIns="18288" anchor="t">
            <a:spAutoFit/>
          </a:bodyPr>
          <a:lstStyle/>
          <a:p>
            <a:pPr algn="l"/>
            <a:r>
              <a:rPr sz="850" b="0">
                <a:solidFill>
                  <a:srgbClr val="FFFFFF"/>
                </a:solidFill>
                <a:latin typeface="Inter"/>
              </a:rPr>
              <a:t>Không dùng gradient, màu neon hoặc màu ngoài palette.</a:t>
            </a:r>
          </a:p>
        </p:txBody>
      </p:sp>
      <p:sp>
        <p:nvSpPr>
          <p:cNvPr id="18" name="Rounded Rectangle 17"/>
          <p:cNvSpPr/>
          <p:nvPr/>
        </p:nvSpPr>
        <p:spPr>
          <a:xfrm>
            <a:off x="7178040" y="1874519"/>
            <a:ext cx="2788920" cy="1417320"/>
          </a:xfrm>
          <a:prstGeom prst="roundRect">
            <a:avLst/>
          </a:prstGeom>
          <a:solidFill>
            <a:srgbClr val="071521"/>
          </a:solidFill>
          <a:ln w="6350">
            <a:solidFill>
              <a:srgbClr val="667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0" y="1984248"/>
            <a:ext cx="274320" cy="320040"/>
          </a:xfrm>
          <a:prstGeom prst="rect">
            <a:avLst/>
          </a:prstGeom>
          <a:noFill/>
        </p:spPr>
        <p:txBody>
          <a:bodyPr wrap="square" lIns="27432" tIns="18288" rIns="27432" bIns="18288" anchor="t">
            <a:spAutoFit/>
          </a:bodyPr>
          <a:lstStyle/>
          <a:p>
            <a:pPr algn="l"/>
            <a:r>
              <a:rPr sz="1800" b="0">
                <a:solidFill>
                  <a:srgbClr val="D4A83F"/>
                </a:solidFill>
                <a:latin typeface="Inter"/>
              </a:rPr>
              <a:t>×</a:t>
            </a:r>
          </a:p>
        </p:txBody>
      </p:sp>
      <p:sp>
        <p:nvSpPr>
          <p:cNvPr id="20" name="TextBox 19"/>
          <p:cNvSpPr txBox="1"/>
          <p:nvPr/>
        </p:nvSpPr>
        <p:spPr>
          <a:xfrm>
            <a:off x="7680960" y="2039112"/>
            <a:ext cx="2011680" cy="274320"/>
          </a:xfrm>
          <a:prstGeom prst="rect">
            <a:avLst/>
          </a:prstGeom>
          <a:noFill/>
        </p:spPr>
        <p:txBody>
          <a:bodyPr wrap="square" lIns="27432" tIns="18288" rIns="27432" bIns="18288" anchor="t">
            <a:spAutoFit/>
          </a:bodyPr>
          <a:lstStyle/>
          <a:p>
            <a:pPr algn="l"/>
            <a:r>
              <a:rPr sz="1000" b="0">
                <a:solidFill>
                  <a:srgbClr val="D4A83F"/>
                </a:solidFill>
                <a:latin typeface="Inter"/>
              </a:rPr>
              <a:t>KHÔNG THÊM HIỆU ỨNG</a:t>
            </a:r>
          </a:p>
        </p:txBody>
      </p:sp>
      <p:sp>
        <p:nvSpPr>
          <p:cNvPr id="21" name="TextBox 20"/>
          <p:cNvSpPr txBox="1"/>
          <p:nvPr/>
        </p:nvSpPr>
        <p:spPr>
          <a:xfrm>
            <a:off x="7680960" y="2377439"/>
            <a:ext cx="2057400" cy="457200"/>
          </a:xfrm>
          <a:prstGeom prst="rect">
            <a:avLst/>
          </a:prstGeom>
          <a:noFill/>
        </p:spPr>
        <p:txBody>
          <a:bodyPr wrap="square" lIns="27432" tIns="18288" rIns="27432" bIns="18288" anchor="t">
            <a:spAutoFit/>
          </a:bodyPr>
          <a:lstStyle/>
          <a:p>
            <a:pPr algn="l"/>
            <a:r>
              <a:rPr sz="850" b="0">
                <a:solidFill>
                  <a:srgbClr val="FFFFFF"/>
                </a:solidFill>
                <a:latin typeface="Inter"/>
              </a:rPr>
              <a:t>Không thêm bóng đổ, glow hoặc bevel ngoài file gốc.</a:t>
            </a:r>
          </a:p>
        </p:txBody>
      </p:sp>
      <p:sp>
        <p:nvSpPr>
          <p:cNvPr id="22" name="Rounded Rectangle 21"/>
          <p:cNvSpPr/>
          <p:nvPr/>
        </p:nvSpPr>
        <p:spPr>
          <a:xfrm>
            <a:off x="777240" y="3794760"/>
            <a:ext cx="2788920" cy="1417320"/>
          </a:xfrm>
          <a:prstGeom prst="roundRect">
            <a:avLst/>
          </a:prstGeom>
          <a:solidFill>
            <a:srgbClr val="071521"/>
          </a:solidFill>
          <a:ln w="6350">
            <a:solidFill>
              <a:srgbClr val="667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3904488"/>
            <a:ext cx="274320" cy="320040"/>
          </a:xfrm>
          <a:prstGeom prst="rect">
            <a:avLst/>
          </a:prstGeom>
          <a:noFill/>
        </p:spPr>
        <p:txBody>
          <a:bodyPr wrap="square" lIns="27432" tIns="18288" rIns="27432" bIns="18288" anchor="t">
            <a:spAutoFit/>
          </a:bodyPr>
          <a:lstStyle/>
          <a:p>
            <a:pPr algn="l"/>
            <a:r>
              <a:rPr sz="1800" b="0">
                <a:solidFill>
                  <a:srgbClr val="D4A83F"/>
                </a:solidFill>
                <a:latin typeface="Inter"/>
              </a:rPr>
              <a:t>×</a:t>
            </a:r>
          </a:p>
        </p:txBody>
      </p:sp>
      <p:sp>
        <p:nvSpPr>
          <p:cNvPr id="24" name="TextBox 23"/>
          <p:cNvSpPr txBox="1"/>
          <p:nvPr/>
        </p:nvSpPr>
        <p:spPr>
          <a:xfrm>
            <a:off x="1280160" y="3959352"/>
            <a:ext cx="2011680" cy="274320"/>
          </a:xfrm>
          <a:prstGeom prst="rect">
            <a:avLst/>
          </a:prstGeom>
          <a:noFill/>
        </p:spPr>
        <p:txBody>
          <a:bodyPr wrap="square" lIns="27432" tIns="18288" rIns="27432" bIns="18288" anchor="t">
            <a:spAutoFit/>
          </a:bodyPr>
          <a:lstStyle/>
          <a:p>
            <a:pPr algn="l"/>
            <a:r>
              <a:rPr sz="1000" b="0">
                <a:solidFill>
                  <a:srgbClr val="D4A83F"/>
                </a:solidFill>
                <a:latin typeface="Inter"/>
              </a:rPr>
              <a:t>KHÔNG ĐẶT TRÊN NỀN RỐI</a:t>
            </a:r>
          </a:p>
        </p:txBody>
      </p:sp>
      <p:sp>
        <p:nvSpPr>
          <p:cNvPr id="25" name="TextBox 24"/>
          <p:cNvSpPr txBox="1"/>
          <p:nvPr/>
        </p:nvSpPr>
        <p:spPr>
          <a:xfrm>
            <a:off x="1280160" y="4297680"/>
            <a:ext cx="2057400" cy="457200"/>
          </a:xfrm>
          <a:prstGeom prst="rect">
            <a:avLst/>
          </a:prstGeom>
          <a:noFill/>
        </p:spPr>
        <p:txBody>
          <a:bodyPr wrap="square" lIns="27432" tIns="18288" rIns="27432" bIns="18288" anchor="t">
            <a:spAutoFit/>
          </a:bodyPr>
          <a:lstStyle/>
          <a:p>
            <a:pPr algn="l"/>
            <a:r>
              <a:rPr sz="850" b="0">
                <a:solidFill>
                  <a:srgbClr val="FFFFFF"/>
                </a:solidFill>
                <a:latin typeface="Inter"/>
              </a:rPr>
              <a:t>Không đặt logo lên ảnh có độ tương phản thấp.</a:t>
            </a:r>
          </a:p>
        </p:txBody>
      </p:sp>
      <p:sp>
        <p:nvSpPr>
          <p:cNvPr id="26" name="Rounded Rectangle 25"/>
          <p:cNvSpPr/>
          <p:nvPr/>
        </p:nvSpPr>
        <p:spPr>
          <a:xfrm>
            <a:off x="3977639" y="3794760"/>
            <a:ext cx="2788920" cy="1417320"/>
          </a:xfrm>
          <a:prstGeom prst="roundRect">
            <a:avLst/>
          </a:prstGeom>
          <a:solidFill>
            <a:srgbClr val="071521"/>
          </a:solidFill>
          <a:ln w="6350">
            <a:solidFill>
              <a:srgbClr val="667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0" y="3904488"/>
            <a:ext cx="274320" cy="320040"/>
          </a:xfrm>
          <a:prstGeom prst="rect">
            <a:avLst/>
          </a:prstGeom>
          <a:noFill/>
        </p:spPr>
        <p:txBody>
          <a:bodyPr wrap="square" lIns="27432" tIns="18288" rIns="27432" bIns="18288" anchor="t">
            <a:spAutoFit/>
          </a:bodyPr>
          <a:lstStyle/>
          <a:p>
            <a:pPr algn="l"/>
            <a:r>
              <a:rPr sz="1800" b="0">
                <a:solidFill>
                  <a:srgbClr val="D4A83F"/>
                </a:solidFill>
                <a:latin typeface="Inter"/>
              </a:rPr>
              <a:t>×</a:t>
            </a:r>
          </a:p>
        </p:txBody>
      </p:sp>
      <p:sp>
        <p:nvSpPr>
          <p:cNvPr id="28" name="TextBox 27"/>
          <p:cNvSpPr txBox="1"/>
          <p:nvPr/>
        </p:nvSpPr>
        <p:spPr>
          <a:xfrm>
            <a:off x="4480559" y="3959352"/>
            <a:ext cx="2011680" cy="274320"/>
          </a:xfrm>
          <a:prstGeom prst="rect">
            <a:avLst/>
          </a:prstGeom>
          <a:noFill/>
        </p:spPr>
        <p:txBody>
          <a:bodyPr wrap="square" lIns="27432" tIns="18288" rIns="27432" bIns="18288" anchor="t">
            <a:spAutoFit/>
          </a:bodyPr>
          <a:lstStyle/>
          <a:p>
            <a:pPr algn="l"/>
            <a:r>
              <a:rPr sz="1000" b="0">
                <a:solidFill>
                  <a:srgbClr val="D4A83F"/>
                </a:solidFill>
                <a:latin typeface="Inter"/>
              </a:rPr>
              <a:t>KHÔNG TÁCH THÀNH PHẦN</a:t>
            </a:r>
          </a:p>
        </p:txBody>
      </p:sp>
      <p:sp>
        <p:nvSpPr>
          <p:cNvPr id="29" name="TextBox 28"/>
          <p:cNvSpPr txBox="1"/>
          <p:nvPr/>
        </p:nvSpPr>
        <p:spPr>
          <a:xfrm>
            <a:off x="4480559" y="4297680"/>
            <a:ext cx="2057400" cy="457200"/>
          </a:xfrm>
          <a:prstGeom prst="rect">
            <a:avLst/>
          </a:prstGeom>
          <a:noFill/>
        </p:spPr>
        <p:txBody>
          <a:bodyPr wrap="square" lIns="27432" tIns="18288" rIns="27432" bIns="18288" anchor="t">
            <a:spAutoFit/>
          </a:bodyPr>
          <a:lstStyle/>
          <a:p>
            <a:pPr algn="l"/>
            <a:r>
              <a:rPr sz="850" b="0">
                <a:solidFill>
                  <a:srgbClr val="FFFFFF"/>
                </a:solidFill>
                <a:latin typeface="Inter"/>
              </a:rPr>
              <a:t>Không tách M, sao hoặc vòng tròn khi không có quy chuẩn.</a:t>
            </a:r>
          </a:p>
        </p:txBody>
      </p:sp>
      <p:sp>
        <p:nvSpPr>
          <p:cNvPr id="30" name="Rounded Rectangle 29"/>
          <p:cNvSpPr/>
          <p:nvPr/>
        </p:nvSpPr>
        <p:spPr>
          <a:xfrm>
            <a:off x="7178040" y="3794760"/>
            <a:ext cx="2788920" cy="1417320"/>
          </a:xfrm>
          <a:prstGeom prst="roundRect">
            <a:avLst/>
          </a:prstGeom>
          <a:solidFill>
            <a:srgbClr val="071521"/>
          </a:solidFill>
          <a:ln w="6350">
            <a:solidFill>
              <a:srgbClr val="667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0" y="3904488"/>
            <a:ext cx="274320" cy="320040"/>
          </a:xfrm>
          <a:prstGeom prst="rect">
            <a:avLst/>
          </a:prstGeom>
          <a:noFill/>
        </p:spPr>
        <p:txBody>
          <a:bodyPr wrap="square" lIns="27432" tIns="18288" rIns="27432" bIns="18288" anchor="t">
            <a:spAutoFit/>
          </a:bodyPr>
          <a:lstStyle/>
          <a:p>
            <a:pPr algn="l"/>
            <a:r>
              <a:rPr sz="1800" b="0">
                <a:solidFill>
                  <a:srgbClr val="D4A83F"/>
                </a:solidFill>
                <a:latin typeface="Inter"/>
              </a:rPr>
              <a:t>×</a:t>
            </a:r>
          </a:p>
        </p:txBody>
      </p:sp>
      <p:sp>
        <p:nvSpPr>
          <p:cNvPr id="32" name="TextBox 31"/>
          <p:cNvSpPr txBox="1"/>
          <p:nvPr/>
        </p:nvSpPr>
        <p:spPr>
          <a:xfrm>
            <a:off x="7680960" y="3959352"/>
            <a:ext cx="2011680" cy="274320"/>
          </a:xfrm>
          <a:prstGeom prst="rect">
            <a:avLst/>
          </a:prstGeom>
          <a:noFill/>
        </p:spPr>
        <p:txBody>
          <a:bodyPr wrap="square" lIns="27432" tIns="18288" rIns="27432" bIns="18288" anchor="t">
            <a:spAutoFit/>
          </a:bodyPr>
          <a:lstStyle/>
          <a:p>
            <a:pPr algn="l"/>
            <a:r>
              <a:rPr sz="1000" b="0">
                <a:solidFill>
                  <a:srgbClr val="D4A83F"/>
                </a:solidFill>
                <a:latin typeface="Inter"/>
              </a:rPr>
              <a:t>KHÔNG THU NHỎ TAGLINE</a:t>
            </a:r>
          </a:p>
        </p:txBody>
      </p:sp>
      <p:sp>
        <p:nvSpPr>
          <p:cNvPr id="33" name="TextBox 32"/>
          <p:cNvSpPr txBox="1"/>
          <p:nvPr/>
        </p:nvSpPr>
        <p:spPr>
          <a:xfrm>
            <a:off x="7680960" y="4297680"/>
            <a:ext cx="2057400" cy="457200"/>
          </a:xfrm>
          <a:prstGeom prst="rect">
            <a:avLst/>
          </a:prstGeom>
          <a:noFill/>
        </p:spPr>
        <p:txBody>
          <a:bodyPr wrap="square" lIns="27432" tIns="18288" rIns="27432" bIns="18288" anchor="t">
            <a:spAutoFit/>
          </a:bodyPr>
          <a:lstStyle/>
          <a:p>
            <a:pPr algn="l"/>
            <a:r>
              <a:rPr sz="850" b="0">
                <a:solidFill>
                  <a:srgbClr val="FFFFFF"/>
                </a:solidFill>
                <a:latin typeface="Inter"/>
              </a:rPr>
              <a:t>Không dùng tagline nếu kích thước không đủ đọc.</a:t>
            </a:r>
          </a:p>
        </p:txBody>
      </p:sp>
      <p:sp>
        <p:nvSpPr>
          <p:cNvPr id="34" name="Text 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35" name="Text 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70707"/>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2926080" cy="182880"/>
          </a:xfrm>
          <a:prstGeom prst="rect">
            <a:avLst/>
          </a:prstGeom>
          <a:noFill/>
        </p:spPr>
        <p:txBody>
          <a:bodyPr wrap="square" lIns="27432" tIns="18288" rIns="27432" bIns="18288" anchor="t">
            <a:spAutoFit/>
          </a:bodyPr>
          <a:lstStyle/>
          <a:p>
            <a:pPr algn="l"/>
            <a:r>
              <a:rPr sz="750" b="1">
                <a:solidFill>
                  <a:srgbClr val="E8CF8B"/>
                </a:solidFill>
                <a:latin typeface="Inter"/>
              </a:rPr>
              <a:t>MONEYFEST BRAND MANUAL</a:t>
            </a:r>
          </a:p>
        </p:txBody>
      </p:sp>
      <p:sp>
        <p:nvSpPr>
          <p:cNvPr id="3" name="TextBox 2"/>
          <p:cNvSpPr txBox="1"/>
          <p:nvPr/>
        </p:nvSpPr>
        <p:spPr>
          <a:xfrm>
            <a:off x="411480" y="438912"/>
            <a:ext cx="2011680" cy="228600"/>
          </a:xfrm>
          <a:prstGeom prst="rect">
            <a:avLst/>
          </a:prstGeom>
          <a:noFill/>
        </p:spPr>
        <p:txBody>
          <a:bodyPr wrap="square" lIns="27432" tIns="18288" rIns="27432" bIns="18288" anchor="t">
            <a:spAutoFit/>
          </a:bodyPr>
          <a:lstStyle/>
          <a:p>
            <a:pPr algn="l"/>
            <a:r>
              <a:rPr sz="800" b="0">
                <a:solidFill>
                  <a:srgbClr val="66717A"/>
                </a:solidFill>
                <a:latin typeface="Inter"/>
              </a:rPr>
              <a:t>06 Logo System</a:t>
            </a:r>
          </a:p>
        </p:txBody>
      </p:sp>
      <p:sp>
        <p:nvSpPr>
          <p:cNvPr id="5" name="TextBox 4"/>
          <p:cNvSpPr txBox="1"/>
          <p:nvPr/>
        </p:nvSpPr>
        <p:spPr>
          <a:xfrm>
            <a:off x="658368" y="822960"/>
            <a:ext cx="4389120" cy="457200"/>
          </a:xfrm>
          <a:prstGeom prst="rect">
            <a:avLst/>
          </a:prstGeom>
          <a:noFill/>
        </p:spPr>
        <p:txBody>
          <a:bodyPr wrap="square" lIns="27432" tIns="18288" rIns="27432" bIns="18288" anchor="t">
            <a:spAutoFit/>
          </a:bodyPr>
          <a:lstStyle/>
          <a:p>
            <a:pPr algn="l"/>
            <a:r>
              <a:rPr sz="2200" b="0">
                <a:solidFill>
                  <a:srgbClr val="D4A83F"/>
                </a:solidFill>
                <a:latin typeface="SVN-Georgia"/>
              </a:rPr>
              <a:t>TYPOGRAPHY SYSTEM</a:t>
            </a:r>
          </a:p>
        </p:txBody>
      </p:sp>
      <p:sp>
        <p:nvSpPr>
          <p:cNvPr id="6" name="TextBox 5"/>
          <p:cNvSpPr txBox="1"/>
          <p:nvPr/>
        </p:nvSpPr>
        <p:spPr>
          <a:xfrm>
            <a:off x="658368" y="1261872"/>
            <a:ext cx="6035040" cy="365760"/>
          </a:xfrm>
          <a:prstGeom prst="rect">
            <a:avLst/>
          </a:prstGeom>
          <a:noFill/>
        </p:spPr>
        <p:txBody>
          <a:bodyPr wrap="square" lIns="27432" tIns="18288" rIns="27432" bIns="18288" anchor="t">
            <a:spAutoFit/>
          </a:bodyPr>
          <a:lstStyle/>
          <a:p>
            <a:pPr algn="l"/>
            <a:r>
              <a:rPr sz="1050" b="0">
                <a:solidFill>
                  <a:srgbClr val="FFFFFF"/>
                </a:solidFill>
                <a:latin typeface="Inter"/>
              </a:rPr>
              <a:t>Bộ chữ chuẩn hóa theo tinh thần website Moneyfest</a:t>
            </a:r>
          </a:p>
        </p:txBody>
      </p:sp>
      <p:sp>
        <p:nvSpPr>
          <p:cNvPr id="7" name="Rectangle 6"/>
          <p:cNvSpPr/>
          <p:nvPr/>
        </p:nvSpPr>
        <p:spPr>
          <a:xfrm>
            <a:off x="658368" y="1664208"/>
            <a:ext cx="1143000" cy="22860"/>
          </a:xfrm>
          <a:prstGeom prst="rect">
            <a:avLst/>
          </a:prstGeom>
          <a:solidFill>
            <a:srgbClr val="D4A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828800"/>
            <a:ext cx="2103120" cy="228600"/>
          </a:xfrm>
          <a:prstGeom prst="rect">
            <a:avLst/>
          </a:prstGeom>
          <a:noFill/>
        </p:spPr>
        <p:txBody>
          <a:bodyPr wrap="square" lIns="27432" tIns="18288" rIns="27432" bIns="18288" anchor="t">
            <a:spAutoFit/>
          </a:bodyPr>
          <a:lstStyle/>
          <a:p>
            <a:pPr algn="l"/>
            <a:r>
              <a:rPr sz="900" b="1">
                <a:solidFill>
                  <a:srgbClr val="E8CF8B"/>
                </a:solidFill>
                <a:latin typeface="Inter"/>
              </a:rPr>
              <a:t>DISPLAY SERIF</a:t>
            </a:r>
          </a:p>
        </p:txBody>
      </p:sp>
      <p:sp>
        <p:nvSpPr>
          <p:cNvPr id="11" name="TextBox 10"/>
          <p:cNvSpPr txBox="1"/>
          <p:nvPr/>
        </p:nvSpPr>
        <p:spPr>
          <a:xfrm>
            <a:off x="822960" y="2103120"/>
            <a:ext cx="4572000" cy="375487"/>
          </a:xfrm>
          <a:prstGeom prst="rect">
            <a:avLst/>
          </a:prstGeom>
          <a:noFill/>
        </p:spPr>
        <p:txBody>
          <a:bodyPr wrap="square" lIns="27432" tIns="18288" rIns="27432" bIns="18288" anchor="t">
            <a:spAutoFit/>
          </a:bodyPr>
          <a:lstStyle/>
          <a:p>
            <a:pPr algn="l"/>
            <a:r>
              <a:rPr sz="2200" b="0" dirty="0" smtClean="0">
                <a:solidFill>
                  <a:srgbClr val="D4A83F"/>
                </a:solidFill>
                <a:latin typeface="Inter"/>
              </a:rPr>
              <a:t>SVN-Georgia</a:t>
            </a:r>
            <a:endParaRPr sz="2200" b="0" dirty="0">
              <a:solidFill>
                <a:srgbClr val="D4A83F"/>
              </a:solidFill>
              <a:latin typeface="Inter"/>
            </a:endParaRPr>
          </a:p>
        </p:txBody>
      </p:sp>
      <p:sp>
        <p:nvSpPr>
          <p:cNvPr id="12" name="TextBox 11"/>
          <p:cNvSpPr txBox="1"/>
          <p:nvPr/>
        </p:nvSpPr>
        <p:spPr>
          <a:xfrm>
            <a:off x="822960" y="2606040"/>
            <a:ext cx="4114800" cy="502920"/>
          </a:xfrm>
          <a:prstGeom prst="rect">
            <a:avLst/>
          </a:prstGeom>
          <a:noFill/>
        </p:spPr>
        <p:txBody>
          <a:bodyPr wrap="square" lIns="27432" tIns="18288" rIns="27432" bIns="18288" anchor="t">
            <a:spAutoFit/>
          </a:bodyPr>
          <a:lstStyle/>
          <a:p>
            <a:pPr algn="l"/>
            <a:r>
              <a:rPr sz="919" b="0">
                <a:solidFill>
                  <a:srgbClr val="FFFFFF"/>
                </a:solidFill>
                <a:latin typeface="Inter"/>
              </a:rPr>
              <a:t>Dùng cho: cover title, section title, quote, headline cao cấp. Tinh thần: cổ điển, thông thái, premium.</a:t>
            </a:r>
          </a:p>
        </p:txBody>
      </p:sp>
      <p:sp>
        <p:nvSpPr>
          <p:cNvPr id="13" name="TextBox 12"/>
          <p:cNvSpPr txBox="1"/>
          <p:nvPr/>
        </p:nvSpPr>
        <p:spPr>
          <a:xfrm>
            <a:off x="5669280" y="1828800"/>
            <a:ext cx="2103120" cy="228600"/>
          </a:xfrm>
          <a:prstGeom prst="rect">
            <a:avLst/>
          </a:prstGeom>
          <a:noFill/>
        </p:spPr>
        <p:txBody>
          <a:bodyPr wrap="square" lIns="27432" tIns="18288" rIns="27432" bIns="18288" anchor="t">
            <a:spAutoFit/>
          </a:bodyPr>
          <a:lstStyle/>
          <a:p>
            <a:pPr algn="l"/>
            <a:r>
              <a:rPr sz="900" b="1">
                <a:solidFill>
                  <a:srgbClr val="E8CF8B"/>
                </a:solidFill>
                <a:latin typeface="Inter"/>
              </a:rPr>
              <a:t>SANS SERIF</a:t>
            </a:r>
          </a:p>
        </p:txBody>
      </p:sp>
      <p:sp>
        <p:nvSpPr>
          <p:cNvPr id="14" name="TextBox 13"/>
          <p:cNvSpPr txBox="1"/>
          <p:nvPr/>
        </p:nvSpPr>
        <p:spPr>
          <a:xfrm>
            <a:off x="5669280" y="2103120"/>
            <a:ext cx="4572000" cy="457200"/>
          </a:xfrm>
          <a:prstGeom prst="rect">
            <a:avLst/>
          </a:prstGeom>
          <a:noFill/>
        </p:spPr>
        <p:txBody>
          <a:bodyPr wrap="square" lIns="27432" tIns="18288" rIns="27432" bIns="18288" anchor="t">
            <a:spAutoFit/>
          </a:bodyPr>
          <a:lstStyle/>
          <a:p>
            <a:pPr algn="l"/>
            <a:r>
              <a:rPr sz="2200" b="1">
                <a:solidFill>
                  <a:srgbClr val="FFFFFF"/>
                </a:solidFill>
                <a:latin typeface="Inter"/>
              </a:rPr>
              <a:t>Inter</a:t>
            </a:r>
          </a:p>
        </p:txBody>
      </p:sp>
      <p:sp>
        <p:nvSpPr>
          <p:cNvPr id="15" name="TextBox 14"/>
          <p:cNvSpPr txBox="1"/>
          <p:nvPr/>
        </p:nvSpPr>
        <p:spPr>
          <a:xfrm>
            <a:off x="5669280" y="2606040"/>
            <a:ext cx="4114800" cy="502920"/>
          </a:xfrm>
          <a:prstGeom prst="rect">
            <a:avLst/>
          </a:prstGeom>
          <a:noFill/>
        </p:spPr>
        <p:txBody>
          <a:bodyPr wrap="square" lIns="27432" tIns="18288" rIns="27432" bIns="18288" anchor="t">
            <a:spAutoFit/>
          </a:bodyPr>
          <a:lstStyle/>
          <a:p>
            <a:pPr algn="l"/>
            <a:r>
              <a:rPr sz="919" b="0">
                <a:solidFill>
                  <a:srgbClr val="FFFFFF"/>
                </a:solidFill>
                <a:latin typeface="Inter"/>
              </a:rPr>
              <a:t>Dùng cho: body text, bullet, bảng, CTA, caption, thông tin liên hệ. Tinh thần: rõ ràng, dễ đọc, thực chiến.</a:t>
            </a:r>
          </a:p>
        </p:txBody>
      </p:sp>
      <p:sp>
        <p:nvSpPr>
          <p:cNvPr id="16" name="TextBox 15"/>
          <p:cNvSpPr txBox="1"/>
          <p:nvPr/>
        </p:nvSpPr>
        <p:spPr>
          <a:xfrm>
            <a:off x="822960" y="3703320"/>
            <a:ext cx="3291840" cy="274320"/>
          </a:xfrm>
          <a:prstGeom prst="rect">
            <a:avLst/>
          </a:prstGeom>
          <a:noFill/>
        </p:spPr>
        <p:txBody>
          <a:bodyPr wrap="square" lIns="27432" tIns="18288" rIns="27432" bIns="18288" anchor="t">
            <a:spAutoFit/>
          </a:bodyPr>
          <a:lstStyle/>
          <a:p>
            <a:pPr algn="l"/>
            <a:r>
              <a:rPr sz="1300" b="0">
                <a:solidFill>
                  <a:srgbClr val="D4A83F"/>
                </a:solidFill>
                <a:latin typeface="Inter"/>
              </a:rPr>
              <a:t>WEBSITE-ALIGNED HIERARCHY</a:t>
            </a:r>
          </a:p>
        </p:txBody>
      </p:sp>
      <p:sp>
        <p:nvSpPr>
          <p:cNvPr id="17" name="TextBox 16"/>
          <p:cNvSpPr txBox="1"/>
          <p:nvPr/>
        </p:nvSpPr>
        <p:spPr>
          <a:xfrm>
            <a:off x="1005840" y="4096512"/>
            <a:ext cx="1920240" cy="228600"/>
          </a:xfrm>
          <a:prstGeom prst="rect">
            <a:avLst/>
          </a:prstGeom>
          <a:noFill/>
        </p:spPr>
        <p:txBody>
          <a:bodyPr wrap="square" lIns="27432" tIns="18288" rIns="27432" bIns="18288" anchor="t">
            <a:spAutoFit/>
          </a:bodyPr>
          <a:lstStyle/>
          <a:p>
            <a:pPr algn="l"/>
            <a:r>
              <a:rPr sz="860" b="1">
                <a:solidFill>
                  <a:srgbClr val="E8CF8B"/>
                </a:solidFill>
                <a:latin typeface="Inter"/>
              </a:rPr>
              <a:t>Hero / Cover</a:t>
            </a:r>
          </a:p>
        </p:txBody>
      </p:sp>
      <p:sp>
        <p:nvSpPr>
          <p:cNvPr id="18" name="TextBox 17"/>
          <p:cNvSpPr txBox="1"/>
          <p:nvPr/>
        </p:nvSpPr>
        <p:spPr>
          <a:xfrm>
            <a:off x="2880360" y="4096512"/>
            <a:ext cx="1828800" cy="228600"/>
          </a:xfrm>
          <a:prstGeom prst="rect">
            <a:avLst/>
          </a:prstGeom>
          <a:noFill/>
        </p:spPr>
        <p:txBody>
          <a:bodyPr wrap="square" lIns="27432" tIns="18288" rIns="27432" bIns="18288" anchor="t">
            <a:spAutoFit/>
          </a:bodyPr>
          <a:lstStyle/>
          <a:p>
            <a:pPr algn="l"/>
            <a:r>
              <a:rPr sz="860" b="0">
                <a:solidFill>
                  <a:srgbClr val="FFFFFF"/>
                </a:solidFill>
                <a:latin typeface="Inter"/>
              </a:rPr>
              <a:t>SVN-Georgia 44–56 pt</a:t>
            </a:r>
          </a:p>
        </p:txBody>
      </p:sp>
      <p:sp>
        <p:nvSpPr>
          <p:cNvPr id="19" name="TextBox 18"/>
          <p:cNvSpPr txBox="1"/>
          <p:nvPr/>
        </p:nvSpPr>
        <p:spPr>
          <a:xfrm>
            <a:off x="4663440" y="4096512"/>
            <a:ext cx="4389120" cy="228600"/>
          </a:xfrm>
          <a:prstGeom prst="rect">
            <a:avLst/>
          </a:prstGeom>
          <a:noFill/>
        </p:spPr>
        <p:txBody>
          <a:bodyPr wrap="square" lIns="27432" tIns="18288" rIns="27432" bIns="18288" anchor="t">
            <a:spAutoFit/>
          </a:bodyPr>
          <a:lstStyle/>
          <a:p>
            <a:pPr algn="l"/>
            <a:r>
              <a:rPr sz="860" b="0">
                <a:solidFill>
                  <a:srgbClr val="66717A"/>
                </a:solidFill>
                <a:latin typeface="Inter"/>
              </a:rPr>
              <a:t>Tracking nhẹ, uppercase khi cần</a:t>
            </a:r>
          </a:p>
        </p:txBody>
      </p:sp>
      <p:sp>
        <p:nvSpPr>
          <p:cNvPr id="20" name="TextBox 19"/>
          <p:cNvSpPr txBox="1"/>
          <p:nvPr/>
        </p:nvSpPr>
        <p:spPr>
          <a:xfrm>
            <a:off x="1005840" y="4389120"/>
            <a:ext cx="1920240" cy="228600"/>
          </a:xfrm>
          <a:prstGeom prst="rect">
            <a:avLst/>
          </a:prstGeom>
          <a:noFill/>
        </p:spPr>
        <p:txBody>
          <a:bodyPr wrap="square" lIns="27432" tIns="18288" rIns="27432" bIns="18288" anchor="t">
            <a:spAutoFit/>
          </a:bodyPr>
          <a:lstStyle/>
          <a:p>
            <a:pPr algn="l"/>
            <a:r>
              <a:rPr sz="860" b="1">
                <a:solidFill>
                  <a:srgbClr val="E8CF8B"/>
                </a:solidFill>
                <a:latin typeface="Inter"/>
              </a:rPr>
              <a:t>Section Title</a:t>
            </a:r>
          </a:p>
        </p:txBody>
      </p:sp>
      <p:sp>
        <p:nvSpPr>
          <p:cNvPr id="21" name="TextBox 20"/>
          <p:cNvSpPr txBox="1"/>
          <p:nvPr/>
        </p:nvSpPr>
        <p:spPr>
          <a:xfrm>
            <a:off x="2880360" y="4389120"/>
            <a:ext cx="1828800" cy="228600"/>
          </a:xfrm>
          <a:prstGeom prst="rect">
            <a:avLst/>
          </a:prstGeom>
          <a:noFill/>
        </p:spPr>
        <p:txBody>
          <a:bodyPr wrap="square" lIns="27432" tIns="18288" rIns="27432" bIns="18288" anchor="t">
            <a:spAutoFit/>
          </a:bodyPr>
          <a:lstStyle/>
          <a:p>
            <a:pPr algn="l"/>
            <a:r>
              <a:rPr sz="860" b="0">
                <a:solidFill>
                  <a:srgbClr val="FFFFFF"/>
                </a:solidFill>
                <a:latin typeface="Inter"/>
              </a:rPr>
              <a:t>SVN-Georgia 28–36 pt</a:t>
            </a:r>
          </a:p>
        </p:txBody>
      </p:sp>
      <p:sp>
        <p:nvSpPr>
          <p:cNvPr id="22" name="TextBox 21"/>
          <p:cNvSpPr txBox="1"/>
          <p:nvPr/>
        </p:nvSpPr>
        <p:spPr>
          <a:xfrm>
            <a:off x="4663440" y="4389120"/>
            <a:ext cx="4389120" cy="228600"/>
          </a:xfrm>
          <a:prstGeom prst="rect">
            <a:avLst/>
          </a:prstGeom>
          <a:noFill/>
        </p:spPr>
        <p:txBody>
          <a:bodyPr wrap="square" lIns="27432" tIns="18288" rIns="27432" bIns="18288" anchor="t">
            <a:spAutoFit/>
          </a:bodyPr>
          <a:lstStyle/>
          <a:p>
            <a:pPr algn="l"/>
            <a:r>
              <a:rPr sz="860" b="0">
                <a:solidFill>
                  <a:srgbClr val="66717A"/>
                </a:solidFill>
                <a:latin typeface="Inter"/>
              </a:rPr>
              <a:t>Ngắn, nhiều khoảng thở</a:t>
            </a:r>
          </a:p>
        </p:txBody>
      </p:sp>
      <p:sp>
        <p:nvSpPr>
          <p:cNvPr id="23" name="TextBox 22"/>
          <p:cNvSpPr txBox="1"/>
          <p:nvPr/>
        </p:nvSpPr>
        <p:spPr>
          <a:xfrm>
            <a:off x="1005840" y="4681728"/>
            <a:ext cx="1920240" cy="228600"/>
          </a:xfrm>
          <a:prstGeom prst="rect">
            <a:avLst/>
          </a:prstGeom>
          <a:noFill/>
        </p:spPr>
        <p:txBody>
          <a:bodyPr wrap="square" lIns="27432" tIns="18288" rIns="27432" bIns="18288" anchor="t">
            <a:spAutoFit/>
          </a:bodyPr>
          <a:lstStyle/>
          <a:p>
            <a:pPr algn="l"/>
            <a:r>
              <a:rPr sz="860" b="1">
                <a:solidFill>
                  <a:srgbClr val="E8CF8B"/>
                </a:solidFill>
                <a:latin typeface="Inter"/>
              </a:rPr>
              <a:t>Slide Heading</a:t>
            </a:r>
          </a:p>
        </p:txBody>
      </p:sp>
      <p:sp>
        <p:nvSpPr>
          <p:cNvPr id="24" name="TextBox 23"/>
          <p:cNvSpPr txBox="1"/>
          <p:nvPr/>
        </p:nvSpPr>
        <p:spPr>
          <a:xfrm>
            <a:off x="2880360" y="4681728"/>
            <a:ext cx="1828800" cy="228600"/>
          </a:xfrm>
          <a:prstGeom prst="rect">
            <a:avLst/>
          </a:prstGeom>
          <a:noFill/>
        </p:spPr>
        <p:txBody>
          <a:bodyPr wrap="square" lIns="27432" tIns="18288" rIns="27432" bIns="18288" anchor="t">
            <a:spAutoFit/>
          </a:bodyPr>
          <a:lstStyle/>
          <a:p>
            <a:pPr algn="l"/>
            <a:r>
              <a:rPr sz="860" b="0">
                <a:solidFill>
                  <a:srgbClr val="FFFFFF"/>
                </a:solidFill>
                <a:latin typeface="Inter"/>
              </a:rPr>
              <a:t>SVN-Georgia 20–26 pt</a:t>
            </a:r>
          </a:p>
        </p:txBody>
      </p:sp>
      <p:sp>
        <p:nvSpPr>
          <p:cNvPr id="25" name="TextBox 24"/>
          <p:cNvSpPr txBox="1"/>
          <p:nvPr/>
        </p:nvSpPr>
        <p:spPr>
          <a:xfrm>
            <a:off x="4663440" y="4681728"/>
            <a:ext cx="4389120" cy="228600"/>
          </a:xfrm>
          <a:prstGeom prst="rect">
            <a:avLst/>
          </a:prstGeom>
          <a:noFill/>
        </p:spPr>
        <p:txBody>
          <a:bodyPr wrap="square" lIns="27432" tIns="18288" rIns="27432" bIns="18288" anchor="t">
            <a:spAutoFit/>
          </a:bodyPr>
          <a:lstStyle/>
          <a:p>
            <a:pPr algn="l"/>
            <a:r>
              <a:rPr sz="860" b="0">
                <a:solidFill>
                  <a:srgbClr val="66717A"/>
                </a:solidFill>
                <a:latin typeface="Inter"/>
              </a:rPr>
              <a:t>Không quá 1 dòng dài</a:t>
            </a:r>
          </a:p>
        </p:txBody>
      </p:sp>
      <p:sp>
        <p:nvSpPr>
          <p:cNvPr id="26" name="TextBox 25"/>
          <p:cNvSpPr txBox="1"/>
          <p:nvPr/>
        </p:nvSpPr>
        <p:spPr>
          <a:xfrm>
            <a:off x="1005840" y="4974336"/>
            <a:ext cx="1920240" cy="228600"/>
          </a:xfrm>
          <a:prstGeom prst="rect">
            <a:avLst/>
          </a:prstGeom>
          <a:noFill/>
        </p:spPr>
        <p:txBody>
          <a:bodyPr wrap="square" lIns="27432" tIns="18288" rIns="27432" bIns="18288" anchor="t">
            <a:spAutoFit/>
          </a:bodyPr>
          <a:lstStyle/>
          <a:p>
            <a:pPr algn="l"/>
            <a:r>
              <a:rPr sz="860" b="1">
                <a:solidFill>
                  <a:srgbClr val="E8CF8B"/>
                </a:solidFill>
                <a:latin typeface="Inter"/>
              </a:rPr>
              <a:t>Body</a:t>
            </a:r>
          </a:p>
        </p:txBody>
      </p:sp>
      <p:sp>
        <p:nvSpPr>
          <p:cNvPr id="27" name="TextBox 26"/>
          <p:cNvSpPr txBox="1"/>
          <p:nvPr/>
        </p:nvSpPr>
        <p:spPr>
          <a:xfrm>
            <a:off x="2880360" y="4974336"/>
            <a:ext cx="1828800" cy="228600"/>
          </a:xfrm>
          <a:prstGeom prst="rect">
            <a:avLst/>
          </a:prstGeom>
          <a:noFill/>
        </p:spPr>
        <p:txBody>
          <a:bodyPr wrap="square" lIns="27432" tIns="18288" rIns="27432" bIns="18288" anchor="t">
            <a:spAutoFit/>
          </a:bodyPr>
          <a:lstStyle/>
          <a:p>
            <a:pPr algn="l"/>
            <a:r>
              <a:rPr sz="860" b="0">
                <a:solidFill>
                  <a:srgbClr val="FFFFFF"/>
                </a:solidFill>
                <a:latin typeface="Inter"/>
              </a:rPr>
              <a:t>Inter 10–14 pt</a:t>
            </a:r>
          </a:p>
        </p:txBody>
      </p:sp>
      <p:sp>
        <p:nvSpPr>
          <p:cNvPr id="28" name="TextBox 27"/>
          <p:cNvSpPr txBox="1"/>
          <p:nvPr/>
        </p:nvSpPr>
        <p:spPr>
          <a:xfrm>
            <a:off x="4663440" y="4974336"/>
            <a:ext cx="4389120" cy="228600"/>
          </a:xfrm>
          <a:prstGeom prst="rect">
            <a:avLst/>
          </a:prstGeom>
          <a:noFill/>
        </p:spPr>
        <p:txBody>
          <a:bodyPr wrap="square" lIns="27432" tIns="18288" rIns="27432" bIns="18288" anchor="t">
            <a:spAutoFit/>
          </a:bodyPr>
          <a:lstStyle/>
          <a:p>
            <a:pPr algn="l"/>
            <a:r>
              <a:rPr sz="860" b="0">
                <a:solidFill>
                  <a:srgbClr val="66717A"/>
                </a:solidFill>
                <a:latin typeface="Inter"/>
              </a:rPr>
              <a:t>Dễ đọc, rõ ý, không nhồi chữ</a:t>
            </a:r>
          </a:p>
        </p:txBody>
      </p:sp>
      <p:sp>
        <p:nvSpPr>
          <p:cNvPr id="29" name="TextBox 28"/>
          <p:cNvSpPr txBox="1"/>
          <p:nvPr/>
        </p:nvSpPr>
        <p:spPr>
          <a:xfrm>
            <a:off x="1005840" y="5266944"/>
            <a:ext cx="1920240" cy="228600"/>
          </a:xfrm>
          <a:prstGeom prst="rect">
            <a:avLst/>
          </a:prstGeom>
          <a:noFill/>
        </p:spPr>
        <p:txBody>
          <a:bodyPr wrap="square" lIns="27432" tIns="18288" rIns="27432" bIns="18288" anchor="t">
            <a:spAutoFit/>
          </a:bodyPr>
          <a:lstStyle/>
          <a:p>
            <a:pPr algn="l"/>
            <a:r>
              <a:rPr sz="860" b="1">
                <a:solidFill>
                  <a:srgbClr val="E8CF8B"/>
                </a:solidFill>
                <a:latin typeface="Inter"/>
              </a:rPr>
              <a:t>Micro Label</a:t>
            </a:r>
          </a:p>
        </p:txBody>
      </p:sp>
      <p:sp>
        <p:nvSpPr>
          <p:cNvPr id="30" name="TextBox 29"/>
          <p:cNvSpPr txBox="1"/>
          <p:nvPr/>
        </p:nvSpPr>
        <p:spPr>
          <a:xfrm>
            <a:off x="2880360" y="5266944"/>
            <a:ext cx="1828800" cy="228600"/>
          </a:xfrm>
          <a:prstGeom prst="rect">
            <a:avLst/>
          </a:prstGeom>
          <a:noFill/>
        </p:spPr>
        <p:txBody>
          <a:bodyPr wrap="square" lIns="27432" tIns="18288" rIns="27432" bIns="18288" anchor="t">
            <a:spAutoFit/>
          </a:bodyPr>
          <a:lstStyle/>
          <a:p>
            <a:pPr algn="l"/>
            <a:r>
              <a:rPr sz="860" b="0">
                <a:solidFill>
                  <a:srgbClr val="FFFFFF"/>
                </a:solidFill>
                <a:latin typeface="Inter"/>
              </a:rPr>
              <a:t>Inter 7–9 pt</a:t>
            </a:r>
          </a:p>
        </p:txBody>
      </p:sp>
      <p:sp>
        <p:nvSpPr>
          <p:cNvPr id="31" name="TextBox 30"/>
          <p:cNvSpPr txBox="1"/>
          <p:nvPr/>
        </p:nvSpPr>
        <p:spPr>
          <a:xfrm>
            <a:off x="4663440" y="5266944"/>
            <a:ext cx="4389120" cy="228600"/>
          </a:xfrm>
          <a:prstGeom prst="rect">
            <a:avLst/>
          </a:prstGeom>
          <a:noFill/>
        </p:spPr>
        <p:txBody>
          <a:bodyPr wrap="square" lIns="27432" tIns="18288" rIns="27432" bIns="18288" anchor="t">
            <a:spAutoFit/>
          </a:bodyPr>
          <a:lstStyle/>
          <a:p>
            <a:pPr algn="l"/>
            <a:r>
              <a:rPr sz="860" b="0">
                <a:solidFill>
                  <a:srgbClr val="66717A"/>
                </a:solidFill>
                <a:latin typeface="Inter"/>
              </a:rPr>
              <a:t>Uppercase, letter spacing rộng</a:t>
            </a:r>
          </a:p>
        </p:txBody>
      </p:sp>
      <p:sp>
        <p:nvSpPr>
          <p:cNvPr id="32" name="TextBox 31"/>
          <p:cNvSpPr txBox="1"/>
          <p:nvPr/>
        </p:nvSpPr>
        <p:spPr>
          <a:xfrm>
            <a:off x="822960" y="5486400"/>
            <a:ext cx="9601200" cy="310896"/>
          </a:xfrm>
          <a:prstGeom prst="rect">
            <a:avLst/>
          </a:prstGeom>
          <a:noFill/>
        </p:spPr>
        <p:txBody>
          <a:bodyPr wrap="square" lIns="27432" tIns="18288" rIns="27432" bIns="18288" anchor="t">
            <a:spAutoFit/>
          </a:bodyPr>
          <a:lstStyle/>
          <a:p>
            <a:pPr algn="ctr"/>
            <a:r>
              <a:rPr sz="850" b="0">
                <a:solidFill>
                  <a:srgbClr val="66717A"/>
                </a:solidFill>
                <a:latin typeface="Inter"/>
              </a:rPr>
              <a:t>Lý do chỉnh font: deck dùng font hệ thống ổn định để tránh lỗi khi mở trên máy khác, đồng thời giữ tinh thần website: headline lớn, tương phản mạnh, nhãn uppercase và nội dung rõ ràng.</a:t>
            </a:r>
          </a:p>
        </p:txBody>
      </p:sp>
      <p:sp>
        <p:nvSpPr>
          <p:cNvPr id="33" name="Text 3"/>
          <p:cNvSpPr/>
          <p:nvPr/>
        </p:nvSpPr>
        <p:spPr>
          <a:xfrm>
            <a:off x="566928" y="6473952"/>
            <a:ext cx="5120640" cy="201168"/>
          </a:xfrm>
          <a:prstGeom prst="rect">
            <a:avLst/>
          </a:prstGeom>
          <a:noFill/>
          <a:ln/>
        </p:spPr>
        <p:txBody>
          <a:bodyPr wrap="square" lIns="381" tIns="381" rIns="381" bIns="381" rtlCol="0" anchor="ctr">
            <a:normAutofit/>
          </a:bodyPr>
          <a:lstStyle/>
          <a:p>
            <a:pPr marL="0" indent="0" algn="l">
              <a:buNone/>
            </a:pPr>
            <a:r>
              <a:rPr lang="en-US" sz="660" dirty="0">
                <a:solidFill>
                  <a:srgbClr val="D7D7D7"/>
                </a:solidFill>
                <a:latin typeface="Inter" pitchFamily="34" charset="0"/>
                <a:ea typeface="Aptos" pitchFamily="34" charset="-122"/>
                <a:cs typeface="Aptos" pitchFamily="34" charset="-120"/>
              </a:rPr>
              <a:t>www.moneyfest.vn  •  admin.moneyfestvn@gmail.com</a:t>
            </a:r>
            <a:endParaRPr lang="en-US" sz="660" dirty="0"/>
          </a:p>
        </p:txBody>
      </p:sp>
      <p:sp>
        <p:nvSpPr>
          <p:cNvPr id="34" name="Text 4"/>
          <p:cNvSpPr/>
          <p:nvPr/>
        </p:nvSpPr>
        <p:spPr>
          <a:xfrm>
            <a:off x="10332720" y="6473952"/>
            <a:ext cx="1280160" cy="201168"/>
          </a:xfrm>
          <a:prstGeom prst="rect">
            <a:avLst/>
          </a:prstGeom>
          <a:noFill/>
          <a:ln/>
        </p:spPr>
        <p:txBody>
          <a:bodyPr wrap="square" lIns="381" tIns="381" rIns="381" bIns="381" rtlCol="0" anchor="ctr">
            <a:normAutofit/>
          </a:bodyPr>
          <a:lstStyle/>
          <a:p>
            <a:pPr marL="0" indent="0" algn="r">
              <a:buNone/>
            </a:pPr>
            <a:r>
              <a:rPr lang="en-US" sz="680" b="1" dirty="0">
                <a:solidFill>
                  <a:srgbClr val="D4A83F"/>
                </a:solidFill>
                <a:latin typeface="Inter" pitchFamily="34" charset="0"/>
                <a:ea typeface="Aptos" pitchFamily="34" charset="-122"/>
                <a:cs typeface="Aptos" pitchFamily="34" charset="-120"/>
              </a:rPr>
              <a:t>MONEYFEST</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Inter"/>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font script="Armn" typeface="Inter"/>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3307</Words>
  <Application>Microsoft Office PowerPoint</Application>
  <PresentationFormat>Widescreen</PresentationFormat>
  <Paragraphs>612</Paragraphs>
  <Slides>37</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Calibri</vt:lpstr>
      <vt:lpstr>Inter</vt:lpstr>
      <vt:lpstr>SVN-Georgia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Moneyfest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MONEYFEST Brand Manual</dc:title>
  <dc:subject>Moneyfest Brand Manual</dc:subject>
  <dc:creator>TISA Academy / OpenAI</dc:creator>
  <cp:lastModifiedBy>ADMIN</cp:lastModifiedBy>
  <cp:revision>5</cp:revision>
  <dcterms:created xsi:type="dcterms:W3CDTF">2026-06-29T06:39:02Z</dcterms:created>
  <dcterms:modified xsi:type="dcterms:W3CDTF">2026-06-29T08:53:48Z</dcterms:modified>
</cp:coreProperties>
</file>